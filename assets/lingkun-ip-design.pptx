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7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11.jpe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3.png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image" Target="../media/image22.jpeg"/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image" Target="../media/image19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7.svg"/><Relationship Id="rId3" Type="http://schemas.openxmlformats.org/officeDocument/2006/relationships/image" Target="../media/image26.png"/><Relationship Id="rId2" Type="http://schemas.openxmlformats.org/officeDocument/2006/relationships/image" Target="../media/image25.jpeg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3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4.png"/><Relationship Id="rId3" Type="http://schemas.openxmlformats.org/officeDocument/2006/relationships/image" Target="../media/image29.png"/><Relationship Id="rId2" Type="http://schemas.openxmlformats.org/officeDocument/2006/relationships/image" Target="../media/image33.jpeg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1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7.png"/><Relationship Id="rId2" Type="http://schemas.openxmlformats.org/officeDocument/2006/relationships/image" Target="../media/image3.png"/><Relationship Id="rId1" Type="http://schemas.openxmlformats.org/officeDocument/2006/relationships/image" Target="../media/image36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8.jpeg"/><Relationship Id="rId1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0.png"/><Relationship Id="rId3" Type="http://schemas.openxmlformats.org/officeDocument/2006/relationships/image" Target="../media/image40.png"/><Relationship Id="rId2" Type="http://schemas.openxmlformats.org/officeDocument/2006/relationships/image" Target="../media/image39.jpeg"/><Relationship Id="rId1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1.png"/><Relationship Id="rId2" Type="http://schemas.openxmlformats.org/officeDocument/2006/relationships/image" Target="../media/image39.jpeg"/><Relationship Id="rId1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2.png"/><Relationship Id="rId2" Type="http://schemas.openxmlformats.org/officeDocument/2006/relationships/image" Target="../media/image39.jpeg"/><Relationship Id="rId1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4.jpeg"/><Relationship Id="rId1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5.jpeg"/><Relationship Id="rId1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1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1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1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 flipH="1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0" y="0"/>
                </a:lnTo>
                <a:lnTo>
                  <a:pt x="0" y="18288000"/>
                </a:lnTo>
                <a:lnTo>
                  <a:pt x="10287000" y="1828800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811976" y="7794771"/>
            <a:ext cx="3182091" cy="618824"/>
            <a:chOff x="0" y="0"/>
            <a:chExt cx="838082" cy="16298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38081" cy="162983"/>
            </a:xfrm>
            <a:custGeom>
              <a:avLst/>
              <a:gdLst/>
              <a:ahLst/>
              <a:cxnLst/>
              <a:rect l="l" t="t" r="r" b="b"/>
              <a:pathLst>
                <a:path w="838081" h="162983">
                  <a:moveTo>
                    <a:pt x="81491" y="0"/>
                  </a:moveTo>
                  <a:lnTo>
                    <a:pt x="756590" y="0"/>
                  </a:lnTo>
                  <a:cubicBezTo>
                    <a:pt x="801597" y="0"/>
                    <a:pt x="838081" y="36485"/>
                    <a:pt x="838081" y="81491"/>
                  </a:cubicBezTo>
                  <a:lnTo>
                    <a:pt x="838081" y="81491"/>
                  </a:lnTo>
                  <a:cubicBezTo>
                    <a:pt x="838081" y="103104"/>
                    <a:pt x="829496" y="123832"/>
                    <a:pt x="814213" y="139114"/>
                  </a:cubicBezTo>
                  <a:cubicBezTo>
                    <a:pt x="798931" y="154397"/>
                    <a:pt x="778203" y="162983"/>
                    <a:pt x="756590" y="162983"/>
                  </a:cubicBezTo>
                  <a:lnTo>
                    <a:pt x="81491" y="162983"/>
                  </a:lnTo>
                  <a:cubicBezTo>
                    <a:pt x="36485" y="162983"/>
                    <a:pt x="0" y="126498"/>
                    <a:pt x="0" y="81491"/>
                  </a:cubicBezTo>
                  <a:lnTo>
                    <a:pt x="0" y="81491"/>
                  </a:lnTo>
                  <a:cubicBezTo>
                    <a:pt x="0" y="36485"/>
                    <a:pt x="36485" y="0"/>
                    <a:pt x="8149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5271FF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123825"/>
              <a:ext cx="838082" cy="2868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</a:p>
          </p:txBody>
        </p:sp>
      </p:grpSp>
      <p:grpSp>
        <p:nvGrpSpPr>
          <p:cNvPr id="6" name="Group 6"/>
          <p:cNvGrpSpPr/>
          <p:nvPr/>
        </p:nvGrpSpPr>
        <p:grpSpPr>
          <a:xfrm rot="0">
            <a:off x="811976" y="7794771"/>
            <a:ext cx="1429370" cy="618824"/>
            <a:chOff x="0" y="0"/>
            <a:chExt cx="376459" cy="16298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60" cy="162983"/>
            </a:xfrm>
            <a:custGeom>
              <a:avLst/>
              <a:gdLst/>
              <a:ahLst/>
              <a:cxnLst/>
              <a:rect l="l" t="t" r="r" b="b"/>
              <a:pathLst>
                <a:path w="376460" h="162983">
                  <a:moveTo>
                    <a:pt x="81491" y="0"/>
                  </a:moveTo>
                  <a:lnTo>
                    <a:pt x="294968" y="0"/>
                  </a:lnTo>
                  <a:cubicBezTo>
                    <a:pt x="339975" y="0"/>
                    <a:pt x="376460" y="36485"/>
                    <a:pt x="376460" y="81491"/>
                  </a:cubicBezTo>
                  <a:lnTo>
                    <a:pt x="376460" y="81491"/>
                  </a:lnTo>
                  <a:cubicBezTo>
                    <a:pt x="376460" y="103104"/>
                    <a:pt x="367874" y="123832"/>
                    <a:pt x="352591" y="139114"/>
                  </a:cubicBezTo>
                  <a:cubicBezTo>
                    <a:pt x="337309" y="154397"/>
                    <a:pt x="316581" y="162983"/>
                    <a:pt x="294968" y="162983"/>
                  </a:cubicBezTo>
                  <a:lnTo>
                    <a:pt x="81491" y="162983"/>
                  </a:lnTo>
                  <a:cubicBezTo>
                    <a:pt x="36485" y="162983"/>
                    <a:pt x="0" y="126498"/>
                    <a:pt x="0" y="81491"/>
                  </a:cubicBezTo>
                  <a:lnTo>
                    <a:pt x="0" y="81491"/>
                  </a:lnTo>
                  <a:cubicBezTo>
                    <a:pt x="0" y="36485"/>
                    <a:pt x="36485" y="0"/>
                    <a:pt x="81491" y="0"/>
                  </a:cubicBezTo>
                  <a:close/>
                </a:path>
              </a:pathLst>
            </a:custGeom>
            <a:solidFill>
              <a:srgbClr val="0743E8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123825"/>
              <a:ext cx="376459" cy="2868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6902044" y="5527187"/>
            <a:ext cx="2405360" cy="362023"/>
            <a:chOff x="0" y="0"/>
            <a:chExt cx="3207146" cy="482698"/>
          </a:xfrm>
        </p:grpSpPr>
        <p:grpSp>
          <p:nvGrpSpPr>
            <p:cNvPr id="10" name="Group 10"/>
            <p:cNvGrpSpPr/>
            <p:nvPr/>
          </p:nvGrpSpPr>
          <p:grpSpPr>
            <a:xfrm rot="0">
              <a:off x="0" y="0"/>
              <a:ext cx="453770" cy="482698"/>
              <a:chOff x="0" y="0"/>
              <a:chExt cx="406400" cy="432308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432308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32308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32308"/>
                    </a:lnTo>
                    <a:lnTo>
                      <a:pt x="0" y="432308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66675"/>
                <a:ext cx="203200" cy="49898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0">
              <a:off x="1573215" y="0"/>
              <a:ext cx="453770" cy="482698"/>
              <a:chOff x="0" y="0"/>
              <a:chExt cx="406400" cy="432308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06400" cy="432308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32308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32308"/>
                    </a:lnTo>
                    <a:lnTo>
                      <a:pt x="0" y="432308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1600" y="-66675"/>
                <a:ext cx="203200" cy="49898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0">
              <a:off x="789245" y="0"/>
              <a:ext cx="453770" cy="482698"/>
              <a:chOff x="0" y="0"/>
              <a:chExt cx="406400" cy="43230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406400" cy="432308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32308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32308"/>
                    </a:lnTo>
                    <a:lnTo>
                      <a:pt x="0" y="432308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01600" y="-66675"/>
                <a:ext cx="203200" cy="49898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0">
              <a:off x="2362459" y="0"/>
              <a:ext cx="453770" cy="482698"/>
              <a:chOff x="0" y="0"/>
              <a:chExt cx="406400" cy="43230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406400" cy="432308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32308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32308"/>
                    </a:lnTo>
                    <a:lnTo>
                      <a:pt x="0" y="432308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01600" y="-66675"/>
                <a:ext cx="203200" cy="49898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0">
              <a:off x="390917" y="0"/>
              <a:ext cx="453770" cy="482698"/>
              <a:chOff x="0" y="0"/>
              <a:chExt cx="406400" cy="43230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406400" cy="432308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32308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32308"/>
                    </a:lnTo>
                    <a:lnTo>
                      <a:pt x="0" y="432308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01600" y="-66675"/>
                <a:ext cx="203200" cy="49898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 rot="0">
              <a:off x="1964131" y="0"/>
              <a:ext cx="453770" cy="482698"/>
              <a:chOff x="0" y="0"/>
              <a:chExt cx="406400" cy="432308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406400" cy="432308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32308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32308"/>
                    </a:lnTo>
                    <a:lnTo>
                      <a:pt x="0" y="432308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01600" y="-66675"/>
                <a:ext cx="203200" cy="49898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 rot="0">
              <a:off x="1180162" y="0"/>
              <a:ext cx="453770" cy="482698"/>
              <a:chOff x="0" y="0"/>
              <a:chExt cx="406400" cy="432308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06400" cy="432308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32308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32308"/>
                    </a:lnTo>
                    <a:lnTo>
                      <a:pt x="0" y="432308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101600" y="-66675"/>
                <a:ext cx="203200" cy="49898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 rot="0">
              <a:off x="2753376" y="0"/>
              <a:ext cx="453770" cy="482698"/>
              <a:chOff x="0" y="0"/>
              <a:chExt cx="406400" cy="432308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406400" cy="432308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32308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32308"/>
                    </a:lnTo>
                    <a:lnTo>
                      <a:pt x="0" y="432308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101600" y="-66675"/>
                <a:ext cx="203200" cy="49898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</p:grpSp>
      <p:sp>
        <p:nvSpPr>
          <p:cNvPr id="34" name="Freeform 34"/>
          <p:cNvSpPr/>
          <p:nvPr/>
        </p:nvSpPr>
        <p:spPr>
          <a:xfrm>
            <a:off x="686693" y="355326"/>
            <a:ext cx="1679936" cy="673374"/>
          </a:xfrm>
          <a:custGeom>
            <a:avLst/>
            <a:gdLst/>
            <a:ahLst/>
            <a:cxnLst/>
            <a:rect l="l" t="t" r="r" b="b"/>
            <a:pathLst>
              <a:path w="1679936" h="673374">
                <a:moveTo>
                  <a:pt x="0" y="0"/>
                </a:moveTo>
                <a:lnTo>
                  <a:pt x="1679936" y="0"/>
                </a:lnTo>
                <a:lnTo>
                  <a:pt x="1679936" y="673374"/>
                </a:lnTo>
                <a:lnTo>
                  <a:pt x="0" y="6733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811976" y="3731980"/>
            <a:ext cx="11532059" cy="1793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560"/>
              </a:lnSpc>
            </a:pPr>
            <a:r>
              <a:rPr lang="en-US" sz="10400">
                <a:solidFill>
                  <a:srgbClr val="171717"/>
                </a:solidFill>
                <a:latin typeface="字由点字倔强黑" panose="00020600040101010101" charset="-122"/>
                <a:ea typeface="字由点字倔强黑" panose="00020600040101010101" charset="-122"/>
              </a:rPr>
              <a:t>灵昆IP设计方案</a:t>
            </a:r>
            <a:endParaRPr lang="en-US" sz="10400">
              <a:solidFill>
                <a:srgbClr val="171717"/>
              </a:solidFill>
              <a:latin typeface="字由点字倔强黑" panose="00020600040101010101" charset="-122"/>
              <a:ea typeface="字由点字倔强黑" panose="00020600040101010101" charset="-122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028700" y="5374787"/>
            <a:ext cx="6187212" cy="512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400" spc="1365">
                <a:solidFill>
                  <a:srgbClr val="404040"/>
                </a:solidFill>
                <a:latin typeface="Arimo Light"/>
              </a:rPr>
              <a:t>LINGKUN · HAIJING</a:t>
            </a:r>
            <a:endParaRPr lang="en-US" sz="2400" spc="1365">
              <a:solidFill>
                <a:srgbClr val="404040"/>
              </a:solidFill>
              <a:latin typeface="Arimo Light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1033614" y="7781286"/>
            <a:ext cx="4178717" cy="502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400">
                <a:solidFill>
                  <a:srgbClr val="FFFFFF"/>
                </a:solidFill>
                <a:ea typeface="阿里巴巴普惠体" panose="00020600040101010101" charset="-122"/>
              </a:rPr>
              <a:t>汇报人：</a:t>
            </a:r>
            <a:r>
              <a:rPr lang="en-US" sz="2400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</a:rPr>
              <a:t>    瓯创文化</a:t>
            </a:r>
            <a:endParaRPr lang="en-US" sz="2400">
              <a:solidFill>
                <a:srgbClr val="404040"/>
              </a:solidFill>
              <a:latin typeface="阿里巴巴普惠体" panose="00020600040101010101" charset="-122"/>
              <a:ea typeface="阿里巴巴普惠体" panose="0002060004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630810">
            <a:off x="4400891" y="6539347"/>
            <a:ext cx="9486219" cy="6283754"/>
          </a:xfrm>
          <a:custGeom>
            <a:avLst/>
            <a:gdLst/>
            <a:ahLst/>
            <a:cxnLst/>
            <a:rect l="l" t="t" r="r" b="b"/>
            <a:pathLst>
              <a:path w="9486219" h="6283754">
                <a:moveTo>
                  <a:pt x="0" y="0"/>
                </a:moveTo>
                <a:lnTo>
                  <a:pt x="9486218" y="0"/>
                </a:lnTo>
                <a:lnTo>
                  <a:pt x="9486218" y="6283754"/>
                </a:lnTo>
                <a:lnTo>
                  <a:pt x="0" y="628375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778102" y="442517"/>
            <a:ext cx="6731797" cy="1450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00"/>
              </a:lnSpc>
            </a:pPr>
            <a:r>
              <a:rPr lang="en-US" sz="8500">
                <a:solidFill>
                  <a:srgbClr val="171717"/>
                </a:solidFill>
                <a:ea typeface="字由点字倔强黑" panose="00020600040101010101" charset="-122"/>
              </a:rPr>
              <a:t>目录</a:t>
            </a:r>
            <a:endParaRPr lang="en-US" sz="8500">
              <a:solidFill>
                <a:srgbClr val="171717"/>
              </a:solidFill>
              <a:ea typeface="字由点字倔强黑" panose="00020600040101010101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8107296" y="2792204"/>
            <a:ext cx="6633888" cy="970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925"/>
              </a:lnSpc>
            </a:pPr>
            <a:r>
              <a:rPr lang="en-US" sz="5660">
                <a:solidFill>
                  <a:srgbClr val="323232"/>
                </a:solidFill>
                <a:latin typeface="字由点字倔强黑" panose="00020600040101010101" charset="-122"/>
                <a:ea typeface="字由点字倔强黑" panose="00020600040101010101" charset="-122"/>
              </a:rPr>
              <a:t>IP展示</a:t>
            </a:r>
            <a:endParaRPr lang="en-US" sz="5660">
              <a:solidFill>
                <a:srgbClr val="323232"/>
              </a:solidFill>
              <a:latin typeface="字由点字倔强黑" panose="00020600040101010101" charset="-122"/>
              <a:ea typeface="字由点字倔强黑" panose="00020600040101010101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107296" y="3714432"/>
            <a:ext cx="6633888" cy="415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60"/>
              </a:lnSpc>
            </a:pPr>
            <a:r>
              <a:rPr lang="en-US" sz="2400" spc="345">
                <a:solidFill>
                  <a:srgbClr val="474747"/>
                </a:solidFill>
                <a:latin typeface="Arimo" panose="020B0604020202020204"/>
              </a:rPr>
              <a:t>IP PRESENTATION</a:t>
            </a:r>
            <a:endParaRPr lang="en-US" sz="2400" spc="345">
              <a:solidFill>
                <a:srgbClr val="474747"/>
              </a:solidFill>
              <a:latin typeface="Arimo" panose="020B0604020202020204"/>
            </a:endParaRPr>
          </a:p>
        </p:txBody>
      </p:sp>
      <p:grpSp>
        <p:nvGrpSpPr>
          <p:cNvPr id="6" name="Group 6"/>
          <p:cNvGrpSpPr/>
          <p:nvPr/>
        </p:nvGrpSpPr>
        <p:grpSpPr>
          <a:xfrm rot="0">
            <a:off x="292558" y="5735764"/>
            <a:ext cx="9068359" cy="1244509"/>
            <a:chOff x="0" y="0"/>
            <a:chExt cx="12091145" cy="1659346"/>
          </a:xfrm>
        </p:grpSpPr>
        <p:sp>
          <p:nvSpPr>
            <p:cNvPr id="7" name="TextBox 7"/>
            <p:cNvSpPr txBox="1"/>
            <p:nvPr/>
          </p:nvSpPr>
          <p:spPr>
            <a:xfrm>
              <a:off x="2497164" y="-114300"/>
              <a:ext cx="9554174" cy="12559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7925"/>
                </a:lnSpc>
              </a:pPr>
              <a:r>
                <a:rPr lang="en-US" sz="5660">
                  <a:solidFill>
                    <a:srgbClr val="323232"/>
                  </a:solidFill>
                  <a:ea typeface="字由点字倔强黑" panose="00020600040101010101" charset="-122"/>
                </a:rPr>
                <a:t>灵感来源</a:t>
              </a:r>
              <a:endParaRPr lang="en-US" sz="5660">
                <a:solidFill>
                  <a:srgbClr val="323232"/>
                </a:solidFill>
                <a:ea typeface="字由点字倔强黑" panose="00020600040101010101" charset="-122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536971" y="1124821"/>
              <a:ext cx="9554174" cy="5345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360"/>
                </a:lnSpc>
              </a:pPr>
              <a:r>
                <a:rPr lang="en-US" sz="2400" spc="345">
                  <a:solidFill>
                    <a:srgbClr val="474747"/>
                  </a:solidFill>
                  <a:latin typeface="Arimo" panose="020B0604020202020204"/>
                </a:rPr>
                <a:t>SOURCE OF INSPIRATION</a:t>
              </a:r>
              <a:endParaRPr lang="en-US" sz="2400" spc="345">
                <a:solidFill>
                  <a:srgbClr val="474747"/>
                </a:solidFill>
                <a:latin typeface="Arimo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42875"/>
              <a:ext cx="2295712" cy="13248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8210"/>
                </a:lnSpc>
              </a:pPr>
              <a:r>
                <a:rPr lang="en-US" sz="5865">
                  <a:solidFill>
                    <a:srgbClr val="323232"/>
                  </a:solidFill>
                  <a:latin typeface="Arimo Bold" panose="020B0704020202020204"/>
                </a:rPr>
                <a:t>01</a:t>
              </a:r>
              <a:endParaRPr lang="en-US" sz="5865">
                <a:solidFill>
                  <a:srgbClr val="323232"/>
                </a:solidFill>
                <a:latin typeface="Arimo Bold" panose="020B0704020202020204"/>
              </a:endParaR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6293908" y="2763629"/>
            <a:ext cx="1721784" cy="102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210"/>
              </a:lnSpc>
            </a:pPr>
            <a:r>
              <a:rPr lang="en-US" sz="5865">
                <a:solidFill>
                  <a:srgbClr val="323232"/>
                </a:solidFill>
                <a:latin typeface="Arimo Bold" panose="020B0704020202020204"/>
              </a:rPr>
              <a:t>02</a:t>
            </a:r>
            <a:endParaRPr lang="en-US" sz="5865">
              <a:solidFill>
                <a:srgbClr val="323232"/>
              </a:solidFill>
              <a:latin typeface="Arimo Bold" panose="020B0704020202020204"/>
            </a:endParaRPr>
          </a:p>
        </p:txBody>
      </p:sp>
      <p:grpSp>
        <p:nvGrpSpPr>
          <p:cNvPr id="11" name="Group 11"/>
          <p:cNvGrpSpPr/>
          <p:nvPr/>
        </p:nvGrpSpPr>
        <p:grpSpPr>
          <a:xfrm rot="0">
            <a:off x="11220097" y="5735764"/>
            <a:ext cx="8616911" cy="1244509"/>
            <a:chOff x="0" y="0"/>
            <a:chExt cx="11489214" cy="1659346"/>
          </a:xfrm>
        </p:grpSpPr>
        <p:sp>
          <p:nvSpPr>
            <p:cNvPr id="12" name="TextBox 12"/>
            <p:cNvSpPr txBox="1"/>
            <p:nvPr/>
          </p:nvSpPr>
          <p:spPr>
            <a:xfrm>
              <a:off x="2445475" y="-114300"/>
              <a:ext cx="8845184" cy="12559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7925"/>
                </a:lnSpc>
              </a:pPr>
              <a:r>
                <a:rPr lang="en-US" sz="5660">
                  <a:solidFill>
                    <a:srgbClr val="323232"/>
                  </a:solidFill>
                  <a:ea typeface="字由点字倔强黑" panose="00020600040101010101" charset="-122"/>
                </a:rPr>
                <a:t>取名方向</a:t>
              </a:r>
              <a:endParaRPr lang="en-US" sz="5660">
                <a:solidFill>
                  <a:srgbClr val="323232"/>
                </a:solidFill>
                <a:ea typeface="字由点字倔强黑" panose="00020600040101010101" charset="-122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644030" y="1124821"/>
              <a:ext cx="8845184" cy="5345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360"/>
                </a:lnSpc>
              </a:pPr>
              <a:r>
                <a:rPr lang="en-US" sz="2400" spc="345">
                  <a:solidFill>
                    <a:srgbClr val="474747"/>
                  </a:solidFill>
                  <a:latin typeface="Arimo" panose="020B0604020202020204"/>
                </a:rPr>
                <a:t>IP NAMING</a:t>
              </a:r>
              <a:endParaRPr lang="en-US" sz="2400" spc="345">
                <a:solidFill>
                  <a:srgbClr val="474747"/>
                </a:solidFill>
                <a:latin typeface="Arimo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42875"/>
              <a:ext cx="2295712" cy="13248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8210"/>
                </a:lnSpc>
              </a:pPr>
              <a:r>
                <a:rPr lang="en-US" sz="5865">
                  <a:solidFill>
                    <a:srgbClr val="323232"/>
                  </a:solidFill>
                  <a:latin typeface="Arimo Bold" panose="020B0704020202020204"/>
                </a:rPr>
                <a:t>03</a:t>
              </a:r>
              <a:endParaRPr lang="en-US" sz="5865">
                <a:solidFill>
                  <a:srgbClr val="323232"/>
                </a:solidFill>
                <a:latin typeface="Arimo Bold" panose="020B0704020202020204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 rot="0">
            <a:off x="5156337" y="993685"/>
            <a:ext cx="2405360" cy="510491"/>
            <a:chOff x="0" y="0"/>
            <a:chExt cx="3207146" cy="680655"/>
          </a:xfrm>
        </p:grpSpPr>
        <p:grpSp>
          <p:nvGrpSpPr>
            <p:cNvPr id="16" name="Group 16"/>
            <p:cNvGrpSpPr/>
            <p:nvPr/>
          </p:nvGrpSpPr>
          <p:grpSpPr>
            <a:xfrm rot="0">
              <a:off x="0" y="0"/>
              <a:ext cx="453770" cy="680655"/>
              <a:chOff x="0" y="0"/>
              <a:chExt cx="406400" cy="6096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0">
              <a:off x="1573215" y="0"/>
              <a:ext cx="453770" cy="680655"/>
              <a:chOff x="0" y="0"/>
              <a:chExt cx="406400" cy="6096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0">
              <a:off x="789245" y="0"/>
              <a:ext cx="453770" cy="680655"/>
              <a:chOff x="0" y="0"/>
              <a:chExt cx="406400" cy="6096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 rot="0">
              <a:off x="2362459" y="0"/>
              <a:ext cx="453770" cy="680655"/>
              <a:chOff x="0" y="0"/>
              <a:chExt cx="406400" cy="6096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 rot="0">
              <a:off x="390917" y="0"/>
              <a:ext cx="453770" cy="680655"/>
              <a:chOff x="0" y="0"/>
              <a:chExt cx="406400" cy="6096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 rot="0">
              <a:off x="1964131" y="0"/>
              <a:ext cx="453770" cy="680655"/>
              <a:chOff x="0" y="0"/>
              <a:chExt cx="406400" cy="6096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 rot="0">
              <a:off x="1180162" y="0"/>
              <a:ext cx="453770" cy="680655"/>
              <a:chOff x="0" y="0"/>
              <a:chExt cx="406400" cy="6096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 rot="0">
              <a:off x="2753376" y="0"/>
              <a:ext cx="453770" cy="680655"/>
              <a:chOff x="0" y="0"/>
              <a:chExt cx="406400" cy="6096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</p:grpSp>
      <p:grpSp>
        <p:nvGrpSpPr>
          <p:cNvPr id="40" name="Group 40"/>
          <p:cNvGrpSpPr/>
          <p:nvPr/>
        </p:nvGrpSpPr>
        <p:grpSpPr>
          <a:xfrm rot="0">
            <a:off x="10741636" y="993685"/>
            <a:ext cx="2405360" cy="510491"/>
            <a:chOff x="0" y="0"/>
            <a:chExt cx="3207146" cy="680655"/>
          </a:xfrm>
        </p:grpSpPr>
        <p:grpSp>
          <p:nvGrpSpPr>
            <p:cNvPr id="41" name="Group 41"/>
            <p:cNvGrpSpPr/>
            <p:nvPr/>
          </p:nvGrpSpPr>
          <p:grpSpPr>
            <a:xfrm rot="0">
              <a:off x="0" y="0"/>
              <a:ext cx="453770" cy="680655"/>
              <a:chOff x="0" y="0"/>
              <a:chExt cx="406400" cy="6096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 rot="0">
              <a:off x="1573215" y="0"/>
              <a:ext cx="453770" cy="680655"/>
              <a:chOff x="0" y="0"/>
              <a:chExt cx="406400" cy="60960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 rot="0">
              <a:off x="789245" y="0"/>
              <a:ext cx="453770" cy="680655"/>
              <a:chOff x="0" y="0"/>
              <a:chExt cx="406400" cy="60960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 rot="0">
              <a:off x="2362459" y="0"/>
              <a:ext cx="453770" cy="680655"/>
              <a:chOff x="0" y="0"/>
              <a:chExt cx="406400" cy="60960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 rot="0">
              <a:off x="390917" y="0"/>
              <a:ext cx="453770" cy="680655"/>
              <a:chOff x="0" y="0"/>
              <a:chExt cx="406400" cy="60960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 rot="0">
              <a:off x="1964131" y="0"/>
              <a:ext cx="453770" cy="680655"/>
              <a:chOff x="0" y="0"/>
              <a:chExt cx="406400" cy="60960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 rot="0">
              <a:off x="1180162" y="0"/>
              <a:ext cx="453770" cy="680655"/>
              <a:chOff x="0" y="0"/>
              <a:chExt cx="406400" cy="609600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62" name="Group 62"/>
            <p:cNvGrpSpPr/>
            <p:nvPr/>
          </p:nvGrpSpPr>
          <p:grpSpPr>
            <a:xfrm rot="0">
              <a:off x="2753376" y="0"/>
              <a:ext cx="453770" cy="680655"/>
              <a:chOff x="0" y="0"/>
              <a:chExt cx="406400" cy="609600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</p:grpSp>
      <p:sp>
        <p:nvSpPr>
          <p:cNvPr id="65" name="Freeform 65"/>
          <p:cNvSpPr/>
          <p:nvPr/>
        </p:nvSpPr>
        <p:spPr>
          <a:xfrm>
            <a:off x="686693" y="355326"/>
            <a:ext cx="1679936" cy="673374"/>
          </a:xfrm>
          <a:custGeom>
            <a:avLst/>
            <a:gdLst/>
            <a:ahLst/>
            <a:cxnLst/>
            <a:rect l="l" t="t" r="r" b="b"/>
            <a:pathLst>
              <a:path w="1679936" h="673374">
                <a:moveTo>
                  <a:pt x="0" y="0"/>
                </a:moveTo>
                <a:lnTo>
                  <a:pt x="1679936" y="0"/>
                </a:lnTo>
                <a:lnTo>
                  <a:pt x="1679936" y="673374"/>
                </a:lnTo>
                <a:lnTo>
                  <a:pt x="0" y="6733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894594" y="9258300"/>
            <a:ext cx="2405360" cy="510491"/>
            <a:chOff x="0" y="0"/>
            <a:chExt cx="3207146" cy="680655"/>
          </a:xfrm>
        </p:grpSpPr>
        <p:grpSp>
          <p:nvGrpSpPr>
            <p:cNvPr id="3" name="Group 3"/>
            <p:cNvGrpSpPr/>
            <p:nvPr/>
          </p:nvGrpSpPr>
          <p:grpSpPr>
            <a:xfrm rot="0">
              <a:off x="0" y="0"/>
              <a:ext cx="453770" cy="680655"/>
              <a:chOff x="0" y="0"/>
              <a:chExt cx="406400" cy="6096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 rot="0">
              <a:off x="1573215" y="0"/>
              <a:ext cx="453770" cy="680655"/>
              <a:chOff x="0" y="0"/>
              <a:chExt cx="406400" cy="6096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0">
              <a:off x="789245" y="0"/>
              <a:ext cx="453770" cy="680655"/>
              <a:chOff x="0" y="0"/>
              <a:chExt cx="406400" cy="6096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0">
              <a:off x="2362459" y="0"/>
              <a:ext cx="453770" cy="680655"/>
              <a:chOff x="0" y="0"/>
              <a:chExt cx="406400" cy="6096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0">
              <a:off x="390917" y="0"/>
              <a:ext cx="453770" cy="680655"/>
              <a:chOff x="0" y="0"/>
              <a:chExt cx="406400" cy="6096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 rot="0">
              <a:off x="1964131" y="0"/>
              <a:ext cx="453770" cy="680655"/>
              <a:chOff x="0" y="0"/>
              <a:chExt cx="406400" cy="6096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 rot="0">
              <a:off x="1180162" y="0"/>
              <a:ext cx="453770" cy="680655"/>
              <a:chOff x="0" y="0"/>
              <a:chExt cx="406400" cy="6096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 rot="0">
              <a:off x="2753376" y="0"/>
              <a:ext cx="453770" cy="680655"/>
              <a:chOff x="0" y="0"/>
              <a:chExt cx="406400" cy="6096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</p:grpSp>
      <p:grpSp>
        <p:nvGrpSpPr>
          <p:cNvPr id="27" name="Group 27"/>
          <p:cNvGrpSpPr/>
          <p:nvPr/>
        </p:nvGrpSpPr>
        <p:grpSpPr>
          <a:xfrm rot="0">
            <a:off x="12482404" y="518209"/>
            <a:ext cx="2405360" cy="510491"/>
            <a:chOff x="0" y="0"/>
            <a:chExt cx="3207146" cy="680655"/>
          </a:xfrm>
        </p:grpSpPr>
        <p:grpSp>
          <p:nvGrpSpPr>
            <p:cNvPr id="28" name="Group 28"/>
            <p:cNvGrpSpPr/>
            <p:nvPr/>
          </p:nvGrpSpPr>
          <p:grpSpPr>
            <a:xfrm rot="0">
              <a:off x="0" y="0"/>
              <a:ext cx="453770" cy="680655"/>
              <a:chOff x="0" y="0"/>
              <a:chExt cx="406400" cy="6096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 rot="0">
              <a:off x="1573215" y="0"/>
              <a:ext cx="453770" cy="680655"/>
              <a:chOff x="0" y="0"/>
              <a:chExt cx="406400" cy="6096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 rot="0">
              <a:off x="789245" y="0"/>
              <a:ext cx="453770" cy="680655"/>
              <a:chOff x="0" y="0"/>
              <a:chExt cx="406400" cy="6096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 rot="0">
              <a:off x="2362459" y="0"/>
              <a:ext cx="453770" cy="680655"/>
              <a:chOff x="0" y="0"/>
              <a:chExt cx="406400" cy="6096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 rot="0">
              <a:off x="390917" y="0"/>
              <a:ext cx="453770" cy="680655"/>
              <a:chOff x="0" y="0"/>
              <a:chExt cx="406400" cy="6096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 rot="0">
              <a:off x="1964131" y="0"/>
              <a:ext cx="453770" cy="680655"/>
              <a:chOff x="0" y="0"/>
              <a:chExt cx="406400" cy="60960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 rot="0">
              <a:off x="1180162" y="0"/>
              <a:ext cx="453770" cy="680655"/>
              <a:chOff x="0" y="0"/>
              <a:chExt cx="406400" cy="60960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 rot="0">
              <a:off x="2753376" y="0"/>
              <a:ext cx="453770" cy="680655"/>
              <a:chOff x="0" y="0"/>
              <a:chExt cx="406400" cy="60960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</p:grpSp>
      <p:grpSp>
        <p:nvGrpSpPr>
          <p:cNvPr id="52" name="Group 52"/>
          <p:cNvGrpSpPr/>
          <p:nvPr/>
        </p:nvGrpSpPr>
        <p:grpSpPr>
          <a:xfrm rot="0">
            <a:off x="3266130" y="9258300"/>
            <a:ext cx="2405360" cy="510491"/>
            <a:chOff x="0" y="0"/>
            <a:chExt cx="3207146" cy="680655"/>
          </a:xfrm>
        </p:grpSpPr>
        <p:grpSp>
          <p:nvGrpSpPr>
            <p:cNvPr id="53" name="Group 53"/>
            <p:cNvGrpSpPr/>
            <p:nvPr/>
          </p:nvGrpSpPr>
          <p:grpSpPr>
            <a:xfrm rot="0">
              <a:off x="0" y="0"/>
              <a:ext cx="453770" cy="680655"/>
              <a:chOff x="0" y="0"/>
              <a:chExt cx="406400" cy="60960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 rot="0">
              <a:off x="1573215" y="0"/>
              <a:ext cx="453770" cy="680655"/>
              <a:chOff x="0" y="0"/>
              <a:chExt cx="406400" cy="60960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 rot="0">
              <a:off x="789245" y="0"/>
              <a:ext cx="453770" cy="680655"/>
              <a:chOff x="0" y="0"/>
              <a:chExt cx="406400" cy="609600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62" name="Group 62"/>
            <p:cNvGrpSpPr/>
            <p:nvPr/>
          </p:nvGrpSpPr>
          <p:grpSpPr>
            <a:xfrm rot="0">
              <a:off x="2362459" y="0"/>
              <a:ext cx="453770" cy="680655"/>
              <a:chOff x="0" y="0"/>
              <a:chExt cx="406400" cy="609600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 rot="0">
              <a:off x="390917" y="0"/>
              <a:ext cx="453770" cy="680655"/>
              <a:chOff x="0" y="0"/>
              <a:chExt cx="406400" cy="609600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68" name="Group 68"/>
            <p:cNvGrpSpPr/>
            <p:nvPr/>
          </p:nvGrpSpPr>
          <p:grpSpPr>
            <a:xfrm rot="0">
              <a:off x="1964131" y="0"/>
              <a:ext cx="453770" cy="680655"/>
              <a:chOff x="0" y="0"/>
              <a:chExt cx="406400" cy="609600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71" name="Group 71"/>
            <p:cNvGrpSpPr/>
            <p:nvPr/>
          </p:nvGrpSpPr>
          <p:grpSpPr>
            <a:xfrm rot="0">
              <a:off x="1180162" y="0"/>
              <a:ext cx="453770" cy="680655"/>
              <a:chOff x="0" y="0"/>
              <a:chExt cx="406400" cy="609600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73" name="TextBox 73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74" name="Group 74"/>
            <p:cNvGrpSpPr/>
            <p:nvPr/>
          </p:nvGrpSpPr>
          <p:grpSpPr>
            <a:xfrm rot="0">
              <a:off x="2753376" y="0"/>
              <a:ext cx="453770" cy="680655"/>
              <a:chOff x="0" y="0"/>
              <a:chExt cx="406400" cy="609600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76" name="TextBox 76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</p:grpSp>
      <p:grpSp>
        <p:nvGrpSpPr>
          <p:cNvPr id="77" name="Group 77"/>
          <p:cNvGrpSpPr/>
          <p:nvPr/>
        </p:nvGrpSpPr>
        <p:grpSpPr>
          <a:xfrm rot="0">
            <a:off x="14853940" y="518209"/>
            <a:ext cx="2405360" cy="510491"/>
            <a:chOff x="0" y="0"/>
            <a:chExt cx="3207146" cy="680655"/>
          </a:xfrm>
        </p:grpSpPr>
        <p:grpSp>
          <p:nvGrpSpPr>
            <p:cNvPr id="78" name="Group 78"/>
            <p:cNvGrpSpPr/>
            <p:nvPr/>
          </p:nvGrpSpPr>
          <p:grpSpPr>
            <a:xfrm rot="0">
              <a:off x="0" y="0"/>
              <a:ext cx="453770" cy="680655"/>
              <a:chOff x="0" y="0"/>
              <a:chExt cx="406400" cy="609600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80" name="TextBox 80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81" name="Group 81"/>
            <p:cNvGrpSpPr/>
            <p:nvPr/>
          </p:nvGrpSpPr>
          <p:grpSpPr>
            <a:xfrm rot="0">
              <a:off x="1573215" y="0"/>
              <a:ext cx="453770" cy="680655"/>
              <a:chOff x="0" y="0"/>
              <a:chExt cx="406400" cy="609600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83" name="TextBox 83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84" name="Group 84"/>
            <p:cNvGrpSpPr/>
            <p:nvPr/>
          </p:nvGrpSpPr>
          <p:grpSpPr>
            <a:xfrm rot="0">
              <a:off x="789245" y="0"/>
              <a:ext cx="453770" cy="680655"/>
              <a:chOff x="0" y="0"/>
              <a:chExt cx="406400" cy="609600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86" name="TextBox 86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87" name="Group 87"/>
            <p:cNvGrpSpPr/>
            <p:nvPr/>
          </p:nvGrpSpPr>
          <p:grpSpPr>
            <a:xfrm rot="0">
              <a:off x="2362459" y="0"/>
              <a:ext cx="453770" cy="680655"/>
              <a:chOff x="0" y="0"/>
              <a:chExt cx="406400" cy="609600"/>
            </a:xfrm>
          </p:grpSpPr>
          <p:sp>
            <p:nvSpPr>
              <p:cNvPr id="88" name="Freeform 88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89" name="TextBox 89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90" name="Group 90"/>
            <p:cNvGrpSpPr/>
            <p:nvPr/>
          </p:nvGrpSpPr>
          <p:grpSpPr>
            <a:xfrm rot="0">
              <a:off x="390917" y="0"/>
              <a:ext cx="453770" cy="680655"/>
              <a:chOff x="0" y="0"/>
              <a:chExt cx="406400" cy="609600"/>
            </a:xfrm>
          </p:grpSpPr>
          <p:sp>
            <p:nvSpPr>
              <p:cNvPr id="91" name="Freeform 91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92" name="TextBox 92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93" name="Group 93"/>
            <p:cNvGrpSpPr/>
            <p:nvPr/>
          </p:nvGrpSpPr>
          <p:grpSpPr>
            <a:xfrm rot="0">
              <a:off x="1964131" y="0"/>
              <a:ext cx="453770" cy="680655"/>
              <a:chOff x="0" y="0"/>
              <a:chExt cx="406400" cy="609600"/>
            </a:xfrm>
          </p:grpSpPr>
          <p:sp>
            <p:nvSpPr>
              <p:cNvPr id="94" name="Freeform 94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95" name="TextBox 95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96" name="Group 96"/>
            <p:cNvGrpSpPr/>
            <p:nvPr/>
          </p:nvGrpSpPr>
          <p:grpSpPr>
            <a:xfrm rot="0">
              <a:off x="1180162" y="0"/>
              <a:ext cx="453770" cy="680655"/>
              <a:chOff x="0" y="0"/>
              <a:chExt cx="406400" cy="609600"/>
            </a:xfrm>
          </p:grpSpPr>
          <p:sp>
            <p:nvSpPr>
              <p:cNvPr id="97" name="Freeform 97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98" name="TextBox 98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99" name="Group 99"/>
            <p:cNvGrpSpPr/>
            <p:nvPr/>
          </p:nvGrpSpPr>
          <p:grpSpPr>
            <a:xfrm rot="0">
              <a:off x="2753376" y="0"/>
              <a:ext cx="453770" cy="680655"/>
              <a:chOff x="0" y="0"/>
              <a:chExt cx="406400" cy="609600"/>
            </a:xfrm>
          </p:grpSpPr>
          <p:sp>
            <p:nvSpPr>
              <p:cNvPr id="100" name="Freeform 100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01" name="TextBox 101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</p:grpSp>
      <p:sp>
        <p:nvSpPr>
          <p:cNvPr id="102" name="TextBox 102"/>
          <p:cNvSpPr txBox="1"/>
          <p:nvPr/>
        </p:nvSpPr>
        <p:spPr>
          <a:xfrm>
            <a:off x="58043" y="1598930"/>
            <a:ext cx="18171914" cy="725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880"/>
              </a:lnSpc>
            </a:pPr>
            <a:r>
              <a:rPr lang="en-US" sz="49000">
                <a:solidFill>
                  <a:srgbClr val="0743E8">
                    <a:alpha val="8627"/>
                  </a:srgbClr>
                </a:solidFill>
                <a:latin typeface="Arimo Bold" panose="020B0704020202020204"/>
              </a:rPr>
              <a:t>01</a:t>
            </a:r>
            <a:endParaRPr lang="en-US" sz="49000">
              <a:solidFill>
                <a:srgbClr val="0743E8">
                  <a:alpha val="8627"/>
                </a:srgbClr>
              </a:solidFill>
              <a:latin typeface="Arimo Bold" panose="020B0704020202020204"/>
            </a:endParaRPr>
          </a:p>
        </p:txBody>
      </p:sp>
      <p:sp>
        <p:nvSpPr>
          <p:cNvPr id="103" name="TextBox 103"/>
          <p:cNvSpPr txBox="1"/>
          <p:nvPr/>
        </p:nvSpPr>
        <p:spPr>
          <a:xfrm>
            <a:off x="3030489" y="3976479"/>
            <a:ext cx="12227023" cy="1227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960"/>
              </a:lnSpc>
              <a:spcBef>
                <a:spcPct val="0"/>
              </a:spcBef>
            </a:pPr>
            <a:r>
              <a:rPr lang="en-US" sz="7545" spc="2172">
                <a:solidFill>
                  <a:srgbClr val="323232"/>
                </a:solidFill>
                <a:ea typeface="字由点字倔强黑" panose="00020600040101010101" charset="-122"/>
              </a:rPr>
              <a:t>设计灵感提取</a:t>
            </a:r>
            <a:endParaRPr lang="en-US" sz="7545" spc="2172">
              <a:solidFill>
                <a:srgbClr val="323232"/>
              </a:solidFill>
              <a:ea typeface="字由点字倔强黑" panose="00020600040101010101" charset="-122"/>
            </a:endParaRPr>
          </a:p>
        </p:txBody>
      </p:sp>
      <p:sp>
        <p:nvSpPr>
          <p:cNvPr id="104" name="TextBox 104"/>
          <p:cNvSpPr txBox="1"/>
          <p:nvPr/>
        </p:nvSpPr>
        <p:spPr>
          <a:xfrm>
            <a:off x="3030489" y="5185474"/>
            <a:ext cx="12227023" cy="447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85"/>
              </a:lnSpc>
              <a:spcBef>
                <a:spcPct val="0"/>
              </a:spcBef>
            </a:pPr>
            <a:r>
              <a:rPr lang="en-US" sz="2820" spc="854">
                <a:solidFill>
                  <a:srgbClr val="323232"/>
                </a:solidFill>
                <a:latin typeface="Arimo" panose="020B0604020202020204"/>
              </a:rPr>
              <a:t>SOURCE OF INSPIRATION</a:t>
            </a:r>
            <a:endParaRPr lang="en-US" sz="2820" spc="854">
              <a:solidFill>
                <a:srgbClr val="323232"/>
              </a:solidFill>
              <a:latin typeface="Arimo" panose="020B0604020202020204"/>
            </a:endParaRPr>
          </a:p>
        </p:txBody>
      </p:sp>
      <p:sp>
        <p:nvSpPr>
          <p:cNvPr id="105" name="Freeform 105"/>
          <p:cNvSpPr/>
          <p:nvPr/>
        </p:nvSpPr>
        <p:spPr>
          <a:xfrm>
            <a:off x="686693" y="355326"/>
            <a:ext cx="1679936" cy="673374"/>
          </a:xfrm>
          <a:custGeom>
            <a:avLst/>
            <a:gdLst/>
            <a:ahLst/>
            <a:cxnLst/>
            <a:rect l="l" t="t" r="r" b="b"/>
            <a:pathLst>
              <a:path w="1679936" h="673374">
                <a:moveTo>
                  <a:pt x="0" y="0"/>
                </a:moveTo>
                <a:lnTo>
                  <a:pt x="1679936" y="0"/>
                </a:lnTo>
                <a:lnTo>
                  <a:pt x="1679936" y="673374"/>
                </a:lnTo>
                <a:lnTo>
                  <a:pt x="0" y="67337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0697" y="322266"/>
            <a:ext cx="1301564" cy="862168"/>
          </a:xfrm>
          <a:custGeom>
            <a:avLst/>
            <a:gdLst/>
            <a:ahLst/>
            <a:cxnLst/>
            <a:rect l="l" t="t" r="r" b="b"/>
            <a:pathLst>
              <a:path w="1301564" h="862168">
                <a:moveTo>
                  <a:pt x="0" y="0"/>
                </a:moveTo>
                <a:lnTo>
                  <a:pt x="1301564" y="0"/>
                </a:lnTo>
                <a:lnTo>
                  <a:pt x="1301564" y="862168"/>
                </a:lnTo>
                <a:lnTo>
                  <a:pt x="0" y="862168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15462761" y="518209"/>
            <a:ext cx="2405360" cy="510491"/>
            <a:chOff x="0" y="0"/>
            <a:chExt cx="3207146" cy="680655"/>
          </a:xfrm>
        </p:grpSpPr>
        <p:grpSp>
          <p:nvGrpSpPr>
            <p:cNvPr id="4" name="Group 4"/>
            <p:cNvGrpSpPr/>
            <p:nvPr/>
          </p:nvGrpSpPr>
          <p:grpSpPr>
            <a:xfrm rot="0">
              <a:off x="0" y="0"/>
              <a:ext cx="453770" cy="680655"/>
              <a:chOff x="0" y="0"/>
              <a:chExt cx="406400" cy="6096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 rot="0">
              <a:off x="1573215" y="0"/>
              <a:ext cx="453770" cy="680655"/>
              <a:chOff x="0" y="0"/>
              <a:chExt cx="406400" cy="6096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0">
              <a:off x="789245" y="0"/>
              <a:ext cx="453770" cy="680655"/>
              <a:chOff x="0" y="0"/>
              <a:chExt cx="406400" cy="6096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0">
              <a:off x="2362459" y="0"/>
              <a:ext cx="453770" cy="680655"/>
              <a:chOff x="0" y="0"/>
              <a:chExt cx="406400" cy="6096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0">
              <a:off x="390917" y="0"/>
              <a:ext cx="453770" cy="680655"/>
              <a:chOff x="0" y="0"/>
              <a:chExt cx="406400" cy="6096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0">
              <a:off x="1964131" y="0"/>
              <a:ext cx="453770" cy="680655"/>
              <a:chOff x="0" y="0"/>
              <a:chExt cx="406400" cy="6096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0">
              <a:off x="1180162" y="0"/>
              <a:ext cx="453770" cy="680655"/>
              <a:chOff x="0" y="0"/>
              <a:chExt cx="406400" cy="6096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 rot="0">
              <a:off x="2753376" y="0"/>
              <a:ext cx="453770" cy="680655"/>
              <a:chOff x="0" y="0"/>
              <a:chExt cx="406400" cy="6096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</p:grpSp>
      <p:grpSp>
        <p:nvGrpSpPr>
          <p:cNvPr id="28" name="Group 28"/>
          <p:cNvGrpSpPr/>
          <p:nvPr/>
        </p:nvGrpSpPr>
        <p:grpSpPr>
          <a:xfrm rot="0">
            <a:off x="339581" y="9258300"/>
            <a:ext cx="2405360" cy="510491"/>
            <a:chOff x="0" y="0"/>
            <a:chExt cx="3207146" cy="680655"/>
          </a:xfrm>
        </p:grpSpPr>
        <p:grpSp>
          <p:nvGrpSpPr>
            <p:cNvPr id="29" name="Group 29"/>
            <p:cNvGrpSpPr/>
            <p:nvPr/>
          </p:nvGrpSpPr>
          <p:grpSpPr>
            <a:xfrm rot="0">
              <a:off x="0" y="0"/>
              <a:ext cx="453770" cy="680655"/>
              <a:chOff x="0" y="0"/>
              <a:chExt cx="406400" cy="6096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 rot="0">
              <a:off x="1573215" y="0"/>
              <a:ext cx="453770" cy="680655"/>
              <a:chOff x="0" y="0"/>
              <a:chExt cx="406400" cy="6096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 rot="0">
              <a:off x="789245" y="0"/>
              <a:ext cx="453770" cy="680655"/>
              <a:chOff x="0" y="0"/>
              <a:chExt cx="406400" cy="6096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 rot="0">
              <a:off x="2362459" y="0"/>
              <a:ext cx="453770" cy="680655"/>
              <a:chOff x="0" y="0"/>
              <a:chExt cx="406400" cy="6096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 rot="0">
              <a:off x="390917" y="0"/>
              <a:ext cx="453770" cy="680655"/>
              <a:chOff x="0" y="0"/>
              <a:chExt cx="406400" cy="6096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 rot="0">
              <a:off x="1964131" y="0"/>
              <a:ext cx="453770" cy="680655"/>
              <a:chOff x="0" y="0"/>
              <a:chExt cx="406400" cy="60960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 rot="0">
              <a:off x="1180162" y="0"/>
              <a:ext cx="453770" cy="680655"/>
              <a:chOff x="0" y="0"/>
              <a:chExt cx="406400" cy="60960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 rot="0">
              <a:off x="2753376" y="0"/>
              <a:ext cx="453770" cy="680655"/>
              <a:chOff x="0" y="0"/>
              <a:chExt cx="406400" cy="60960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</p:grpSp>
      <p:sp>
        <p:nvSpPr>
          <p:cNvPr id="53" name="TextBox 53"/>
          <p:cNvSpPr txBox="1"/>
          <p:nvPr/>
        </p:nvSpPr>
        <p:spPr>
          <a:xfrm>
            <a:off x="1542261" y="323201"/>
            <a:ext cx="5276322" cy="793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6335"/>
              </a:lnSpc>
              <a:spcBef>
                <a:spcPct val="0"/>
              </a:spcBef>
            </a:pPr>
            <a:r>
              <a:rPr lang="en-US" sz="4800">
                <a:solidFill>
                  <a:srgbClr val="323232"/>
                </a:solidFill>
                <a:latin typeface="字由点字倔强黑" panose="00020600040101010101" charset="-122"/>
                <a:ea typeface="字由点字倔强黑" panose="00020600040101010101" charset="-122"/>
              </a:rPr>
              <a:t>IP灵感来源</a:t>
            </a:r>
            <a:endParaRPr lang="en-US" sz="4800">
              <a:solidFill>
                <a:srgbClr val="323232"/>
              </a:solidFill>
              <a:latin typeface="字由点字倔强黑" panose="00020600040101010101" charset="-122"/>
              <a:ea typeface="字由点字倔强黑" panose="00020600040101010101" charset="-122"/>
            </a:endParaRPr>
          </a:p>
        </p:txBody>
      </p:sp>
      <p:sp>
        <p:nvSpPr>
          <p:cNvPr id="54" name="Freeform 54"/>
          <p:cNvSpPr/>
          <p:nvPr/>
        </p:nvSpPr>
        <p:spPr>
          <a:xfrm>
            <a:off x="1995309" y="2539315"/>
            <a:ext cx="5270770" cy="2733298"/>
          </a:xfrm>
          <a:custGeom>
            <a:avLst/>
            <a:gdLst/>
            <a:ahLst/>
            <a:cxnLst/>
            <a:rect l="l" t="t" r="r" b="b"/>
            <a:pathLst>
              <a:path w="5270770" h="2733298">
                <a:moveTo>
                  <a:pt x="0" y="0"/>
                </a:moveTo>
                <a:lnTo>
                  <a:pt x="5270770" y="0"/>
                </a:lnTo>
                <a:lnTo>
                  <a:pt x="5270770" y="2733298"/>
                </a:lnTo>
                <a:lnTo>
                  <a:pt x="0" y="27332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5000"/>
            </a:blip>
            <a:stretch>
              <a:fillRect t="-15467" b="-13268"/>
            </a:stretch>
          </a:blipFill>
          <a:ln cap="sq">
            <a:noFill/>
            <a:prstDash val="solid"/>
            <a:miter/>
          </a:ln>
        </p:spPr>
      </p:sp>
      <p:sp>
        <p:nvSpPr>
          <p:cNvPr id="55" name="Freeform 55"/>
          <p:cNvSpPr/>
          <p:nvPr/>
        </p:nvSpPr>
        <p:spPr>
          <a:xfrm>
            <a:off x="7659820" y="2479497"/>
            <a:ext cx="5284497" cy="2733298"/>
          </a:xfrm>
          <a:custGeom>
            <a:avLst/>
            <a:gdLst/>
            <a:ahLst/>
            <a:cxnLst/>
            <a:rect l="l" t="t" r="r" b="b"/>
            <a:pathLst>
              <a:path w="5284497" h="2733298">
                <a:moveTo>
                  <a:pt x="0" y="0"/>
                </a:moveTo>
                <a:lnTo>
                  <a:pt x="5284497" y="0"/>
                </a:lnTo>
                <a:lnTo>
                  <a:pt x="5284497" y="2733299"/>
                </a:lnTo>
                <a:lnTo>
                  <a:pt x="0" y="27332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315" t="-39906" r="-18411" b="-19568"/>
            </a:stretch>
          </a:blipFill>
        </p:spPr>
      </p:sp>
      <p:sp>
        <p:nvSpPr>
          <p:cNvPr id="56" name="Freeform 56"/>
          <p:cNvSpPr/>
          <p:nvPr/>
        </p:nvSpPr>
        <p:spPr>
          <a:xfrm>
            <a:off x="1995309" y="5505347"/>
            <a:ext cx="5270770" cy="2965687"/>
          </a:xfrm>
          <a:custGeom>
            <a:avLst/>
            <a:gdLst/>
            <a:ahLst/>
            <a:cxnLst/>
            <a:rect l="l" t="t" r="r" b="b"/>
            <a:pathLst>
              <a:path w="5270770" h="2965687">
                <a:moveTo>
                  <a:pt x="0" y="0"/>
                </a:moveTo>
                <a:lnTo>
                  <a:pt x="5270770" y="0"/>
                </a:lnTo>
                <a:lnTo>
                  <a:pt x="5270770" y="2965687"/>
                </a:lnTo>
                <a:lnTo>
                  <a:pt x="0" y="29656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7" name="Freeform 57"/>
          <p:cNvSpPr/>
          <p:nvPr/>
        </p:nvSpPr>
        <p:spPr>
          <a:xfrm>
            <a:off x="7659820" y="5505347"/>
            <a:ext cx="5284497" cy="2931603"/>
          </a:xfrm>
          <a:custGeom>
            <a:avLst/>
            <a:gdLst/>
            <a:ahLst/>
            <a:cxnLst/>
            <a:rect l="l" t="t" r="r" b="b"/>
            <a:pathLst>
              <a:path w="5284497" h="2931603">
                <a:moveTo>
                  <a:pt x="0" y="0"/>
                </a:moveTo>
                <a:lnTo>
                  <a:pt x="5284497" y="0"/>
                </a:lnTo>
                <a:lnTo>
                  <a:pt x="5284497" y="2931603"/>
                </a:lnTo>
                <a:lnTo>
                  <a:pt x="0" y="29316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7597" b="-17597"/>
            </a:stretch>
          </a:blipFill>
        </p:spPr>
      </p:sp>
      <p:sp>
        <p:nvSpPr>
          <p:cNvPr id="58" name="TextBox 58"/>
          <p:cNvSpPr txBox="1"/>
          <p:nvPr/>
        </p:nvSpPr>
        <p:spPr>
          <a:xfrm>
            <a:off x="13871423" y="5091638"/>
            <a:ext cx="1970595" cy="3379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425"/>
              </a:lnSpc>
            </a:pPr>
            <a:r>
              <a:rPr lang="en-US" sz="3015">
                <a:solidFill>
                  <a:srgbClr val="737373"/>
                </a:solidFill>
                <a:ea typeface="思源黑体" panose="020B0500000000000000" charset="-122"/>
              </a:rPr>
              <a:t>灵昆瓜</a:t>
            </a:r>
            <a:endParaRPr lang="en-US" sz="3015">
              <a:solidFill>
                <a:srgbClr val="737373"/>
              </a:solidFill>
              <a:ea typeface="思源黑体" panose="020B0500000000000000" charset="-122"/>
            </a:endParaRPr>
          </a:p>
          <a:p>
            <a:pPr>
              <a:lnSpc>
                <a:spcPts val="5425"/>
              </a:lnSpc>
            </a:pPr>
            <a:r>
              <a:rPr lang="en-US" sz="3015">
                <a:solidFill>
                  <a:srgbClr val="737373"/>
                </a:solidFill>
                <a:ea typeface="思源黑体" panose="020B0500000000000000" charset="-122"/>
              </a:rPr>
              <a:t>灵昆鸡</a:t>
            </a:r>
            <a:endParaRPr lang="en-US" sz="3015">
              <a:solidFill>
                <a:srgbClr val="737373"/>
              </a:solidFill>
              <a:ea typeface="思源黑体" panose="020B0500000000000000" charset="-122"/>
            </a:endParaRPr>
          </a:p>
          <a:p>
            <a:pPr>
              <a:lnSpc>
                <a:spcPts val="5425"/>
              </a:lnSpc>
            </a:pPr>
            <a:r>
              <a:rPr lang="en-US" sz="3015">
                <a:solidFill>
                  <a:srgbClr val="737373"/>
                </a:solidFill>
                <a:ea typeface="思源黑体" panose="020B0500000000000000" charset="-122"/>
              </a:rPr>
              <a:t>灵昆蝤蠓</a:t>
            </a:r>
            <a:endParaRPr lang="en-US" sz="3015">
              <a:solidFill>
                <a:srgbClr val="737373"/>
              </a:solidFill>
              <a:ea typeface="思源黑体" panose="020B0500000000000000" charset="-122"/>
            </a:endParaRPr>
          </a:p>
          <a:p>
            <a:pPr>
              <a:lnSpc>
                <a:spcPts val="5425"/>
              </a:lnSpc>
            </a:pPr>
            <a:r>
              <a:rPr lang="en-US" sz="3015">
                <a:solidFill>
                  <a:srgbClr val="737373"/>
                </a:solidFill>
                <a:ea typeface="思源黑体" panose="020B0500000000000000" charset="-122"/>
              </a:rPr>
              <a:t>灵昆文蛤</a:t>
            </a:r>
            <a:endParaRPr lang="en-US" sz="3015">
              <a:solidFill>
                <a:srgbClr val="737373"/>
              </a:solidFill>
              <a:ea typeface="思源黑体" panose="020B0500000000000000" charset="-122"/>
            </a:endParaRPr>
          </a:p>
          <a:p>
            <a:pPr>
              <a:lnSpc>
                <a:spcPts val="5425"/>
              </a:lnSpc>
            </a:pPr>
          </a:p>
        </p:txBody>
      </p:sp>
      <p:sp>
        <p:nvSpPr>
          <p:cNvPr id="59" name="TextBox 59"/>
          <p:cNvSpPr txBox="1"/>
          <p:nvPr/>
        </p:nvSpPr>
        <p:spPr>
          <a:xfrm>
            <a:off x="1995309" y="1276015"/>
            <a:ext cx="5710671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>
                <a:solidFill>
                  <a:srgbClr val="3B64C9"/>
                </a:solidFill>
                <a:ea typeface="字由点字美玲体" panose="00020600040101000101" charset="-122"/>
              </a:rPr>
              <a:t>跟宠元素提取</a:t>
            </a:r>
            <a:endParaRPr lang="en-US" sz="6000">
              <a:solidFill>
                <a:srgbClr val="3B64C9"/>
              </a:solidFill>
              <a:ea typeface="字由点字美玲体" panose="00020600040101000101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0697" y="322266"/>
            <a:ext cx="1301564" cy="862168"/>
          </a:xfrm>
          <a:custGeom>
            <a:avLst/>
            <a:gdLst/>
            <a:ahLst/>
            <a:cxnLst/>
            <a:rect l="l" t="t" r="r" b="b"/>
            <a:pathLst>
              <a:path w="1301564" h="862168">
                <a:moveTo>
                  <a:pt x="0" y="0"/>
                </a:moveTo>
                <a:lnTo>
                  <a:pt x="1301564" y="0"/>
                </a:lnTo>
                <a:lnTo>
                  <a:pt x="1301564" y="862168"/>
                </a:lnTo>
                <a:lnTo>
                  <a:pt x="0" y="862168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15462761" y="518209"/>
            <a:ext cx="2405360" cy="510491"/>
            <a:chOff x="0" y="0"/>
            <a:chExt cx="3207146" cy="680655"/>
          </a:xfrm>
        </p:grpSpPr>
        <p:grpSp>
          <p:nvGrpSpPr>
            <p:cNvPr id="4" name="Group 4"/>
            <p:cNvGrpSpPr/>
            <p:nvPr/>
          </p:nvGrpSpPr>
          <p:grpSpPr>
            <a:xfrm rot="0">
              <a:off x="0" y="0"/>
              <a:ext cx="453770" cy="680655"/>
              <a:chOff x="0" y="0"/>
              <a:chExt cx="406400" cy="6096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 rot="0">
              <a:off x="1573215" y="0"/>
              <a:ext cx="453770" cy="680655"/>
              <a:chOff x="0" y="0"/>
              <a:chExt cx="406400" cy="6096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0">
              <a:off x="789245" y="0"/>
              <a:ext cx="453770" cy="680655"/>
              <a:chOff x="0" y="0"/>
              <a:chExt cx="406400" cy="6096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0">
              <a:off x="2362459" y="0"/>
              <a:ext cx="453770" cy="680655"/>
              <a:chOff x="0" y="0"/>
              <a:chExt cx="406400" cy="6096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0">
              <a:off x="390917" y="0"/>
              <a:ext cx="453770" cy="680655"/>
              <a:chOff x="0" y="0"/>
              <a:chExt cx="406400" cy="6096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0">
              <a:off x="1964131" y="0"/>
              <a:ext cx="453770" cy="680655"/>
              <a:chOff x="0" y="0"/>
              <a:chExt cx="406400" cy="6096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0">
              <a:off x="1180162" y="0"/>
              <a:ext cx="453770" cy="680655"/>
              <a:chOff x="0" y="0"/>
              <a:chExt cx="406400" cy="6096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 rot="0">
              <a:off x="2753376" y="0"/>
              <a:ext cx="453770" cy="680655"/>
              <a:chOff x="0" y="0"/>
              <a:chExt cx="406400" cy="6096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</p:grpSp>
      <p:grpSp>
        <p:nvGrpSpPr>
          <p:cNvPr id="28" name="Group 28"/>
          <p:cNvGrpSpPr/>
          <p:nvPr/>
        </p:nvGrpSpPr>
        <p:grpSpPr>
          <a:xfrm rot="0">
            <a:off x="339581" y="9258300"/>
            <a:ext cx="2405360" cy="510491"/>
            <a:chOff x="0" y="0"/>
            <a:chExt cx="3207146" cy="680655"/>
          </a:xfrm>
        </p:grpSpPr>
        <p:grpSp>
          <p:nvGrpSpPr>
            <p:cNvPr id="29" name="Group 29"/>
            <p:cNvGrpSpPr/>
            <p:nvPr/>
          </p:nvGrpSpPr>
          <p:grpSpPr>
            <a:xfrm rot="0">
              <a:off x="0" y="0"/>
              <a:ext cx="453770" cy="680655"/>
              <a:chOff x="0" y="0"/>
              <a:chExt cx="406400" cy="6096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 rot="0">
              <a:off x="1573215" y="0"/>
              <a:ext cx="453770" cy="680655"/>
              <a:chOff x="0" y="0"/>
              <a:chExt cx="406400" cy="6096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 rot="0">
              <a:off x="789245" y="0"/>
              <a:ext cx="453770" cy="680655"/>
              <a:chOff x="0" y="0"/>
              <a:chExt cx="406400" cy="6096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 rot="0">
              <a:off x="2362459" y="0"/>
              <a:ext cx="453770" cy="680655"/>
              <a:chOff x="0" y="0"/>
              <a:chExt cx="406400" cy="6096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 rot="0">
              <a:off x="390917" y="0"/>
              <a:ext cx="453770" cy="680655"/>
              <a:chOff x="0" y="0"/>
              <a:chExt cx="406400" cy="6096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 rot="0">
              <a:off x="1964131" y="0"/>
              <a:ext cx="453770" cy="680655"/>
              <a:chOff x="0" y="0"/>
              <a:chExt cx="406400" cy="60960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 rot="0">
              <a:off x="1180162" y="0"/>
              <a:ext cx="453770" cy="680655"/>
              <a:chOff x="0" y="0"/>
              <a:chExt cx="406400" cy="60960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 rot="0">
              <a:off x="2753376" y="0"/>
              <a:ext cx="453770" cy="680655"/>
              <a:chOff x="0" y="0"/>
              <a:chExt cx="406400" cy="60960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</p:grpSp>
      <p:sp>
        <p:nvSpPr>
          <p:cNvPr id="53" name="TextBox 53"/>
          <p:cNvSpPr txBox="1"/>
          <p:nvPr/>
        </p:nvSpPr>
        <p:spPr>
          <a:xfrm>
            <a:off x="1542261" y="390874"/>
            <a:ext cx="5276322" cy="793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6335"/>
              </a:lnSpc>
              <a:spcBef>
                <a:spcPct val="0"/>
              </a:spcBef>
            </a:pPr>
            <a:r>
              <a:rPr lang="en-US" sz="4800">
                <a:solidFill>
                  <a:srgbClr val="323232"/>
                </a:solidFill>
                <a:latin typeface="字由点字倔强黑" panose="00020600040101010101" charset="-122"/>
                <a:ea typeface="字由点字倔强黑" panose="00020600040101010101" charset="-122"/>
              </a:rPr>
              <a:t>IP灵感来源</a:t>
            </a:r>
            <a:endParaRPr lang="en-US" sz="4800">
              <a:solidFill>
                <a:srgbClr val="323232"/>
              </a:solidFill>
              <a:latin typeface="字由点字倔强黑" panose="00020600040101010101" charset="-122"/>
              <a:ea typeface="字由点字倔强黑" panose="00020600040101010101" charset="-122"/>
            </a:endParaRPr>
          </a:p>
        </p:txBody>
      </p:sp>
      <p:sp>
        <p:nvSpPr>
          <p:cNvPr id="54" name="Freeform 54"/>
          <p:cNvSpPr/>
          <p:nvPr/>
        </p:nvSpPr>
        <p:spPr>
          <a:xfrm>
            <a:off x="3240923" y="1915609"/>
            <a:ext cx="11476372" cy="6806912"/>
          </a:xfrm>
          <a:custGeom>
            <a:avLst/>
            <a:gdLst/>
            <a:ahLst/>
            <a:cxnLst/>
            <a:rect l="l" t="t" r="r" b="b"/>
            <a:pathLst>
              <a:path w="11476372" h="6806912">
                <a:moveTo>
                  <a:pt x="0" y="0"/>
                </a:moveTo>
                <a:lnTo>
                  <a:pt x="11476372" y="0"/>
                </a:lnTo>
                <a:lnTo>
                  <a:pt x="11476372" y="6806912"/>
                </a:lnTo>
                <a:lnTo>
                  <a:pt x="0" y="68069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6000"/>
            </a:blip>
            <a:stretch>
              <a:fillRect l="-21982" t="-8263" r="-23831" b="-7871"/>
            </a:stretch>
          </a:blipFill>
        </p:spPr>
      </p:sp>
      <p:sp>
        <p:nvSpPr>
          <p:cNvPr id="55" name="TextBox 55"/>
          <p:cNvSpPr txBox="1"/>
          <p:nvPr/>
        </p:nvSpPr>
        <p:spPr>
          <a:xfrm>
            <a:off x="15875715" y="8608221"/>
            <a:ext cx="1794412" cy="406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80"/>
              </a:lnSpc>
            </a:pPr>
            <a:r>
              <a:rPr lang="en-US" sz="1935">
                <a:solidFill>
                  <a:srgbClr val="737373"/>
                </a:solidFill>
                <a:ea typeface="思源黑体" panose="020B0500000000000000" charset="-122"/>
              </a:rPr>
              <a:t>灵昆精神</a:t>
            </a:r>
            <a:endParaRPr lang="en-US" sz="1935">
              <a:solidFill>
                <a:srgbClr val="737373"/>
              </a:solidFill>
              <a:ea typeface="思源黑体" panose="020B0500000000000000" charset="-122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1643698" y="1118442"/>
            <a:ext cx="5710671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>
                <a:solidFill>
                  <a:srgbClr val="3B64C9"/>
                </a:solidFill>
                <a:ea typeface="字由点字美玲体" panose="00020600040101000101" charset="-122"/>
              </a:rPr>
              <a:t>风格定位</a:t>
            </a:r>
            <a:endParaRPr lang="en-US" sz="6000">
              <a:solidFill>
                <a:srgbClr val="3B64C9"/>
              </a:solidFill>
              <a:ea typeface="字由点字美玲体" panose="00020600040101000101" charset="-122"/>
            </a:endParaRPr>
          </a:p>
        </p:txBody>
      </p:sp>
      <p:sp>
        <p:nvSpPr>
          <p:cNvPr id="57" name="Freeform 57"/>
          <p:cNvSpPr/>
          <p:nvPr/>
        </p:nvSpPr>
        <p:spPr>
          <a:xfrm>
            <a:off x="686693" y="355326"/>
            <a:ext cx="1679936" cy="673374"/>
          </a:xfrm>
          <a:custGeom>
            <a:avLst/>
            <a:gdLst/>
            <a:ahLst/>
            <a:cxnLst/>
            <a:rect l="l" t="t" r="r" b="b"/>
            <a:pathLst>
              <a:path w="1679936" h="673374">
                <a:moveTo>
                  <a:pt x="0" y="0"/>
                </a:moveTo>
                <a:lnTo>
                  <a:pt x="1679936" y="0"/>
                </a:lnTo>
                <a:lnTo>
                  <a:pt x="1679936" y="673374"/>
                </a:lnTo>
                <a:lnTo>
                  <a:pt x="0" y="6733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0697" y="322266"/>
            <a:ext cx="1301564" cy="862168"/>
          </a:xfrm>
          <a:custGeom>
            <a:avLst/>
            <a:gdLst/>
            <a:ahLst/>
            <a:cxnLst/>
            <a:rect l="l" t="t" r="r" b="b"/>
            <a:pathLst>
              <a:path w="1301564" h="862168">
                <a:moveTo>
                  <a:pt x="0" y="0"/>
                </a:moveTo>
                <a:lnTo>
                  <a:pt x="1301564" y="0"/>
                </a:lnTo>
                <a:lnTo>
                  <a:pt x="1301564" y="862168"/>
                </a:lnTo>
                <a:lnTo>
                  <a:pt x="0" y="862168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15462761" y="518209"/>
            <a:ext cx="2405360" cy="510491"/>
            <a:chOff x="0" y="0"/>
            <a:chExt cx="3207146" cy="680655"/>
          </a:xfrm>
        </p:grpSpPr>
        <p:grpSp>
          <p:nvGrpSpPr>
            <p:cNvPr id="4" name="Group 4"/>
            <p:cNvGrpSpPr/>
            <p:nvPr/>
          </p:nvGrpSpPr>
          <p:grpSpPr>
            <a:xfrm rot="0">
              <a:off x="0" y="0"/>
              <a:ext cx="453770" cy="680655"/>
              <a:chOff x="0" y="0"/>
              <a:chExt cx="406400" cy="6096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 rot="0">
              <a:off x="1573215" y="0"/>
              <a:ext cx="453770" cy="680655"/>
              <a:chOff x="0" y="0"/>
              <a:chExt cx="406400" cy="6096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0">
              <a:off x="789245" y="0"/>
              <a:ext cx="453770" cy="680655"/>
              <a:chOff x="0" y="0"/>
              <a:chExt cx="406400" cy="6096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0">
              <a:off x="2362459" y="0"/>
              <a:ext cx="453770" cy="680655"/>
              <a:chOff x="0" y="0"/>
              <a:chExt cx="406400" cy="6096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0">
              <a:off x="390917" y="0"/>
              <a:ext cx="453770" cy="680655"/>
              <a:chOff x="0" y="0"/>
              <a:chExt cx="406400" cy="6096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0">
              <a:off x="1964131" y="0"/>
              <a:ext cx="453770" cy="680655"/>
              <a:chOff x="0" y="0"/>
              <a:chExt cx="406400" cy="6096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0">
              <a:off x="1180162" y="0"/>
              <a:ext cx="453770" cy="680655"/>
              <a:chOff x="0" y="0"/>
              <a:chExt cx="406400" cy="6096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 rot="0">
              <a:off x="2753376" y="0"/>
              <a:ext cx="453770" cy="680655"/>
              <a:chOff x="0" y="0"/>
              <a:chExt cx="406400" cy="6096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</p:grpSp>
      <p:grpSp>
        <p:nvGrpSpPr>
          <p:cNvPr id="28" name="Group 28"/>
          <p:cNvGrpSpPr/>
          <p:nvPr/>
        </p:nvGrpSpPr>
        <p:grpSpPr>
          <a:xfrm rot="0">
            <a:off x="339581" y="9258300"/>
            <a:ext cx="2405360" cy="510491"/>
            <a:chOff x="0" y="0"/>
            <a:chExt cx="3207146" cy="680655"/>
          </a:xfrm>
        </p:grpSpPr>
        <p:grpSp>
          <p:nvGrpSpPr>
            <p:cNvPr id="29" name="Group 29"/>
            <p:cNvGrpSpPr/>
            <p:nvPr/>
          </p:nvGrpSpPr>
          <p:grpSpPr>
            <a:xfrm rot="0">
              <a:off x="0" y="0"/>
              <a:ext cx="453770" cy="680655"/>
              <a:chOff x="0" y="0"/>
              <a:chExt cx="406400" cy="6096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 rot="0">
              <a:off x="1573215" y="0"/>
              <a:ext cx="453770" cy="680655"/>
              <a:chOff x="0" y="0"/>
              <a:chExt cx="406400" cy="6096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 rot="0">
              <a:off x="789245" y="0"/>
              <a:ext cx="453770" cy="680655"/>
              <a:chOff x="0" y="0"/>
              <a:chExt cx="406400" cy="6096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 rot="0">
              <a:off x="2362459" y="0"/>
              <a:ext cx="453770" cy="680655"/>
              <a:chOff x="0" y="0"/>
              <a:chExt cx="406400" cy="6096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 rot="0">
              <a:off x="390917" y="0"/>
              <a:ext cx="453770" cy="680655"/>
              <a:chOff x="0" y="0"/>
              <a:chExt cx="406400" cy="6096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 rot="0">
              <a:off x="1964131" y="0"/>
              <a:ext cx="453770" cy="680655"/>
              <a:chOff x="0" y="0"/>
              <a:chExt cx="406400" cy="60960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 rot="0">
              <a:off x="1180162" y="0"/>
              <a:ext cx="453770" cy="680655"/>
              <a:chOff x="0" y="0"/>
              <a:chExt cx="406400" cy="60960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 rot="0">
              <a:off x="2753376" y="0"/>
              <a:ext cx="453770" cy="680655"/>
              <a:chOff x="0" y="0"/>
              <a:chExt cx="406400" cy="60960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</p:grpSp>
      <p:sp>
        <p:nvSpPr>
          <p:cNvPr id="53" name="TextBox 53"/>
          <p:cNvSpPr txBox="1"/>
          <p:nvPr/>
        </p:nvSpPr>
        <p:spPr>
          <a:xfrm>
            <a:off x="1542261" y="390874"/>
            <a:ext cx="5276322" cy="793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6335"/>
              </a:lnSpc>
              <a:spcBef>
                <a:spcPct val="0"/>
              </a:spcBef>
            </a:pPr>
            <a:r>
              <a:rPr lang="en-US" sz="4800">
                <a:solidFill>
                  <a:srgbClr val="323232"/>
                </a:solidFill>
                <a:latin typeface="字由点字倔强黑" panose="00020600040101010101" charset="-122"/>
                <a:ea typeface="字由点字倔强黑" panose="00020600040101010101" charset="-122"/>
              </a:rPr>
              <a:t>IP灵感来源</a:t>
            </a:r>
            <a:endParaRPr lang="en-US" sz="4800">
              <a:solidFill>
                <a:srgbClr val="323232"/>
              </a:solidFill>
              <a:latin typeface="字由点字倔强黑" panose="00020600040101010101" charset="-122"/>
              <a:ea typeface="字由点字倔强黑" panose="00020600040101010101" charset="-122"/>
            </a:endParaRPr>
          </a:p>
        </p:txBody>
      </p:sp>
      <p:sp>
        <p:nvSpPr>
          <p:cNvPr id="54" name="Freeform 54"/>
          <p:cNvSpPr/>
          <p:nvPr/>
        </p:nvSpPr>
        <p:spPr>
          <a:xfrm>
            <a:off x="1980533" y="1977237"/>
            <a:ext cx="5649116" cy="3283706"/>
          </a:xfrm>
          <a:custGeom>
            <a:avLst/>
            <a:gdLst/>
            <a:ahLst/>
            <a:cxnLst/>
            <a:rect l="l" t="t" r="r" b="b"/>
            <a:pathLst>
              <a:path w="5649116" h="3283706">
                <a:moveTo>
                  <a:pt x="0" y="0"/>
                </a:moveTo>
                <a:lnTo>
                  <a:pt x="5649116" y="0"/>
                </a:lnTo>
                <a:lnTo>
                  <a:pt x="5649116" y="3283706"/>
                </a:lnTo>
                <a:lnTo>
                  <a:pt x="0" y="32837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439" t="-8629" r="-2092"/>
            </a:stretch>
          </a:blipFill>
        </p:spPr>
      </p:sp>
      <p:sp>
        <p:nvSpPr>
          <p:cNvPr id="55" name="Freeform 55"/>
          <p:cNvSpPr/>
          <p:nvPr/>
        </p:nvSpPr>
        <p:spPr>
          <a:xfrm>
            <a:off x="8735412" y="1977078"/>
            <a:ext cx="5754094" cy="3283866"/>
          </a:xfrm>
          <a:custGeom>
            <a:avLst/>
            <a:gdLst/>
            <a:ahLst/>
            <a:cxnLst/>
            <a:rect l="l" t="t" r="r" b="b"/>
            <a:pathLst>
              <a:path w="5754094" h="3283866">
                <a:moveTo>
                  <a:pt x="0" y="0"/>
                </a:moveTo>
                <a:lnTo>
                  <a:pt x="5754095" y="0"/>
                </a:lnTo>
                <a:lnTo>
                  <a:pt x="5754095" y="3283865"/>
                </a:lnTo>
                <a:lnTo>
                  <a:pt x="0" y="32838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364" r="-16971" b="-6364"/>
            </a:stretch>
          </a:blipFill>
        </p:spPr>
      </p:sp>
      <p:sp>
        <p:nvSpPr>
          <p:cNvPr id="56" name="TextBox 56"/>
          <p:cNvSpPr txBox="1"/>
          <p:nvPr/>
        </p:nvSpPr>
        <p:spPr>
          <a:xfrm>
            <a:off x="1980533" y="5977500"/>
            <a:ext cx="14950406" cy="1598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10"/>
              </a:lnSpc>
              <a:spcBef>
                <a:spcPct val="0"/>
              </a:spcBef>
            </a:pPr>
            <a:r>
              <a:rPr lang="en-US" sz="2395" u="none" strike="noStrike">
                <a:solidFill>
                  <a:srgbClr val="737373"/>
                </a:solidFill>
                <a:latin typeface="思源黑体" panose="020B0500000000000000" charset="-122"/>
                <a:ea typeface="思源黑体" panose="020B0500000000000000" charset="-122"/>
              </a:rPr>
              <a:t>行走在灵昆街道，大家都会感受到这里淳朴的民风和勤劳开拓的灵昆精神。作为温州海洋农业的重要活标本，由此提炼出的以“</a:t>
            </a:r>
            <a:r>
              <a:rPr lang="en-US" sz="2395" u="sng" strike="noStrike">
                <a:solidFill>
                  <a:srgbClr val="737373"/>
                </a:solidFill>
                <a:latin typeface="思源黑体" panose="020B0500000000000000" charset="-122"/>
                <a:ea typeface="思源黑体" panose="020B0500000000000000" charset="-122"/>
              </a:rPr>
              <a:t>垦荒精神与拓荒精神”为主的意蕴内涵可以作为IP的人物弧光</a:t>
            </a:r>
            <a:r>
              <a:rPr lang="en-US" sz="2395" u="none" strike="noStrike">
                <a:solidFill>
                  <a:srgbClr val="737373"/>
                </a:solidFill>
                <a:ea typeface="思源黑体" panose="020B0500000000000000" charset="-122"/>
              </a:rPr>
              <a:t>，</a:t>
            </a:r>
            <a:r>
              <a:rPr lang="en-US" sz="2395" u="none" strike="noStrike">
                <a:solidFill>
                  <a:srgbClr val="737373"/>
                </a:solidFill>
                <a:latin typeface="思源黑体 Bold" panose="020B0800000000000000" charset="-122"/>
                <a:ea typeface="思源黑体 Bold" panose="020B0800000000000000" charset="-122"/>
              </a:rPr>
              <a:t>万物生灵竞自由，郊野民宅相间，灵昆岛人地和谐、闲适亲切的人文氛围为IP设计提供了更多的灵感。</a:t>
            </a:r>
            <a:endParaRPr lang="en-US" sz="2395" u="none" strike="noStrike">
              <a:solidFill>
                <a:srgbClr val="737373"/>
              </a:solidFill>
              <a:latin typeface="思源黑体 Bold" panose="020B0800000000000000" charset="-122"/>
              <a:ea typeface="思源黑体 Bold" panose="020B0800000000000000" charset="-122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2060028" y="7852301"/>
            <a:ext cx="15199272" cy="1055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10"/>
              </a:lnSpc>
              <a:spcBef>
                <a:spcPct val="0"/>
              </a:spcBef>
            </a:pPr>
            <a:r>
              <a:rPr lang="en-US" sz="2395">
                <a:solidFill>
                  <a:srgbClr val="292828"/>
                </a:solidFill>
                <a:latin typeface="思源黑体 Bold" panose="020B0800000000000000" charset="-122"/>
                <a:ea typeface="思源黑体 Bold" panose="020B0800000000000000" charset="-122"/>
              </a:rPr>
              <a:t>通过对灵昆的调查确立了我们的设计风格为：软萌可爱带有亲和力积极向上，代表灵昆垦荒精神的形象。提取当地特产特色和地理风貌融入IP设计</a:t>
            </a:r>
            <a:endParaRPr lang="en-US" sz="2395">
              <a:solidFill>
                <a:srgbClr val="292828"/>
              </a:solidFill>
              <a:latin typeface="思源黑体 Bold" panose="020B0800000000000000" charset="-122"/>
              <a:ea typeface="思源黑体 Bold" panose="020B08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21377" y="1977237"/>
            <a:ext cx="9379691" cy="5526664"/>
          </a:xfrm>
          <a:custGeom>
            <a:avLst/>
            <a:gdLst/>
            <a:ahLst/>
            <a:cxnLst/>
            <a:rect l="l" t="t" r="r" b="b"/>
            <a:pathLst>
              <a:path w="9379691" h="5526664">
                <a:moveTo>
                  <a:pt x="0" y="0"/>
                </a:moveTo>
                <a:lnTo>
                  <a:pt x="9379691" y="0"/>
                </a:lnTo>
                <a:lnTo>
                  <a:pt x="9379691" y="5526664"/>
                </a:lnTo>
                <a:lnTo>
                  <a:pt x="0" y="552666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3486" t="-8629" r="-3486"/>
            </a:stretch>
          </a:blipFill>
        </p:spPr>
      </p:sp>
      <p:sp>
        <p:nvSpPr>
          <p:cNvPr id="3" name="Freeform 3"/>
          <p:cNvSpPr/>
          <p:nvPr/>
        </p:nvSpPr>
        <p:spPr>
          <a:xfrm rot="-5400000">
            <a:off x="12355338" y="2224920"/>
            <a:ext cx="2812862" cy="3958329"/>
          </a:xfrm>
          <a:custGeom>
            <a:avLst/>
            <a:gdLst/>
            <a:ahLst/>
            <a:cxnLst/>
            <a:rect l="l" t="t" r="r" b="b"/>
            <a:pathLst>
              <a:path w="2812862" h="3958329">
                <a:moveTo>
                  <a:pt x="0" y="0"/>
                </a:moveTo>
                <a:lnTo>
                  <a:pt x="2812862" y="0"/>
                </a:lnTo>
                <a:lnTo>
                  <a:pt x="2812862" y="3958329"/>
                </a:lnTo>
                <a:lnTo>
                  <a:pt x="0" y="39583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2019501" y="6335410"/>
            <a:ext cx="5239799" cy="1469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65"/>
              </a:lnSpc>
            </a:pPr>
            <a:r>
              <a:rPr lang="en-US" sz="2205">
                <a:solidFill>
                  <a:srgbClr val="737373"/>
                </a:solidFill>
                <a:ea typeface="思源黑体" panose="020B0500000000000000" charset="-122"/>
              </a:rPr>
              <a:t>灵昆岛形状酷似一个巨大的海螺。所以海螺作为灵感元素融入设计</a:t>
            </a:r>
            <a:endParaRPr lang="en-US" sz="2205">
              <a:solidFill>
                <a:srgbClr val="737373"/>
              </a:solidFill>
              <a:ea typeface="思源黑体" panose="020B0500000000000000" charset="-122"/>
            </a:endParaRPr>
          </a:p>
          <a:p>
            <a:pPr>
              <a:lnSpc>
                <a:spcPts val="3965"/>
              </a:lnSpc>
            </a:pPr>
          </a:p>
        </p:txBody>
      </p:sp>
      <p:sp>
        <p:nvSpPr>
          <p:cNvPr id="5" name="Freeform 5"/>
          <p:cNvSpPr/>
          <p:nvPr/>
        </p:nvSpPr>
        <p:spPr>
          <a:xfrm>
            <a:off x="240697" y="322266"/>
            <a:ext cx="1301564" cy="862168"/>
          </a:xfrm>
          <a:custGeom>
            <a:avLst/>
            <a:gdLst/>
            <a:ahLst/>
            <a:cxnLst/>
            <a:rect l="l" t="t" r="r" b="b"/>
            <a:pathLst>
              <a:path w="1301564" h="862168">
                <a:moveTo>
                  <a:pt x="0" y="0"/>
                </a:moveTo>
                <a:lnTo>
                  <a:pt x="1301564" y="0"/>
                </a:lnTo>
                <a:lnTo>
                  <a:pt x="1301564" y="862168"/>
                </a:lnTo>
                <a:lnTo>
                  <a:pt x="0" y="8621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 rot="0">
            <a:off x="15462761" y="518209"/>
            <a:ext cx="2405360" cy="510491"/>
            <a:chOff x="0" y="0"/>
            <a:chExt cx="3207146" cy="680655"/>
          </a:xfrm>
        </p:grpSpPr>
        <p:grpSp>
          <p:nvGrpSpPr>
            <p:cNvPr id="7" name="Group 7"/>
            <p:cNvGrpSpPr/>
            <p:nvPr/>
          </p:nvGrpSpPr>
          <p:grpSpPr>
            <a:xfrm rot="0">
              <a:off x="0" y="0"/>
              <a:ext cx="453770" cy="680655"/>
              <a:chOff x="0" y="0"/>
              <a:chExt cx="406400" cy="6096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0">
              <a:off x="1573215" y="0"/>
              <a:ext cx="453770" cy="680655"/>
              <a:chOff x="0" y="0"/>
              <a:chExt cx="406400" cy="6096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0">
              <a:off x="789245" y="0"/>
              <a:ext cx="453770" cy="680655"/>
              <a:chOff x="0" y="0"/>
              <a:chExt cx="406400" cy="6096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0">
              <a:off x="2362459" y="0"/>
              <a:ext cx="453770" cy="680655"/>
              <a:chOff x="0" y="0"/>
              <a:chExt cx="406400" cy="6096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0">
              <a:off x="390917" y="0"/>
              <a:ext cx="453770" cy="680655"/>
              <a:chOff x="0" y="0"/>
              <a:chExt cx="406400" cy="6096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0">
              <a:off x="1964131" y="0"/>
              <a:ext cx="453770" cy="680655"/>
              <a:chOff x="0" y="0"/>
              <a:chExt cx="406400" cy="6096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 rot="0">
              <a:off x="1180162" y="0"/>
              <a:ext cx="453770" cy="680655"/>
              <a:chOff x="0" y="0"/>
              <a:chExt cx="406400" cy="6096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 rot="0">
              <a:off x="2753376" y="0"/>
              <a:ext cx="453770" cy="680655"/>
              <a:chOff x="0" y="0"/>
              <a:chExt cx="406400" cy="6096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</p:grpSp>
      <p:grpSp>
        <p:nvGrpSpPr>
          <p:cNvPr id="31" name="Group 31"/>
          <p:cNvGrpSpPr/>
          <p:nvPr/>
        </p:nvGrpSpPr>
        <p:grpSpPr>
          <a:xfrm rot="0">
            <a:off x="339581" y="9258300"/>
            <a:ext cx="2405360" cy="510491"/>
            <a:chOff x="0" y="0"/>
            <a:chExt cx="3207146" cy="680655"/>
          </a:xfrm>
        </p:grpSpPr>
        <p:grpSp>
          <p:nvGrpSpPr>
            <p:cNvPr id="32" name="Group 32"/>
            <p:cNvGrpSpPr/>
            <p:nvPr/>
          </p:nvGrpSpPr>
          <p:grpSpPr>
            <a:xfrm rot="0">
              <a:off x="0" y="0"/>
              <a:ext cx="453770" cy="680655"/>
              <a:chOff x="0" y="0"/>
              <a:chExt cx="406400" cy="6096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 rot="0">
              <a:off x="1573215" y="0"/>
              <a:ext cx="453770" cy="680655"/>
              <a:chOff x="0" y="0"/>
              <a:chExt cx="406400" cy="6096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 rot="0">
              <a:off x="789245" y="0"/>
              <a:ext cx="453770" cy="680655"/>
              <a:chOff x="0" y="0"/>
              <a:chExt cx="406400" cy="6096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 rot="0">
              <a:off x="2362459" y="0"/>
              <a:ext cx="453770" cy="680655"/>
              <a:chOff x="0" y="0"/>
              <a:chExt cx="406400" cy="6096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 rot="0">
              <a:off x="390917" y="0"/>
              <a:ext cx="453770" cy="680655"/>
              <a:chOff x="0" y="0"/>
              <a:chExt cx="406400" cy="60960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 rot="0">
              <a:off x="1964131" y="0"/>
              <a:ext cx="453770" cy="680655"/>
              <a:chOff x="0" y="0"/>
              <a:chExt cx="406400" cy="60960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 rot="0">
              <a:off x="1180162" y="0"/>
              <a:ext cx="453770" cy="680655"/>
              <a:chOff x="0" y="0"/>
              <a:chExt cx="406400" cy="60960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 rot="0">
              <a:off x="2753376" y="0"/>
              <a:ext cx="453770" cy="680655"/>
              <a:chOff x="0" y="0"/>
              <a:chExt cx="406400" cy="60960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</p:grpSp>
      <p:sp>
        <p:nvSpPr>
          <p:cNvPr id="56" name="TextBox 56"/>
          <p:cNvSpPr txBox="1"/>
          <p:nvPr/>
        </p:nvSpPr>
        <p:spPr>
          <a:xfrm>
            <a:off x="1542261" y="390874"/>
            <a:ext cx="5276322" cy="793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6335"/>
              </a:lnSpc>
              <a:spcBef>
                <a:spcPct val="0"/>
              </a:spcBef>
            </a:pPr>
            <a:r>
              <a:rPr lang="en-US" sz="4800">
                <a:solidFill>
                  <a:srgbClr val="323232"/>
                </a:solidFill>
                <a:latin typeface="字由点字倔强黑" panose="00020600040101010101" charset="-122"/>
                <a:ea typeface="字由点字倔强黑" panose="00020600040101010101" charset="-122"/>
              </a:rPr>
              <a:t>IP灵感来源</a:t>
            </a:r>
            <a:endParaRPr lang="en-US" sz="4800">
              <a:solidFill>
                <a:srgbClr val="323232"/>
              </a:solidFill>
              <a:latin typeface="字由点字倔强黑" panose="00020600040101010101" charset="-122"/>
              <a:ea typeface="字由点字倔强黑" panose="00020600040101010101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35770" y="3419062"/>
            <a:ext cx="4735264" cy="3245719"/>
          </a:xfrm>
          <a:custGeom>
            <a:avLst/>
            <a:gdLst/>
            <a:ahLst/>
            <a:cxnLst/>
            <a:rect l="l" t="t" r="r" b="b"/>
            <a:pathLst>
              <a:path w="4735264" h="3245719">
                <a:moveTo>
                  <a:pt x="0" y="0"/>
                </a:moveTo>
                <a:lnTo>
                  <a:pt x="4735264" y="0"/>
                </a:lnTo>
                <a:lnTo>
                  <a:pt x="4735264" y="3245719"/>
                </a:lnTo>
                <a:lnTo>
                  <a:pt x="0" y="3245719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4687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485359" y="3419062"/>
            <a:ext cx="4881278" cy="3245719"/>
          </a:xfrm>
          <a:custGeom>
            <a:avLst/>
            <a:gdLst/>
            <a:ahLst/>
            <a:cxnLst/>
            <a:rect l="l" t="t" r="r" b="b"/>
            <a:pathLst>
              <a:path w="4881278" h="3245719">
                <a:moveTo>
                  <a:pt x="0" y="0"/>
                </a:moveTo>
                <a:lnTo>
                  <a:pt x="4881278" y="0"/>
                </a:lnTo>
                <a:lnTo>
                  <a:pt x="4881278" y="3245719"/>
                </a:lnTo>
                <a:lnTo>
                  <a:pt x="0" y="32457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987" r="-37157" b="-12040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678895" y="3419062"/>
            <a:ext cx="5411860" cy="3245719"/>
          </a:xfrm>
          <a:custGeom>
            <a:avLst/>
            <a:gdLst/>
            <a:ahLst/>
            <a:cxnLst/>
            <a:rect l="l" t="t" r="r" b="b"/>
            <a:pathLst>
              <a:path w="5411860" h="3245719">
                <a:moveTo>
                  <a:pt x="0" y="0"/>
                </a:moveTo>
                <a:lnTo>
                  <a:pt x="5411859" y="0"/>
                </a:lnTo>
                <a:lnTo>
                  <a:pt x="5411859" y="3245719"/>
                </a:lnTo>
                <a:lnTo>
                  <a:pt x="0" y="32457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310" r="-3310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479540" y="6692846"/>
            <a:ext cx="3285944" cy="735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370"/>
              </a:lnSpc>
            </a:pPr>
            <a:r>
              <a:rPr lang="en-US" sz="3540">
                <a:solidFill>
                  <a:srgbClr val="737373"/>
                </a:solidFill>
                <a:ea typeface="思源黑体" panose="020B0500000000000000" charset="-122"/>
              </a:rPr>
              <a:t>灵昆九龙湖</a:t>
            </a:r>
            <a:endParaRPr lang="en-US" sz="3540">
              <a:solidFill>
                <a:srgbClr val="737373"/>
              </a:solidFill>
              <a:ea typeface="思源黑体" panose="020B0500000000000000" charset="-122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678895" y="6692846"/>
            <a:ext cx="3285944" cy="735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370"/>
              </a:lnSpc>
            </a:pPr>
            <a:r>
              <a:rPr lang="en-US" sz="3540">
                <a:solidFill>
                  <a:srgbClr val="737373"/>
                </a:solidFill>
                <a:ea typeface="思源黑体" panose="020B0500000000000000" charset="-122"/>
              </a:rPr>
              <a:t>灵昆渔业</a:t>
            </a:r>
            <a:endParaRPr lang="en-US" sz="3540">
              <a:solidFill>
                <a:srgbClr val="737373"/>
              </a:solidFill>
              <a:ea typeface="思源黑体" panose="020B0500000000000000" charset="-122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6485359" y="6692846"/>
            <a:ext cx="3285944" cy="735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370"/>
              </a:lnSpc>
            </a:pPr>
            <a:r>
              <a:rPr lang="en-US" sz="3540">
                <a:solidFill>
                  <a:srgbClr val="737373"/>
                </a:solidFill>
                <a:ea typeface="思源黑体" panose="020B0500000000000000" charset="-122"/>
              </a:rPr>
              <a:t>灵昆滩涂</a:t>
            </a:r>
            <a:endParaRPr lang="en-US" sz="3540">
              <a:solidFill>
                <a:srgbClr val="737373"/>
              </a:solidFill>
              <a:ea typeface="思源黑体" panose="020B0500000000000000" charset="-122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435770" y="1791784"/>
            <a:ext cx="5710671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>
                <a:solidFill>
                  <a:srgbClr val="3B64C9"/>
                </a:solidFill>
                <a:ea typeface="字由点字美玲体" panose="00020600040101000101" charset="-122"/>
              </a:rPr>
              <a:t>配色提取</a:t>
            </a:r>
            <a:endParaRPr lang="en-US" sz="6000">
              <a:solidFill>
                <a:srgbClr val="3B64C9"/>
              </a:solidFill>
              <a:ea typeface="字由点字美玲体" panose="00020600040101000101" charset="-122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240697" y="322266"/>
            <a:ext cx="1301564" cy="862168"/>
          </a:xfrm>
          <a:custGeom>
            <a:avLst/>
            <a:gdLst/>
            <a:ahLst/>
            <a:cxnLst/>
            <a:rect l="l" t="t" r="r" b="b"/>
            <a:pathLst>
              <a:path w="1301564" h="862168">
                <a:moveTo>
                  <a:pt x="0" y="0"/>
                </a:moveTo>
                <a:lnTo>
                  <a:pt x="1301564" y="0"/>
                </a:lnTo>
                <a:lnTo>
                  <a:pt x="1301564" y="862168"/>
                </a:lnTo>
                <a:lnTo>
                  <a:pt x="0" y="8621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 rot="0">
            <a:off x="15462761" y="518209"/>
            <a:ext cx="2405360" cy="510491"/>
            <a:chOff x="0" y="0"/>
            <a:chExt cx="3207146" cy="680655"/>
          </a:xfrm>
        </p:grpSpPr>
        <p:grpSp>
          <p:nvGrpSpPr>
            <p:cNvPr id="11" name="Group 11"/>
            <p:cNvGrpSpPr/>
            <p:nvPr/>
          </p:nvGrpSpPr>
          <p:grpSpPr>
            <a:xfrm rot="0">
              <a:off x="0" y="0"/>
              <a:ext cx="453770" cy="680655"/>
              <a:chOff x="0" y="0"/>
              <a:chExt cx="406400" cy="6096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rot="0">
              <a:off x="1573215" y="0"/>
              <a:ext cx="453770" cy="680655"/>
              <a:chOff x="0" y="0"/>
              <a:chExt cx="406400" cy="6096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 rot="0">
              <a:off x="789245" y="0"/>
              <a:ext cx="453770" cy="680655"/>
              <a:chOff x="0" y="0"/>
              <a:chExt cx="406400" cy="6096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 rot="0">
              <a:off x="2362459" y="0"/>
              <a:ext cx="453770" cy="680655"/>
              <a:chOff x="0" y="0"/>
              <a:chExt cx="406400" cy="6096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 rot="0">
              <a:off x="390917" y="0"/>
              <a:ext cx="453770" cy="680655"/>
              <a:chOff x="0" y="0"/>
              <a:chExt cx="406400" cy="6096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 rot="0">
              <a:off x="1964131" y="0"/>
              <a:ext cx="453770" cy="680655"/>
              <a:chOff x="0" y="0"/>
              <a:chExt cx="406400" cy="6096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 rot="0">
              <a:off x="1180162" y="0"/>
              <a:ext cx="453770" cy="680655"/>
              <a:chOff x="0" y="0"/>
              <a:chExt cx="406400" cy="6096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 rot="0">
              <a:off x="2753376" y="0"/>
              <a:ext cx="453770" cy="680655"/>
              <a:chOff x="0" y="0"/>
              <a:chExt cx="406400" cy="6096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</p:grpSp>
      <p:grpSp>
        <p:nvGrpSpPr>
          <p:cNvPr id="35" name="Group 35"/>
          <p:cNvGrpSpPr/>
          <p:nvPr/>
        </p:nvGrpSpPr>
        <p:grpSpPr>
          <a:xfrm rot="0">
            <a:off x="339581" y="9258300"/>
            <a:ext cx="2405360" cy="510491"/>
            <a:chOff x="0" y="0"/>
            <a:chExt cx="3207146" cy="680655"/>
          </a:xfrm>
        </p:grpSpPr>
        <p:grpSp>
          <p:nvGrpSpPr>
            <p:cNvPr id="36" name="Group 36"/>
            <p:cNvGrpSpPr/>
            <p:nvPr/>
          </p:nvGrpSpPr>
          <p:grpSpPr>
            <a:xfrm rot="0">
              <a:off x="0" y="0"/>
              <a:ext cx="453770" cy="680655"/>
              <a:chOff x="0" y="0"/>
              <a:chExt cx="406400" cy="6096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 rot="0">
              <a:off x="1573215" y="0"/>
              <a:ext cx="453770" cy="680655"/>
              <a:chOff x="0" y="0"/>
              <a:chExt cx="406400" cy="6096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 rot="0">
              <a:off x="789245" y="0"/>
              <a:ext cx="453770" cy="680655"/>
              <a:chOff x="0" y="0"/>
              <a:chExt cx="406400" cy="6096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 rot="0">
              <a:off x="2362459" y="0"/>
              <a:ext cx="453770" cy="680655"/>
              <a:chOff x="0" y="0"/>
              <a:chExt cx="406400" cy="6096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 rot="0">
              <a:off x="390917" y="0"/>
              <a:ext cx="453770" cy="680655"/>
              <a:chOff x="0" y="0"/>
              <a:chExt cx="406400" cy="60960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 rot="0">
              <a:off x="1964131" y="0"/>
              <a:ext cx="453770" cy="680655"/>
              <a:chOff x="0" y="0"/>
              <a:chExt cx="406400" cy="60960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 rot="0">
              <a:off x="1180162" y="0"/>
              <a:ext cx="453770" cy="680655"/>
              <a:chOff x="0" y="0"/>
              <a:chExt cx="406400" cy="609600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 rot="0">
              <a:off x="2753376" y="0"/>
              <a:ext cx="453770" cy="680655"/>
              <a:chOff x="0" y="0"/>
              <a:chExt cx="406400" cy="609600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</p:grpSp>
      <p:sp>
        <p:nvSpPr>
          <p:cNvPr id="60" name="TextBox 60"/>
          <p:cNvSpPr txBox="1"/>
          <p:nvPr/>
        </p:nvSpPr>
        <p:spPr>
          <a:xfrm>
            <a:off x="1542261" y="390874"/>
            <a:ext cx="5276322" cy="793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6335"/>
              </a:lnSpc>
              <a:spcBef>
                <a:spcPct val="0"/>
              </a:spcBef>
            </a:pPr>
            <a:r>
              <a:rPr lang="en-US" sz="4800">
                <a:solidFill>
                  <a:srgbClr val="323232"/>
                </a:solidFill>
                <a:latin typeface="字由点字倔强黑" panose="00020600040101010101" charset="-122"/>
                <a:ea typeface="字由点字倔强黑" panose="00020600040101010101" charset="-122"/>
              </a:rPr>
              <a:t>IP灵感来源</a:t>
            </a:r>
            <a:endParaRPr lang="en-US" sz="4800">
              <a:solidFill>
                <a:srgbClr val="323232"/>
              </a:solidFill>
              <a:latin typeface="字由点字倔强黑" panose="00020600040101010101" charset="-122"/>
              <a:ea typeface="字由点字倔强黑" panose="00020600040101010101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775025" y="2920710"/>
            <a:ext cx="1931816" cy="5597280"/>
          </a:xfrm>
          <a:custGeom>
            <a:avLst/>
            <a:gdLst/>
            <a:ahLst/>
            <a:cxnLst/>
            <a:rect l="l" t="t" r="r" b="b"/>
            <a:pathLst>
              <a:path w="1931816" h="5597280">
                <a:moveTo>
                  <a:pt x="0" y="0"/>
                </a:moveTo>
                <a:lnTo>
                  <a:pt x="1931816" y="0"/>
                </a:lnTo>
                <a:lnTo>
                  <a:pt x="1931816" y="5597280"/>
                </a:lnTo>
                <a:lnTo>
                  <a:pt x="0" y="559728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211213" t="-1993" r="-111213" b="-9239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900605" y="3705542"/>
            <a:ext cx="4221688" cy="4957429"/>
          </a:xfrm>
          <a:custGeom>
            <a:avLst/>
            <a:gdLst/>
            <a:ahLst/>
            <a:cxnLst/>
            <a:rect l="l" t="t" r="r" b="b"/>
            <a:pathLst>
              <a:path w="4221688" h="4957429">
                <a:moveTo>
                  <a:pt x="0" y="0"/>
                </a:moveTo>
                <a:lnTo>
                  <a:pt x="4221687" y="0"/>
                </a:lnTo>
                <a:lnTo>
                  <a:pt x="4221687" y="4957429"/>
                </a:lnTo>
                <a:lnTo>
                  <a:pt x="0" y="49574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94" t="-15590" r="-794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083976" y="5832573"/>
            <a:ext cx="2393686" cy="2830398"/>
          </a:xfrm>
          <a:custGeom>
            <a:avLst/>
            <a:gdLst/>
            <a:ahLst/>
            <a:cxnLst/>
            <a:rect l="l" t="t" r="r" b="b"/>
            <a:pathLst>
              <a:path w="2393686" h="2830398">
                <a:moveTo>
                  <a:pt x="0" y="0"/>
                </a:moveTo>
                <a:lnTo>
                  <a:pt x="2393687" y="0"/>
                </a:lnTo>
                <a:lnTo>
                  <a:pt x="2393687" y="2830398"/>
                </a:lnTo>
                <a:lnTo>
                  <a:pt x="0" y="28303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2995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159091" y="2669916"/>
            <a:ext cx="11001552" cy="83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35"/>
              </a:lnSpc>
              <a:spcBef>
                <a:spcPct val="0"/>
              </a:spcBef>
            </a:pPr>
            <a:r>
              <a:rPr lang="en-US" sz="1490">
                <a:solidFill>
                  <a:srgbClr val="2649C1"/>
                </a:solidFill>
                <a:ea typeface="思源黑体 Bold" panose="020B0800000000000000" charset="-122"/>
              </a:rPr>
              <a:t>绿，是灵昆岛上一大特色，沿途铺青迭翠，入目花园楼房，潇洒的木麻黄，墨绿的朱栾树，一座座古朴的民居，一口口平静的池塘，构成一道道亮丽的风景线</a:t>
            </a:r>
            <a:r>
              <a:rPr lang="en-US" sz="1490">
                <a:solidFill>
                  <a:srgbClr val="737373"/>
                </a:solidFill>
                <a:ea typeface="思源黑体 Bold" panose="020B0800000000000000" charset="-122"/>
              </a:rPr>
              <a:t>。</a:t>
            </a:r>
            <a:r>
              <a:rPr lang="en-US" sz="1490">
                <a:solidFill>
                  <a:srgbClr val="737373"/>
                </a:solidFill>
                <a:latin typeface="思源黑体" panose="020B0500000000000000" charset="-122"/>
                <a:ea typeface="思源黑体" panose="020B0500000000000000" charset="-122"/>
              </a:rPr>
              <a:t>1985年7月29日，中共中央办公厅处长徐承华和于书泉、潘玉奇等3人到灵昆乡考察两个文明建设，徐承华目睹</a:t>
            </a:r>
            <a:r>
              <a:rPr lang="en-US" sz="1490">
                <a:solidFill>
                  <a:srgbClr val="2649C1"/>
                </a:solidFill>
                <a:ea typeface="思源黑体 Bold" panose="020B0800000000000000" charset="-122"/>
              </a:rPr>
              <a:t>岛上沙洲绿树，江海一色</a:t>
            </a:r>
            <a:r>
              <a:rPr lang="en-US" sz="1490">
                <a:solidFill>
                  <a:srgbClr val="737373"/>
                </a:solidFill>
                <a:ea typeface="思源黑体" panose="020B0500000000000000" charset="-122"/>
              </a:rPr>
              <a:t>；沙塘新街一派繁荣，工农业生产兴旺发达，</a:t>
            </a:r>
            <a:endParaRPr lang="en-US" sz="1490">
              <a:solidFill>
                <a:srgbClr val="737373"/>
              </a:solidFill>
              <a:ea typeface="思源黑体" panose="020B0500000000000000" charset="-122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159091" y="4030835"/>
            <a:ext cx="6984909" cy="1112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35"/>
              </a:lnSpc>
              <a:spcBef>
                <a:spcPct val="0"/>
              </a:spcBef>
            </a:pPr>
            <a:r>
              <a:rPr lang="en-US" sz="1490" u="sng">
                <a:solidFill>
                  <a:srgbClr val="737373"/>
                </a:solidFill>
                <a:ea typeface="思源黑体" panose="020B0500000000000000" charset="-122"/>
              </a:rPr>
              <a:t>清朝爱国学者张振夔的一首《双昆》诗：</a:t>
            </a:r>
            <a:r>
              <a:rPr lang="en-US" sz="1490">
                <a:solidFill>
                  <a:srgbClr val="737373"/>
                </a:solidFill>
                <a:latin typeface="思源黑体" panose="020B0500000000000000" charset="-122"/>
              </a:rPr>
              <a:t>“</a:t>
            </a:r>
            <a:r>
              <a:rPr lang="en-US" sz="1490">
                <a:solidFill>
                  <a:srgbClr val="2649C1"/>
                </a:solidFill>
                <a:ea typeface="思源黑体 Bold" panose="020B0800000000000000" charset="-122"/>
              </a:rPr>
              <a:t>群山叠嶂夹江流，潮势东来地欲浮。人拟关梁开外市，天教砥柱奠中州。</a:t>
            </a:r>
            <a:r>
              <a:rPr lang="en-US" sz="1490">
                <a:solidFill>
                  <a:srgbClr val="737373"/>
                </a:solidFill>
                <a:latin typeface="思源黑体" panose="020B0500000000000000" charset="-122"/>
                <a:ea typeface="思源黑体" panose="020B0500000000000000" charset="-122"/>
              </a:rPr>
              <a:t>明知泡影终如电，不信桑田已有畴。此日恬波清似镜，苻何事碍行舟。”使鲜无人知的灵昆岛，走出“深闺人未识”，逐显“庐山真面目”</a:t>
            </a:r>
            <a:endParaRPr lang="en-US" sz="1490">
              <a:solidFill>
                <a:srgbClr val="737373"/>
              </a:solidFill>
              <a:latin typeface="思源黑体" panose="020B0500000000000000" charset="-122"/>
              <a:ea typeface="思源黑体" panose="020B0500000000000000" charset="-122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872331" y="5699223"/>
            <a:ext cx="4946252" cy="1588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450"/>
              </a:lnSpc>
              <a:spcBef>
                <a:spcPct val="0"/>
              </a:spcBef>
            </a:pPr>
            <a:r>
              <a:rPr lang="en-US" sz="4300">
                <a:solidFill>
                  <a:srgbClr val="000000"/>
                </a:solidFill>
                <a:ea typeface="思源黑体" panose="020B0500000000000000" charset="-122"/>
              </a:rPr>
              <a:t>所以选择蓝色和绿色为主配色</a:t>
            </a:r>
            <a:endParaRPr lang="en-US" sz="4300">
              <a:solidFill>
                <a:srgbClr val="000000"/>
              </a:solidFill>
              <a:ea typeface="思源黑体" panose="020B0500000000000000" charset="-122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240697" y="322266"/>
            <a:ext cx="1301564" cy="862168"/>
          </a:xfrm>
          <a:custGeom>
            <a:avLst/>
            <a:gdLst/>
            <a:ahLst/>
            <a:cxnLst/>
            <a:rect l="l" t="t" r="r" b="b"/>
            <a:pathLst>
              <a:path w="1301564" h="862168">
                <a:moveTo>
                  <a:pt x="0" y="0"/>
                </a:moveTo>
                <a:lnTo>
                  <a:pt x="1301564" y="0"/>
                </a:lnTo>
                <a:lnTo>
                  <a:pt x="1301564" y="862168"/>
                </a:lnTo>
                <a:lnTo>
                  <a:pt x="0" y="8621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 rot="0">
            <a:off x="15462761" y="518209"/>
            <a:ext cx="2405360" cy="510491"/>
            <a:chOff x="0" y="0"/>
            <a:chExt cx="3207146" cy="680655"/>
          </a:xfrm>
        </p:grpSpPr>
        <p:grpSp>
          <p:nvGrpSpPr>
            <p:cNvPr id="10" name="Group 10"/>
            <p:cNvGrpSpPr/>
            <p:nvPr/>
          </p:nvGrpSpPr>
          <p:grpSpPr>
            <a:xfrm rot="0">
              <a:off x="0" y="0"/>
              <a:ext cx="453770" cy="680655"/>
              <a:chOff x="0" y="0"/>
              <a:chExt cx="406400" cy="6096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0">
              <a:off x="1573215" y="0"/>
              <a:ext cx="453770" cy="680655"/>
              <a:chOff x="0" y="0"/>
              <a:chExt cx="406400" cy="6096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0">
              <a:off x="789245" y="0"/>
              <a:ext cx="453770" cy="680655"/>
              <a:chOff x="0" y="0"/>
              <a:chExt cx="406400" cy="6096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0">
              <a:off x="2362459" y="0"/>
              <a:ext cx="453770" cy="680655"/>
              <a:chOff x="0" y="0"/>
              <a:chExt cx="406400" cy="6096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0">
              <a:off x="390917" y="0"/>
              <a:ext cx="453770" cy="680655"/>
              <a:chOff x="0" y="0"/>
              <a:chExt cx="406400" cy="6096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 rot="0">
              <a:off x="1964131" y="0"/>
              <a:ext cx="453770" cy="680655"/>
              <a:chOff x="0" y="0"/>
              <a:chExt cx="406400" cy="6096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 rot="0">
              <a:off x="1180162" y="0"/>
              <a:ext cx="453770" cy="680655"/>
              <a:chOff x="0" y="0"/>
              <a:chExt cx="406400" cy="6096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 rot="0">
              <a:off x="2753376" y="0"/>
              <a:ext cx="453770" cy="680655"/>
              <a:chOff x="0" y="0"/>
              <a:chExt cx="406400" cy="6096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</p:grpSp>
      <p:grpSp>
        <p:nvGrpSpPr>
          <p:cNvPr id="34" name="Group 34"/>
          <p:cNvGrpSpPr/>
          <p:nvPr/>
        </p:nvGrpSpPr>
        <p:grpSpPr>
          <a:xfrm rot="0">
            <a:off x="339581" y="9258300"/>
            <a:ext cx="2405360" cy="510491"/>
            <a:chOff x="0" y="0"/>
            <a:chExt cx="3207146" cy="680655"/>
          </a:xfrm>
        </p:grpSpPr>
        <p:grpSp>
          <p:nvGrpSpPr>
            <p:cNvPr id="35" name="Group 35"/>
            <p:cNvGrpSpPr/>
            <p:nvPr/>
          </p:nvGrpSpPr>
          <p:grpSpPr>
            <a:xfrm rot="0">
              <a:off x="0" y="0"/>
              <a:ext cx="453770" cy="680655"/>
              <a:chOff x="0" y="0"/>
              <a:chExt cx="406400" cy="6096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 rot="0">
              <a:off x="1573215" y="0"/>
              <a:ext cx="453770" cy="680655"/>
              <a:chOff x="0" y="0"/>
              <a:chExt cx="406400" cy="6096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 rot="0">
              <a:off x="789245" y="0"/>
              <a:ext cx="453770" cy="680655"/>
              <a:chOff x="0" y="0"/>
              <a:chExt cx="406400" cy="6096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 rot="0">
              <a:off x="2362459" y="0"/>
              <a:ext cx="453770" cy="680655"/>
              <a:chOff x="0" y="0"/>
              <a:chExt cx="406400" cy="60960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 rot="0">
              <a:off x="390917" y="0"/>
              <a:ext cx="453770" cy="680655"/>
              <a:chOff x="0" y="0"/>
              <a:chExt cx="406400" cy="60960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 rot="0">
              <a:off x="1964131" y="0"/>
              <a:ext cx="453770" cy="680655"/>
              <a:chOff x="0" y="0"/>
              <a:chExt cx="406400" cy="60960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 rot="0">
              <a:off x="1180162" y="0"/>
              <a:ext cx="453770" cy="680655"/>
              <a:chOff x="0" y="0"/>
              <a:chExt cx="406400" cy="60960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 rot="0">
              <a:off x="2753376" y="0"/>
              <a:ext cx="453770" cy="680655"/>
              <a:chOff x="0" y="0"/>
              <a:chExt cx="406400" cy="60960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</p:grpSp>
      <p:sp>
        <p:nvSpPr>
          <p:cNvPr id="59" name="TextBox 59"/>
          <p:cNvSpPr txBox="1"/>
          <p:nvPr/>
        </p:nvSpPr>
        <p:spPr>
          <a:xfrm>
            <a:off x="1542261" y="390874"/>
            <a:ext cx="5276322" cy="793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6335"/>
              </a:lnSpc>
              <a:spcBef>
                <a:spcPct val="0"/>
              </a:spcBef>
            </a:pPr>
            <a:r>
              <a:rPr lang="en-US" sz="4800">
                <a:solidFill>
                  <a:srgbClr val="323232"/>
                </a:solidFill>
                <a:latin typeface="字由点字倔强黑" panose="00020600040101010101" charset="-122"/>
                <a:ea typeface="字由点字倔强黑" panose="00020600040101010101" charset="-122"/>
              </a:rPr>
              <a:t>IP灵感来源</a:t>
            </a:r>
            <a:endParaRPr lang="en-US" sz="4800">
              <a:solidFill>
                <a:srgbClr val="323232"/>
              </a:solidFill>
              <a:latin typeface="字由点字倔强黑" panose="00020600040101010101" charset="-122"/>
              <a:ea typeface="字由点字倔强黑" panose="00020600040101010101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216746" y="2573031"/>
            <a:ext cx="9854507" cy="4730164"/>
          </a:xfrm>
          <a:custGeom>
            <a:avLst/>
            <a:gdLst/>
            <a:ahLst/>
            <a:cxnLst/>
            <a:rect l="l" t="t" r="r" b="b"/>
            <a:pathLst>
              <a:path w="9854507" h="4730164">
                <a:moveTo>
                  <a:pt x="0" y="0"/>
                </a:moveTo>
                <a:lnTo>
                  <a:pt x="9854508" y="0"/>
                </a:lnTo>
                <a:lnTo>
                  <a:pt x="9854508" y="4730163"/>
                </a:lnTo>
                <a:lnTo>
                  <a:pt x="0" y="4730163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2677932" y="7314220"/>
            <a:ext cx="3460138" cy="554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80"/>
              </a:lnSpc>
            </a:pPr>
            <a:r>
              <a:rPr lang="en-US" sz="2655">
                <a:solidFill>
                  <a:srgbClr val="737373"/>
                </a:solidFill>
                <a:ea typeface="思源黑体" panose="020B0500000000000000" charset="-122"/>
              </a:rPr>
              <a:t>灵昆大桥</a:t>
            </a:r>
            <a:endParaRPr lang="en-US" sz="2655">
              <a:solidFill>
                <a:srgbClr val="737373"/>
              </a:solidFill>
              <a:ea typeface="思源黑体" panose="020B05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158278" y="2449206"/>
            <a:ext cx="822402" cy="423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737373"/>
                </a:solidFill>
                <a:ea typeface="字由点字美玲体" panose="00020600040101000101" charset="-122"/>
              </a:rPr>
              <a:t>纹样元素</a:t>
            </a:r>
            <a:endParaRPr lang="en-US" sz="6000">
              <a:solidFill>
                <a:srgbClr val="737373"/>
              </a:solidFill>
              <a:ea typeface="字由点字美玲体" panose="00020600040101000101" charset="-122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240697" y="322266"/>
            <a:ext cx="1301564" cy="862168"/>
          </a:xfrm>
          <a:custGeom>
            <a:avLst/>
            <a:gdLst/>
            <a:ahLst/>
            <a:cxnLst/>
            <a:rect l="l" t="t" r="r" b="b"/>
            <a:pathLst>
              <a:path w="1301564" h="862168">
                <a:moveTo>
                  <a:pt x="0" y="0"/>
                </a:moveTo>
                <a:lnTo>
                  <a:pt x="1301564" y="0"/>
                </a:lnTo>
                <a:lnTo>
                  <a:pt x="1301564" y="862168"/>
                </a:lnTo>
                <a:lnTo>
                  <a:pt x="0" y="8621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 rot="0">
            <a:off x="15462761" y="518209"/>
            <a:ext cx="2405360" cy="510491"/>
            <a:chOff x="0" y="0"/>
            <a:chExt cx="3207146" cy="680655"/>
          </a:xfrm>
        </p:grpSpPr>
        <p:grpSp>
          <p:nvGrpSpPr>
            <p:cNvPr id="7" name="Group 7"/>
            <p:cNvGrpSpPr/>
            <p:nvPr/>
          </p:nvGrpSpPr>
          <p:grpSpPr>
            <a:xfrm rot="0">
              <a:off x="0" y="0"/>
              <a:ext cx="453770" cy="680655"/>
              <a:chOff x="0" y="0"/>
              <a:chExt cx="406400" cy="6096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0">
              <a:off x="1573215" y="0"/>
              <a:ext cx="453770" cy="680655"/>
              <a:chOff x="0" y="0"/>
              <a:chExt cx="406400" cy="6096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0">
              <a:off x="789245" y="0"/>
              <a:ext cx="453770" cy="680655"/>
              <a:chOff x="0" y="0"/>
              <a:chExt cx="406400" cy="6096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0">
              <a:off x="2362459" y="0"/>
              <a:ext cx="453770" cy="680655"/>
              <a:chOff x="0" y="0"/>
              <a:chExt cx="406400" cy="6096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0">
              <a:off x="390917" y="0"/>
              <a:ext cx="453770" cy="680655"/>
              <a:chOff x="0" y="0"/>
              <a:chExt cx="406400" cy="6096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0">
              <a:off x="1964131" y="0"/>
              <a:ext cx="453770" cy="680655"/>
              <a:chOff x="0" y="0"/>
              <a:chExt cx="406400" cy="6096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 rot="0">
              <a:off x="1180162" y="0"/>
              <a:ext cx="453770" cy="680655"/>
              <a:chOff x="0" y="0"/>
              <a:chExt cx="406400" cy="6096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 rot="0">
              <a:off x="2753376" y="0"/>
              <a:ext cx="453770" cy="680655"/>
              <a:chOff x="0" y="0"/>
              <a:chExt cx="406400" cy="6096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</p:grpSp>
      <p:grpSp>
        <p:nvGrpSpPr>
          <p:cNvPr id="31" name="Group 31"/>
          <p:cNvGrpSpPr/>
          <p:nvPr/>
        </p:nvGrpSpPr>
        <p:grpSpPr>
          <a:xfrm rot="0">
            <a:off x="339581" y="9258300"/>
            <a:ext cx="2405360" cy="510491"/>
            <a:chOff x="0" y="0"/>
            <a:chExt cx="3207146" cy="680655"/>
          </a:xfrm>
        </p:grpSpPr>
        <p:grpSp>
          <p:nvGrpSpPr>
            <p:cNvPr id="32" name="Group 32"/>
            <p:cNvGrpSpPr/>
            <p:nvPr/>
          </p:nvGrpSpPr>
          <p:grpSpPr>
            <a:xfrm rot="0">
              <a:off x="0" y="0"/>
              <a:ext cx="453770" cy="680655"/>
              <a:chOff x="0" y="0"/>
              <a:chExt cx="406400" cy="6096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 rot="0">
              <a:off x="1573215" y="0"/>
              <a:ext cx="453770" cy="680655"/>
              <a:chOff x="0" y="0"/>
              <a:chExt cx="406400" cy="6096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 rot="0">
              <a:off x="789245" y="0"/>
              <a:ext cx="453770" cy="680655"/>
              <a:chOff x="0" y="0"/>
              <a:chExt cx="406400" cy="6096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 rot="0">
              <a:off x="2362459" y="0"/>
              <a:ext cx="453770" cy="680655"/>
              <a:chOff x="0" y="0"/>
              <a:chExt cx="406400" cy="6096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 rot="0">
              <a:off x="390917" y="0"/>
              <a:ext cx="453770" cy="680655"/>
              <a:chOff x="0" y="0"/>
              <a:chExt cx="406400" cy="60960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 rot="0">
              <a:off x="1964131" y="0"/>
              <a:ext cx="453770" cy="680655"/>
              <a:chOff x="0" y="0"/>
              <a:chExt cx="406400" cy="60960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 rot="0">
              <a:off x="1180162" y="0"/>
              <a:ext cx="453770" cy="680655"/>
              <a:chOff x="0" y="0"/>
              <a:chExt cx="406400" cy="60960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 rot="0">
              <a:off x="2753376" y="0"/>
              <a:ext cx="453770" cy="680655"/>
              <a:chOff x="0" y="0"/>
              <a:chExt cx="406400" cy="60960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</p:grpSp>
      <p:sp>
        <p:nvSpPr>
          <p:cNvPr id="56" name="TextBox 56"/>
          <p:cNvSpPr txBox="1"/>
          <p:nvPr/>
        </p:nvSpPr>
        <p:spPr>
          <a:xfrm>
            <a:off x="1542261" y="390874"/>
            <a:ext cx="5276322" cy="793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6335"/>
              </a:lnSpc>
              <a:spcBef>
                <a:spcPct val="0"/>
              </a:spcBef>
            </a:pPr>
            <a:r>
              <a:rPr lang="en-US" sz="4800">
                <a:solidFill>
                  <a:srgbClr val="323232"/>
                </a:solidFill>
                <a:latin typeface="字由点字倔强黑" panose="00020600040101010101" charset="-122"/>
                <a:ea typeface="字由点字倔强黑" panose="00020600040101010101" charset="-122"/>
              </a:rPr>
              <a:t>IP灵感来源</a:t>
            </a:r>
            <a:endParaRPr lang="en-US" sz="4800">
              <a:solidFill>
                <a:srgbClr val="323232"/>
              </a:solidFill>
              <a:latin typeface="字由点字倔强黑" panose="00020600040101010101" charset="-122"/>
              <a:ea typeface="字由点字倔强黑" panose="00020600040101010101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50715" y="2975231"/>
            <a:ext cx="3780797" cy="2770241"/>
          </a:xfrm>
          <a:custGeom>
            <a:avLst/>
            <a:gdLst/>
            <a:ahLst/>
            <a:cxnLst/>
            <a:rect l="l" t="t" r="r" b="b"/>
            <a:pathLst>
              <a:path w="3780797" h="2770241">
                <a:moveTo>
                  <a:pt x="0" y="0"/>
                </a:moveTo>
                <a:lnTo>
                  <a:pt x="3780797" y="0"/>
                </a:lnTo>
                <a:lnTo>
                  <a:pt x="3780797" y="2770241"/>
                </a:lnTo>
                <a:lnTo>
                  <a:pt x="0" y="2770241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21546" b="-1493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601873" y="2975231"/>
            <a:ext cx="5183734" cy="1487060"/>
          </a:xfrm>
          <a:custGeom>
            <a:avLst/>
            <a:gdLst/>
            <a:ahLst/>
            <a:cxnLst/>
            <a:rect l="l" t="t" r="r" b="b"/>
            <a:pathLst>
              <a:path w="5183734" h="1487060">
                <a:moveTo>
                  <a:pt x="0" y="0"/>
                </a:moveTo>
                <a:lnTo>
                  <a:pt x="5183734" y="0"/>
                </a:lnTo>
                <a:lnTo>
                  <a:pt x="5183734" y="1487060"/>
                </a:lnTo>
                <a:lnTo>
                  <a:pt x="0" y="14870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00388" b="-65519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991212" y="4366588"/>
            <a:ext cx="4405057" cy="1048797"/>
          </a:xfrm>
          <a:custGeom>
            <a:avLst/>
            <a:gdLst/>
            <a:ahLst/>
            <a:cxnLst/>
            <a:rect l="l" t="t" r="r" b="b"/>
            <a:pathLst>
              <a:path w="4405057" h="1048797">
                <a:moveTo>
                  <a:pt x="0" y="0"/>
                </a:moveTo>
                <a:lnTo>
                  <a:pt x="4405057" y="0"/>
                </a:lnTo>
                <a:lnTo>
                  <a:pt x="4405057" y="1048797"/>
                </a:lnTo>
                <a:lnTo>
                  <a:pt x="0" y="10487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463" t="-196294" r="-20094" b="-479648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991212" y="5216628"/>
            <a:ext cx="4405057" cy="1057689"/>
          </a:xfrm>
          <a:custGeom>
            <a:avLst/>
            <a:gdLst/>
            <a:ahLst/>
            <a:cxnLst/>
            <a:rect l="l" t="t" r="r" b="b"/>
            <a:pathLst>
              <a:path w="4405057" h="1057689">
                <a:moveTo>
                  <a:pt x="0" y="0"/>
                </a:moveTo>
                <a:lnTo>
                  <a:pt x="4405057" y="0"/>
                </a:lnTo>
                <a:lnTo>
                  <a:pt x="4405057" y="1057688"/>
                </a:lnTo>
                <a:lnTo>
                  <a:pt x="0" y="10576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112" t="-380321" r="-19865" b="-280321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848515" y="3051505"/>
            <a:ext cx="4271936" cy="3678962"/>
          </a:xfrm>
          <a:custGeom>
            <a:avLst/>
            <a:gdLst/>
            <a:ahLst/>
            <a:cxnLst/>
            <a:rect l="l" t="t" r="r" b="b"/>
            <a:pathLst>
              <a:path w="4271936" h="3678962">
                <a:moveTo>
                  <a:pt x="0" y="0"/>
                </a:moveTo>
                <a:lnTo>
                  <a:pt x="4271936" y="0"/>
                </a:lnTo>
                <a:lnTo>
                  <a:pt x="4271936" y="3678963"/>
                </a:lnTo>
                <a:lnTo>
                  <a:pt x="0" y="36789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54181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919444" y="7207874"/>
            <a:ext cx="4087061" cy="1022046"/>
          </a:xfrm>
          <a:custGeom>
            <a:avLst/>
            <a:gdLst/>
            <a:ahLst/>
            <a:cxnLst/>
            <a:rect l="l" t="t" r="r" b="b"/>
            <a:pathLst>
              <a:path w="4087061" h="1022046">
                <a:moveTo>
                  <a:pt x="0" y="0"/>
                </a:moveTo>
                <a:lnTo>
                  <a:pt x="4087061" y="0"/>
                </a:lnTo>
                <a:lnTo>
                  <a:pt x="4087061" y="1022046"/>
                </a:lnTo>
                <a:lnTo>
                  <a:pt x="0" y="10220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73320" t="-1034935" r="-55650" b="-617876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7614683" y="6114252"/>
            <a:ext cx="2727924" cy="2430893"/>
          </a:xfrm>
          <a:custGeom>
            <a:avLst/>
            <a:gdLst/>
            <a:ahLst/>
            <a:cxnLst/>
            <a:rect l="l" t="t" r="r" b="b"/>
            <a:pathLst>
              <a:path w="2727924" h="2430893">
                <a:moveTo>
                  <a:pt x="0" y="0"/>
                </a:moveTo>
                <a:lnTo>
                  <a:pt x="2727924" y="0"/>
                </a:lnTo>
                <a:lnTo>
                  <a:pt x="2727924" y="2430893"/>
                </a:lnTo>
                <a:lnTo>
                  <a:pt x="0" y="24308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24515" t="-173316" r="-22036" b="-95587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4223245" y="8593025"/>
            <a:ext cx="1794412" cy="406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80"/>
              </a:lnSpc>
            </a:pPr>
            <a:r>
              <a:rPr lang="en-US" sz="1935">
                <a:solidFill>
                  <a:srgbClr val="737373"/>
                </a:solidFill>
                <a:ea typeface="思源黑体" panose="020B0500000000000000" charset="-122"/>
              </a:rPr>
              <a:t>灵昆桥梁</a:t>
            </a:r>
            <a:endParaRPr lang="en-US" sz="1935">
              <a:solidFill>
                <a:srgbClr val="737373"/>
              </a:solidFill>
              <a:ea typeface="思源黑体" panose="020B0500000000000000" charset="-122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52775" y="1230015"/>
            <a:ext cx="5710671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>
                <a:solidFill>
                  <a:srgbClr val="3B64C9"/>
                </a:solidFill>
                <a:ea typeface="字由点字美玲体" panose="00020600040101000101" charset="-122"/>
              </a:rPr>
              <a:t>纹样元素选择</a:t>
            </a:r>
            <a:endParaRPr lang="en-US" sz="6000">
              <a:solidFill>
                <a:srgbClr val="3B64C9"/>
              </a:solidFill>
              <a:ea typeface="字由点字美玲体" panose="00020600040101000101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750715" y="6126472"/>
            <a:ext cx="5957084" cy="2366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05"/>
              </a:lnSpc>
              <a:spcBef>
                <a:spcPct val="0"/>
              </a:spcBef>
            </a:pPr>
            <a:r>
              <a:rPr lang="en-US" sz="2535">
                <a:solidFill>
                  <a:srgbClr val="737373"/>
                </a:solidFill>
                <a:latin typeface="思源黑体" panose="020B0500000000000000" charset="-122"/>
                <a:ea typeface="思源黑体" panose="020B0500000000000000" charset="-122"/>
              </a:rPr>
              <a:t>灵昆之名源于清光绪《永嘉县志·叙水》载：“</a:t>
            </a:r>
            <a:r>
              <a:rPr lang="en-US" sz="2535">
                <a:solidFill>
                  <a:srgbClr val="737373"/>
                </a:solidFill>
                <a:ea typeface="思源黑体 Bold" panose="020B0800000000000000" charset="-122"/>
              </a:rPr>
              <a:t>有双昆山为海门</a:t>
            </a:r>
            <a:r>
              <a:rPr lang="en-US" sz="2535">
                <a:solidFill>
                  <a:srgbClr val="737373"/>
                </a:solidFill>
                <a:latin typeface="思源黑体" panose="020B0500000000000000" charset="-122"/>
                <a:ea typeface="思源黑体" panose="020B0500000000000000" charset="-122"/>
              </a:rPr>
              <a:t>，遂入于海。海山之际常有蜃气凝结，忽为楼台城椽，忽为旗帜甲马锦幔，光彩动人，地人以此景象为灵气所钟，逐以灵昆名岛”。</a:t>
            </a:r>
            <a:endParaRPr lang="en-US" sz="2535">
              <a:solidFill>
                <a:srgbClr val="737373"/>
              </a:solidFill>
              <a:latin typeface="思源黑体" panose="020B0500000000000000" charset="-122"/>
              <a:ea typeface="思源黑体" panose="020B0500000000000000" charset="-122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240697" y="322266"/>
            <a:ext cx="1301564" cy="862168"/>
          </a:xfrm>
          <a:custGeom>
            <a:avLst/>
            <a:gdLst/>
            <a:ahLst/>
            <a:cxnLst/>
            <a:rect l="l" t="t" r="r" b="b"/>
            <a:pathLst>
              <a:path w="1301564" h="862168">
                <a:moveTo>
                  <a:pt x="0" y="0"/>
                </a:moveTo>
                <a:lnTo>
                  <a:pt x="1301564" y="0"/>
                </a:lnTo>
                <a:lnTo>
                  <a:pt x="1301564" y="862168"/>
                </a:lnTo>
                <a:lnTo>
                  <a:pt x="0" y="8621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 rot="0">
            <a:off x="15462761" y="518209"/>
            <a:ext cx="2405360" cy="510491"/>
            <a:chOff x="0" y="0"/>
            <a:chExt cx="3207146" cy="680655"/>
          </a:xfrm>
        </p:grpSpPr>
        <p:grpSp>
          <p:nvGrpSpPr>
            <p:cNvPr id="14" name="Group 14"/>
            <p:cNvGrpSpPr/>
            <p:nvPr/>
          </p:nvGrpSpPr>
          <p:grpSpPr>
            <a:xfrm rot="0">
              <a:off x="0" y="0"/>
              <a:ext cx="453770" cy="680655"/>
              <a:chOff x="0" y="0"/>
              <a:chExt cx="406400" cy="6096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 rot="0">
              <a:off x="1573215" y="0"/>
              <a:ext cx="453770" cy="680655"/>
              <a:chOff x="0" y="0"/>
              <a:chExt cx="406400" cy="6096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 rot="0">
              <a:off x="789245" y="0"/>
              <a:ext cx="453770" cy="680655"/>
              <a:chOff x="0" y="0"/>
              <a:chExt cx="406400" cy="6096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 rot="0">
              <a:off x="2362459" y="0"/>
              <a:ext cx="453770" cy="680655"/>
              <a:chOff x="0" y="0"/>
              <a:chExt cx="406400" cy="6096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 rot="0">
              <a:off x="390917" y="0"/>
              <a:ext cx="453770" cy="680655"/>
              <a:chOff x="0" y="0"/>
              <a:chExt cx="406400" cy="6096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 rot="0">
              <a:off x="1964131" y="0"/>
              <a:ext cx="453770" cy="680655"/>
              <a:chOff x="0" y="0"/>
              <a:chExt cx="406400" cy="6096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 rot="0">
              <a:off x="1180162" y="0"/>
              <a:ext cx="453770" cy="680655"/>
              <a:chOff x="0" y="0"/>
              <a:chExt cx="406400" cy="6096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 rot="0">
              <a:off x="2753376" y="0"/>
              <a:ext cx="453770" cy="680655"/>
              <a:chOff x="0" y="0"/>
              <a:chExt cx="406400" cy="6096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</p:grpSp>
      <p:grpSp>
        <p:nvGrpSpPr>
          <p:cNvPr id="38" name="Group 38"/>
          <p:cNvGrpSpPr/>
          <p:nvPr/>
        </p:nvGrpSpPr>
        <p:grpSpPr>
          <a:xfrm rot="0">
            <a:off x="339581" y="9258300"/>
            <a:ext cx="2405360" cy="510491"/>
            <a:chOff x="0" y="0"/>
            <a:chExt cx="3207146" cy="680655"/>
          </a:xfrm>
        </p:grpSpPr>
        <p:grpSp>
          <p:nvGrpSpPr>
            <p:cNvPr id="39" name="Group 39"/>
            <p:cNvGrpSpPr/>
            <p:nvPr/>
          </p:nvGrpSpPr>
          <p:grpSpPr>
            <a:xfrm rot="0">
              <a:off x="0" y="0"/>
              <a:ext cx="453770" cy="680655"/>
              <a:chOff x="0" y="0"/>
              <a:chExt cx="406400" cy="6096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 rot="0">
              <a:off x="1573215" y="0"/>
              <a:ext cx="453770" cy="680655"/>
              <a:chOff x="0" y="0"/>
              <a:chExt cx="406400" cy="6096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 rot="0">
              <a:off x="789245" y="0"/>
              <a:ext cx="453770" cy="680655"/>
              <a:chOff x="0" y="0"/>
              <a:chExt cx="406400" cy="6096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 rot="0">
              <a:off x="2362459" y="0"/>
              <a:ext cx="453770" cy="680655"/>
              <a:chOff x="0" y="0"/>
              <a:chExt cx="406400" cy="60960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 rot="0">
              <a:off x="390917" y="0"/>
              <a:ext cx="453770" cy="680655"/>
              <a:chOff x="0" y="0"/>
              <a:chExt cx="406400" cy="60960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 rot="0">
              <a:off x="1964131" y="0"/>
              <a:ext cx="453770" cy="680655"/>
              <a:chOff x="0" y="0"/>
              <a:chExt cx="406400" cy="609600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 rot="0">
              <a:off x="1180162" y="0"/>
              <a:ext cx="453770" cy="680655"/>
              <a:chOff x="0" y="0"/>
              <a:chExt cx="406400" cy="609600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 rot="0">
              <a:off x="2753376" y="0"/>
              <a:ext cx="453770" cy="680655"/>
              <a:chOff x="0" y="0"/>
              <a:chExt cx="406400" cy="609600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</p:grpSp>
      <p:sp>
        <p:nvSpPr>
          <p:cNvPr id="63" name="TextBox 63"/>
          <p:cNvSpPr txBox="1"/>
          <p:nvPr/>
        </p:nvSpPr>
        <p:spPr>
          <a:xfrm>
            <a:off x="1542261" y="390874"/>
            <a:ext cx="5276322" cy="793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6335"/>
              </a:lnSpc>
              <a:spcBef>
                <a:spcPct val="0"/>
              </a:spcBef>
            </a:pPr>
            <a:r>
              <a:rPr lang="en-US" sz="4800">
                <a:solidFill>
                  <a:srgbClr val="323232"/>
                </a:solidFill>
                <a:latin typeface="字由点字倔强黑" panose="00020600040101010101" charset="-122"/>
                <a:ea typeface="字由点字倔强黑" panose="00020600040101010101" charset="-122"/>
              </a:rPr>
              <a:t>IP灵感来源</a:t>
            </a:r>
            <a:endParaRPr lang="en-US" sz="4800">
              <a:solidFill>
                <a:srgbClr val="323232"/>
              </a:solidFill>
              <a:latin typeface="字由点字倔强黑" panose="00020600040101010101" charset="-122"/>
              <a:ea typeface="字由点字倔强黑" panose="00020600040101010101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894594" y="9258300"/>
            <a:ext cx="2405360" cy="510491"/>
            <a:chOff x="0" y="0"/>
            <a:chExt cx="3207146" cy="680655"/>
          </a:xfrm>
        </p:grpSpPr>
        <p:grpSp>
          <p:nvGrpSpPr>
            <p:cNvPr id="3" name="Group 3"/>
            <p:cNvGrpSpPr/>
            <p:nvPr/>
          </p:nvGrpSpPr>
          <p:grpSpPr>
            <a:xfrm rot="0">
              <a:off x="0" y="0"/>
              <a:ext cx="453770" cy="680655"/>
              <a:chOff x="0" y="0"/>
              <a:chExt cx="406400" cy="6096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 rot="0">
              <a:off x="1573215" y="0"/>
              <a:ext cx="453770" cy="680655"/>
              <a:chOff x="0" y="0"/>
              <a:chExt cx="406400" cy="6096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0">
              <a:off x="789245" y="0"/>
              <a:ext cx="453770" cy="680655"/>
              <a:chOff x="0" y="0"/>
              <a:chExt cx="406400" cy="6096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0">
              <a:off x="2362459" y="0"/>
              <a:ext cx="453770" cy="680655"/>
              <a:chOff x="0" y="0"/>
              <a:chExt cx="406400" cy="6096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0">
              <a:off x="390917" y="0"/>
              <a:ext cx="453770" cy="680655"/>
              <a:chOff x="0" y="0"/>
              <a:chExt cx="406400" cy="6096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 rot="0">
              <a:off x="1964131" y="0"/>
              <a:ext cx="453770" cy="680655"/>
              <a:chOff x="0" y="0"/>
              <a:chExt cx="406400" cy="6096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 rot="0">
              <a:off x="1180162" y="0"/>
              <a:ext cx="453770" cy="680655"/>
              <a:chOff x="0" y="0"/>
              <a:chExt cx="406400" cy="6096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 rot="0">
              <a:off x="2753376" y="0"/>
              <a:ext cx="453770" cy="680655"/>
              <a:chOff x="0" y="0"/>
              <a:chExt cx="406400" cy="6096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</p:grpSp>
      <p:grpSp>
        <p:nvGrpSpPr>
          <p:cNvPr id="27" name="Group 27"/>
          <p:cNvGrpSpPr/>
          <p:nvPr/>
        </p:nvGrpSpPr>
        <p:grpSpPr>
          <a:xfrm rot="0">
            <a:off x="12482404" y="518209"/>
            <a:ext cx="2405360" cy="510491"/>
            <a:chOff x="0" y="0"/>
            <a:chExt cx="3207146" cy="680655"/>
          </a:xfrm>
        </p:grpSpPr>
        <p:grpSp>
          <p:nvGrpSpPr>
            <p:cNvPr id="28" name="Group 28"/>
            <p:cNvGrpSpPr/>
            <p:nvPr/>
          </p:nvGrpSpPr>
          <p:grpSpPr>
            <a:xfrm rot="0">
              <a:off x="0" y="0"/>
              <a:ext cx="453770" cy="680655"/>
              <a:chOff x="0" y="0"/>
              <a:chExt cx="406400" cy="6096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 rot="0">
              <a:off x="1573215" y="0"/>
              <a:ext cx="453770" cy="680655"/>
              <a:chOff x="0" y="0"/>
              <a:chExt cx="406400" cy="6096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 rot="0">
              <a:off x="789245" y="0"/>
              <a:ext cx="453770" cy="680655"/>
              <a:chOff x="0" y="0"/>
              <a:chExt cx="406400" cy="6096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 rot="0">
              <a:off x="2362459" y="0"/>
              <a:ext cx="453770" cy="680655"/>
              <a:chOff x="0" y="0"/>
              <a:chExt cx="406400" cy="6096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 rot="0">
              <a:off x="390917" y="0"/>
              <a:ext cx="453770" cy="680655"/>
              <a:chOff x="0" y="0"/>
              <a:chExt cx="406400" cy="6096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 rot="0">
              <a:off x="1964131" y="0"/>
              <a:ext cx="453770" cy="680655"/>
              <a:chOff x="0" y="0"/>
              <a:chExt cx="406400" cy="60960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 rot="0">
              <a:off x="1180162" y="0"/>
              <a:ext cx="453770" cy="680655"/>
              <a:chOff x="0" y="0"/>
              <a:chExt cx="406400" cy="60960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 rot="0">
              <a:off x="2753376" y="0"/>
              <a:ext cx="453770" cy="680655"/>
              <a:chOff x="0" y="0"/>
              <a:chExt cx="406400" cy="60960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</p:grpSp>
      <p:grpSp>
        <p:nvGrpSpPr>
          <p:cNvPr id="52" name="Group 52"/>
          <p:cNvGrpSpPr/>
          <p:nvPr/>
        </p:nvGrpSpPr>
        <p:grpSpPr>
          <a:xfrm rot="0">
            <a:off x="3266130" y="9258300"/>
            <a:ext cx="2405360" cy="510491"/>
            <a:chOff x="0" y="0"/>
            <a:chExt cx="3207146" cy="680655"/>
          </a:xfrm>
        </p:grpSpPr>
        <p:grpSp>
          <p:nvGrpSpPr>
            <p:cNvPr id="53" name="Group 53"/>
            <p:cNvGrpSpPr/>
            <p:nvPr/>
          </p:nvGrpSpPr>
          <p:grpSpPr>
            <a:xfrm rot="0">
              <a:off x="0" y="0"/>
              <a:ext cx="453770" cy="680655"/>
              <a:chOff x="0" y="0"/>
              <a:chExt cx="406400" cy="60960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 rot="0">
              <a:off x="1573215" y="0"/>
              <a:ext cx="453770" cy="680655"/>
              <a:chOff x="0" y="0"/>
              <a:chExt cx="406400" cy="60960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 rot="0">
              <a:off x="789245" y="0"/>
              <a:ext cx="453770" cy="680655"/>
              <a:chOff x="0" y="0"/>
              <a:chExt cx="406400" cy="609600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62" name="Group 62"/>
            <p:cNvGrpSpPr/>
            <p:nvPr/>
          </p:nvGrpSpPr>
          <p:grpSpPr>
            <a:xfrm rot="0">
              <a:off x="2362459" y="0"/>
              <a:ext cx="453770" cy="680655"/>
              <a:chOff x="0" y="0"/>
              <a:chExt cx="406400" cy="609600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 rot="0">
              <a:off x="390917" y="0"/>
              <a:ext cx="453770" cy="680655"/>
              <a:chOff x="0" y="0"/>
              <a:chExt cx="406400" cy="609600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68" name="Group 68"/>
            <p:cNvGrpSpPr/>
            <p:nvPr/>
          </p:nvGrpSpPr>
          <p:grpSpPr>
            <a:xfrm rot="0">
              <a:off x="1964131" y="0"/>
              <a:ext cx="453770" cy="680655"/>
              <a:chOff x="0" y="0"/>
              <a:chExt cx="406400" cy="609600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71" name="Group 71"/>
            <p:cNvGrpSpPr/>
            <p:nvPr/>
          </p:nvGrpSpPr>
          <p:grpSpPr>
            <a:xfrm rot="0">
              <a:off x="1180162" y="0"/>
              <a:ext cx="453770" cy="680655"/>
              <a:chOff x="0" y="0"/>
              <a:chExt cx="406400" cy="609600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73" name="TextBox 73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74" name="Group 74"/>
            <p:cNvGrpSpPr/>
            <p:nvPr/>
          </p:nvGrpSpPr>
          <p:grpSpPr>
            <a:xfrm rot="0">
              <a:off x="2753376" y="0"/>
              <a:ext cx="453770" cy="680655"/>
              <a:chOff x="0" y="0"/>
              <a:chExt cx="406400" cy="609600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76" name="TextBox 76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</p:grpSp>
      <p:grpSp>
        <p:nvGrpSpPr>
          <p:cNvPr id="77" name="Group 77"/>
          <p:cNvGrpSpPr/>
          <p:nvPr/>
        </p:nvGrpSpPr>
        <p:grpSpPr>
          <a:xfrm rot="0">
            <a:off x="14853940" y="518209"/>
            <a:ext cx="2405360" cy="510491"/>
            <a:chOff x="0" y="0"/>
            <a:chExt cx="3207146" cy="680655"/>
          </a:xfrm>
        </p:grpSpPr>
        <p:grpSp>
          <p:nvGrpSpPr>
            <p:cNvPr id="78" name="Group 78"/>
            <p:cNvGrpSpPr/>
            <p:nvPr/>
          </p:nvGrpSpPr>
          <p:grpSpPr>
            <a:xfrm rot="0">
              <a:off x="0" y="0"/>
              <a:ext cx="453770" cy="680655"/>
              <a:chOff x="0" y="0"/>
              <a:chExt cx="406400" cy="609600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80" name="TextBox 80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81" name="Group 81"/>
            <p:cNvGrpSpPr/>
            <p:nvPr/>
          </p:nvGrpSpPr>
          <p:grpSpPr>
            <a:xfrm rot="0">
              <a:off x="1573215" y="0"/>
              <a:ext cx="453770" cy="680655"/>
              <a:chOff x="0" y="0"/>
              <a:chExt cx="406400" cy="609600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83" name="TextBox 83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84" name="Group 84"/>
            <p:cNvGrpSpPr/>
            <p:nvPr/>
          </p:nvGrpSpPr>
          <p:grpSpPr>
            <a:xfrm rot="0">
              <a:off x="789245" y="0"/>
              <a:ext cx="453770" cy="680655"/>
              <a:chOff x="0" y="0"/>
              <a:chExt cx="406400" cy="609600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86" name="TextBox 86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87" name="Group 87"/>
            <p:cNvGrpSpPr/>
            <p:nvPr/>
          </p:nvGrpSpPr>
          <p:grpSpPr>
            <a:xfrm rot="0">
              <a:off x="2362459" y="0"/>
              <a:ext cx="453770" cy="680655"/>
              <a:chOff x="0" y="0"/>
              <a:chExt cx="406400" cy="609600"/>
            </a:xfrm>
          </p:grpSpPr>
          <p:sp>
            <p:nvSpPr>
              <p:cNvPr id="88" name="Freeform 88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89" name="TextBox 89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90" name="Group 90"/>
            <p:cNvGrpSpPr/>
            <p:nvPr/>
          </p:nvGrpSpPr>
          <p:grpSpPr>
            <a:xfrm rot="0">
              <a:off x="390917" y="0"/>
              <a:ext cx="453770" cy="680655"/>
              <a:chOff x="0" y="0"/>
              <a:chExt cx="406400" cy="609600"/>
            </a:xfrm>
          </p:grpSpPr>
          <p:sp>
            <p:nvSpPr>
              <p:cNvPr id="91" name="Freeform 91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92" name="TextBox 92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93" name="Group 93"/>
            <p:cNvGrpSpPr/>
            <p:nvPr/>
          </p:nvGrpSpPr>
          <p:grpSpPr>
            <a:xfrm rot="0">
              <a:off x="1964131" y="0"/>
              <a:ext cx="453770" cy="680655"/>
              <a:chOff x="0" y="0"/>
              <a:chExt cx="406400" cy="609600"/>
            </a:xfrm>
          </p:grpSpPr>
          <p:sp>
            <p:nvSpPr>
              <p:cNvPr id="94" name="Freeform 94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95" name="TextBox 95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96" name="Group 96"/>
            <p:cNvGrpSpPr/>
            <p:nvPr/>
          </p:nvGrpSpPr>
          <p:grpSpPr>
            <a:xfrm rot="0">
              <a:off x="1180162" y="0"/>
              <a:ext cx="453770" cy="680655"/>
              <a:chOff x="0" y="0"/>
              <a:chExt cx="406400" cy="609600"/>
            </a:xfrm>
          </p:grpSpPr>
          <p:sp>
            <p:nvSpPr>
              <p:cNvPr id="97" name="Freeform 97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98" name="TextBox 98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99" name="Group 99"/>
            <p:cNvGrpSpPr/>
            <p:nvPr/>
          </p:nvGrpSpPr>
          <p:grpSpPr>
            <a:xfrm rot="0">
              <a:off x="2753376" y="0"/>
              <a:ext cx="453770" cy="680655"/>
              <a:chOff x="0" y="0"/>
              <a:chExt cx="406400" cy="609600"/>
            </a:xfrm>
          </p:grpSpPr>
          <p:sp>
            <p:nvSpPr>
              <p:cNvPr id="100" name="Freeform 100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01" name="TextBox 101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</p:grpSp>
      <p:sp>
        <p:nvSpPr>
          <p:cNvPr id="102" name="TextBox 102"/>
          <p:cNvSpPr txBox="1"/>
          <p:nvPr/>
        </p:nvSpPr>
        <p:spPr>
          <a:xfrm>
            <a:off x="58043" y="1598930"/>
            <a:ext cx="18171914" cy="725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880"/>
              </a:lnSpc>
            </a:pPr>
            <a:r>
              <a:rPr lang="en-US" sz="49000">
                <a:solidFill>
                  <a:srgbClr val="0743E8">
                    <a:alpha val="8627"/>
                  </a:srgbClr>
                </a:solidFill>
                <a:latin typeface="Arimo Bold" panose="020B0704020202020204"/>
              </a:rPr>
              <a:t>02</a:t>
            </a:r>
            <a:endParaRPr lang="en-US" sz="49000">
              <a:solidFill>
                <a:srgbClr val="0743E8">
                  <a:alpha val="8627"/>
                </a:srgbClr>
              </a:solidFill>
              <a:latin typeface="Arimo Bold" panose="020B0704020202020204"/>
            </a:endParaRPr>
          </a:p>
        </p:txBody>
      </p:sp>
      <p:sp>
        <p:nvSpPr>
          <p:cNvPr id="103" name="TextBox 103"/>
          <p:cNvSpPr txBox="1"/>
          <p:nvPr/>
        </p:nvSpPr>
        <p:spPr>
          <a:xfrm>
            <a:off x="3030489" y="3976479"/>
            <a:ext cx="12227023" cy="1227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960"/>
              </a:lnSpc>
              <a:spcBef>
                <a:spcPct val="0"/>
              </a:spcBef>
            </a:pPr>
            <a:r>
              <a:rPr lang="en-US" sz="7545" spc="2172">
                <a:solidFill>
                  <a:srgbClr val="323232"/>
                </a:solidFill>
                <a:latin typeface="字由点字倔强黑" panose="00020600040101010101" charset="-122"/>
                <a:ea typeface="字由点字倔强黑" panose="00020600040101010101" charset="-122"/>
              </a:rPr>
              <a:t>IP展示</a:t>
            </a:r>
            <a:endParaRPr lang="en-US" sz="7545" spc="2172">
              <a:solidFill>
                <a:srgbClr val="323232"/>
              </a:solidFill>
              <a:latin typeface="字由点字倔强黑" panose="00020600040101010101" charset="-122"/>
              <a:ea typeface="字由点字倔强黑" panose="00020600040101010101" charset="-122"/>
            </a:endParaRPr>
          </a:p>
        </p:txBody>
      </p:sp>
      <p:sp>
        <p:nvSpPr>
          <p:cNvPr id="104" name="TextBox 104"/>
          <p:cNvSpPr txBox="1"/>
          <p:nvPr/>
        </p:nvSpPr>
        <p:spPr>
          <a:xfrm>
            <a:off x="3030489" y="5302224"/>
            <a:ext cx="12227023" cy="447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85"/>
              </a:lnSpc>
              <a:spcBef>
                <a:spcPct val="0"/>
              </a:spcBef>
            </a:pPr>
            <a:r>
              <a:rPr lang="en-US" sz="2820" spc="854">
                <a:solidFill>
                  <a:srgbClr val="323232"/>
                </a:solidFill>
                <a:latin typeface="Arimo" panose="020B0604020202020204"/>
              </a:rPr>
              <a:t>IP presentation</a:t>
            </a:r>
            <a:endParaRPr lang="en-US" sz="2820" spc="854">
              <a:solidFill>
                <a:srgbClr val="323232"/>
              </a:solidFill>
              <a:latin typeface="Arimo" panose="020B0604020202020204"/>
            </a:endParaRPr>
          </a:p>
        </p:txBody>
      </p:sp>
      <p:sp>
        <p:nvSpPr>
          <p:cNvPr id="105" name="Freeform 105"/>
          <p:cNvSpPr/>
          <p:nvPr/>
        </p:nvSpPr>
        <p:spPr>
          <a:xfrm>
            <a:off x="686693" y="355326"/>
            <a:ext cx="1679936" cy="673374"/>
          </a:xfrm>
          <a:custGeom>
            <a:avLst/>
            <a:gdLst/>
            <a:ahLst/>
            <a:cxnLst/>
            <a:rect l="l" t="t" r="r" b="b"/>
            <a:pathLst>
              <a:path w="1679936" h="673374">
                <a:moveTo>
                  <a:pt x="0" y="0"/>
                </a:moveTo>
                <a:lnTo>
                  <a:pt x="1679936" y="0"/>
                </a:lnTo>
                <a:lnTo>
                  <a:pt x="1679936" y="673374"/>
                </a:lnTo>
                <a:lnTo>
                  <a:pt x="0" y="67337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0697" y="322266"/>
            <a:ext cx="1301564" cy="862168"/>
          </a:xfrm>
          <a:custGeom>
            <a:avLst/>
            <a:gdLst/>
            <a:ahLst/>
            <a:cxnLst/>
            <a:rect l="l" t="t" r="r" b="b"/>
            <a:pathLst>
              <a:path w="1301564" h="862168">
                <a:moveTo>
                  <a:pt x="0" y="0"/>
                </a:moveTo>
                <a:lnTo>
                  <a:pt x="1301564" y="0"/>
                </a:lnTo>
                <a:lnTo>
                  <a:pt x="1301564" y="862168"/>
                </a:lnTo>
                <a:lnTo>
                  <a:pt x="0" y="862168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15462761" y="518209"/>
            <a:ext cx="2405360" cy="510491"/>
            <a:chOff x="0" y="0"/>
            <a:chExt cx="3207146" cy="680655"/>
          </a:xfrm>
        </p:grpSpPr>
        <p:grpSp>
          <p:nvGrpSpPr>
            <p:cNvPr id="4" name="Group 4"/>
            <p:cNvGrpSpPr/>
            <p:nvPr/>
          </p:nvGrpSpPr>
          <p:grpSpPr>
            <a:xfrm rot="0">
              <a:off x="0" y="0"/>
              <a:ext cx="453770" cy="680655"/>
              <a:chOff x="0" y="0"/>
              <a:chExt cx="406400" cy="6096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 rot="0">
              <a:off x="1573215" y="0"/>
              <a:ext cx="453770" cy="680655"/>
              <a:chOff x="0" y="0"/>
              <a:chExt cx="406400" cy="6096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0">
              <a:off x="789245" y="0"/>
              <a:ext cx="453770" cy="680655"/>
              <a:chOff x="0" y="0"/>
              <a:chExt cx="406400" cy="6096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0">
              <a:off x="2362459" y="0"/>
              <a:ext cx="453770" cy="680655"/>
              <a:chOff x="0" y="0"/>
              <a:chExt cx="406400" cy="6096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0">
              <a:off x="390917" y="0"/>
              <a:ext cx="453770" cy="680655"/>
              <a:chOff x="0" y="0"/>
              <a:chExt cx="406400" cy="6096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0">
              <a:off x="1964131" y="0"/>
              <a:ext cx="453770" cy="680655"/>
              <a:chOff x="0" y="0"/>
              <a:chExt cx="406400" cy="6096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0">
              <a:off x="1180162" y="0"/>
              <a:ext cx="453770" cy="680655"/>
              <a:chOff x="0" y="0"/>
              <a:chExt cx="406400" cy="6096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 rot="0">
              <a:off x="2753376" y="0"/>
              <a:ext cx="453770" cy="680655"/>
              <a:chOff x="0" y="0"/>
              <a:chExt cx="406400" cy="6096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</p:grpSp>
      <p:sp>
        <p:nvSpPr>
          <p:cNvPr id="28" name="Freeform 28"/>
          <p:cNvSpPr/>
          <p:nvPr/>
        </p:nvSpPr>
        <p:spPr>
          <a:xfrm>
            <a:off x="2405782" y="1184434"/>
            <a:ext cx="13534102" cy="8329112"/>
          </a:xfrm>
          <a:custGeom>
            <a:avLst/>
            <a:gdLst/>
            <a:ahLst/>
            <a:cxnLst/>
            <a:rect l="l" t="t" r="r" b="b"/>
            <a:pathLst>
              <a:path w="13534102" h="8329112">
                <a:moveTo>
                  <a:pt x="0" y="0"/>
                </a:moveTo>
                <a:lnTo>
                  <a:pt x="13534101" y="0"/>
                </a:lnTo>
                <a:lnTo>
                  <a:pt x="13534101" y="8329112"/>
                </a:lnTo>
                <a:lnTo>
                  <a:pt x="0" y="83291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29" name="Group 29"/>
          <p:cNvGrpSpPr/>
          <p:nvPr/>
        </p:nvGrpSpPr>
        <p:grpSpPr>
          <a:xfrm rot="0">
            <a:off x="339581" y="9258300"/>
            <a:ext cx="2405360" cy="510491"/>
            <a:chOff x="0" y="0"/>
            <a:chExt cx="3207146" cy="680655"/>
          </a:xfrm>
        </p:grpSpPr>
        <p:grpSp>
          <p:nvGrpSpPr>
            <p:cNvPr id="30" name="Group 30"/>
            <p:cNvGrpSpPr/>
            <p:nvPr/>
          </p:nvGrpSpPr>
          <p:grpSpPr>
            <a:xfrm rot="0">
              <a:off x="0" y="0"/>
              <a:ext cx="453770" cy="680655"/>
              <a:chOff x="0" y="0"/>
              <a:chExt cx="406400" cy="6096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 rot="0">
              <a:off x="1573215" y="0"/>
              <a:ext cx="453770" cy="680655"/>
              <a:chOff x="0" y="0"/>
              <a:chExt cx="406400" cy="6096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 rot="0">
              <a:off x="789245" y="0"/>
              <a:ext cx="453770" cy="680655"/>
              <a:chOff x="0" y="0"/>
              <a:chExt cx="406400" cy="6096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 rot="0">
              <a:off x="2362459" y="0"/>
              <a:ext cx="453770" cy="680655"/>
              <a:chOff x="0" y="0"/>
              <a:chExt cx="406400" cy="6096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 rot="0">
              <a:off x="390917" y="0"/>
              <a:ext cx="453770" cy="680655"/>
              <a:chOff x="0" y="0"/>
              <a:chExt cx="406400" cy="6096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 rot="0">
              <a:off x="1964131" y="0"/>
              <a:ext cx="453770" cy="680655"/>
              <a:chOff x="0" y="0"/>
              <a:chExt cx="406400" cy="6096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 rot="0">
              <a:off x="1180162" y="0"/>
              <a:ext cx="453770" cy="680655"/>
              <a:chOff x="0" y="0"/>
              <a:chExt cx="406400" cy="60960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 rot="0">
              <a:off x="2753376" y="0"/>
              <a:ext cx="453770" cy="680655"/>
              <a:chOff x="0" y="0"/>
              <a:chExt cx="406400" cy="60960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</p:grpSp>
      <p:sp>
        <p:nvSpPr>
          <p:cNvPr id="54" name="Freeform 54"/>
          <p:cNvSpPr/>
          <p:nvPr/>
        </p:nvSpPr>
        <p:spPr>
          <a:xfrm>
            <a:off x="2538484" y="1751422"/>
            <a:ext cx="5283852" cy="4114800"/>
          </a:xfrm>
          <a:custGeom>
            <a:avLst/>
            <a:gdLst/>
            <a:ahLst/>
            <a:cxnLst/>
            <a:rect l="l" t="t" r="r" b="b"/>
            <a:pathLst>
              <a:path w="5283852" h="4114800">
                <a:moveTo>
                  <a:pt x="0" y="0"/>
                </a:moveTo>
                <a:lnTo>
                  <a:pt x="5283852" y="0"/>
                </a:lnTo>
                <a:lnTo>
                  <a:pt x="52838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5" name="TextBox 55"/>
          <p:cNvSpPr txBox="1"/>
          <p:nvPr/>
        </p:nvSpPr>
        <p:spPr>
          <a:xfrm>
            <a:off x="1542261" y="323201"/>
            <a:ext cx="5276322" cy="793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6335"/>
              </a:lnSpc>
              <a:spcBef>
                <a:spcPct val="0"/>
              </a:spcBef>
            </a:pPr>
            <a:r>
              <a:rPr lang="en-US" sz="4800">
                <a:solidFill>
                  <a:srgbClr val="323232"/>
                </a:solidFill>
                <a:ea typeface="字由点字倔强黑" panose="00020600040101010101" charset="-122"/>
              </a:rPr>
              <a:t>线稿</a:t>
            </a:r>
            <a:endParaRPr lang="en-US" sz="4800">
              <a:solidFill>
                <a:srgbClr val="323232"/>
              </a:solidFill>
              <a:ea typeface="字由点字倔强黑" panose="00020600040101010101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0697" y="322266"/>
            <a:ext cx="1301564" cy="862168"/>
          </a:xfrm>
          <a:custGeom>
            <a:avLst/>
            <a:gdLst/>
            <a:ahLst/>
            <a:cxnLst/>
            <a:rect l="l" t="t" r="r" b="b"/>
            <a:pathLst>
              <a:path w="1301564" h="862168">
                <a:moveTo>
                  <a:pt x="0" y="0"/>
                </a:moveTo>
                <a:lnTo>
                  <a:pt x="1301564" y="0"/>
                </a:lnTo>
                <a:lnTo>
                  <a:pt x="1301564" y="862168"/>
                </a:lnTo>
                <a:lnTo>
                  <a:pt x="0" y="862168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-2292947"/>
            <a:ext cx="18693599" cy="14872894"/>
          </a:xfrm>
          <a:custGeom>
            <a:avLst/>
            <a:gdLst/>
            <a:ahLst/>
            <a:cxnLst/>
            <a:rect l="l" t="t" r="r" b="b"/>
            <a:pathLst>
              <a:path w="18693599" h="14872894">
                <a:moveTo>
                  <a:pt x="0" y="0"/>
                </a:moveTo>
                <a:lnTo>
                  <a:pt x="18693599" y="0"/>
                </a:lnTo>
                <a:lnTo>
                  <a:pt x="18693599" y="14872894"/>
                </a:lnTo>
                <a:lnTo>
                  <a:pt x="0" y="148728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952" r="-6952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471339" y="417668"/>
            <a:ext cx="8951547" cy="10383621"/>
          </a:xfrm>
          <a:custGeom>
            <a:avLst/>
            <a:gdLst/>
            <a:ahLst/>
            <a:cxnLst/>
            <a:rect l="l" t="t" r="r" b="b"/>
            <a:pathLst>
              <a:path w="8951547" h="10383621">
                <a:moveTo>
                  <a:pt x="0" y="0"/>
                </a:moveTo>
                <a:lnTo>
                  <a:pt x="8951547" y="0"/>
                </a:lnTo>
                <a:lnTo>
                  <a:pt x="8951547" y="10383622"/>
                </a:lnTo>
                <a:lnTo>
                  <a:pt x="0" y="103836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7882224" y="1125442"/>
            <a:ext cx="7695709" cy="9161558"/>
          </a:xfrm>
          <a:custGeom>
            <a:avLst/>
            <a:gdLst/>
            <a:ahLst/>
            <a:cxnLst/>
            <a:rect l="l" t="t" r="r" b="b"/>
            <a:pathLst>
              <a:path w="7695709" h="9161558">
                <a:moveTo>
                  <a:pt x="0" y="0"/>
                </a:moveTo>
                <a:lnTo>
                  <a:pt x="7695708" y="0"/>
                </a:lnTo>
                <a:lnTo>
                  <a:pt x="7695708" y="9161558"/>
                </a:lnTo>
                <a:lnTo>
                  <a:pt x="0" y="91615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86693" y="355326"/>
            <a:ext cx="1679936" cy="673374"/>
          </a:xfrm>
          <a:custGeom>
            <a:avLst/>
            <a:gdLst/>
            <a:ahLst/>
            <a:cxnLst/>
            <a:rect l="l" t="t" r="r" b="b"/>
            <a:pathLst>
              <a:path w="1679936" h="673374">
                <a:moveTo>
                  <a:pt x="0" y="0"/>
                </a:moveTo>
                <a:lnTo>
                  <a:pt x="1679936" y="0"/>
                </a:lnTo>
                <a:lnTo>
                  <a:pt x="1679936" y="673374"/>
                </a:lnTo>
                <a:lnTo>
                  <a:pt x="0" y="6733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0697" y="322266"/>
            <a:ext cx="1301564" cy="862168"/>
          </a:xfrm>
          <a:custGeom>
            <a:avLst/>
            <a:gdLst/>
            <a:ahLst/>
            <a:cxnLst/>
            <a:rect l="l" t="t" r="r" b="b"/>
            <a:pathLst>
              <a:path w="1301564" h="862168">
                <a:moveTo>
                  <a:pt x="0" y="0"/>
                </a:moveTo>
                <a:lnTo>
                  <a:pt x="1301564" y="0"/>
                </a:lnTo>
                <a:lnTo>
                  <a:pt x="1301564" y="862168"/>
                </a:lnTo>
                <a:lnTo>
                  <a:pt x="0" y="862168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15462761" y="518209"/>
            <a:ext cx="2405360" cy="510491"/>
            <a:chOff x="0" y="0"/>
            <a:chExt cx="3207146" cy="680655"/>
          </a:xfrm>
        </p:grpSpPr>
        <p:grpSp>
          <p:nvGrpSpPr>
            <p:cNvPr id="4" name="Group 4"/>
            <p:cNvGrpSpPr/>
            <p:nvPr/>
          </p:nvGrpSpPr>
          <p:grpSpPr>
            <a:xfrm rot="0">
              <a:off x="0" y="0"/>
              <a:ext cx="453770" cy="680655"/>
              <a:chOff x="0" y="0"/>
              <a:chExt cx="406400" cy="6096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 rot="0">
              <a:off x="1573215" y="0"/>
              <a:ext cx="453770" cy="680655"/>
              <a:chOff x="0" y="0"/>
              <a:chExt cx="406400" cy="6096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0">
              <a:off x="789245" y="0"/>
              <a:ext cx="453770" cy="680655"/>
              <a:chOff x="0" y="0"/>
              <a:chExt cx="406400" cy="6096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0">
              <a:off x="2362459" y="0"/>
              <a:ext cx="453770" cy="680655"/>
              <a:chOff x="0" y="0"/>
              <a:chExt cx="406400" cy="6096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0">
              <a:off x="390917" y="0"/>
              <a:ext cx="453770" cy="680655"/>
              <a:chOff x="0" y="0"/>
              <a:chExt cx="406400" cy="6096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0">
              <a:off x="1964131" y="0"/>
              <a:ext cx="453770" cy="680655"/>
              <a:chOff x="0" y="0"/>
              <a:chExt cx="406400" cy="6096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0">
              <a:off x="1180162" y="0"/>
              <a:ext cx="453770" cy="680655"/>
              <a:chOff x="0" y="0"/>
              <a:chExt cx="406400" cy="6096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 rot="0">
              <a:off x="2753376" y="0"/>
              <a:ext cx="453770" cy="680655"/>
              <a:chOff x="0" y="0"/>
              <a:chExt cx="406400" cy="6096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</p:grpSp>
      <p:grpSp>
        <p:nvGrpSpPr>
          <p:cNvPr id="28" name="Group 28"/>
          <p:cNvGrpSpPr/>
          <p:nvPr/>
        </p:nvGrpSpPr>
        <p:grpSpPr>
          <a:xfrm rot="0">
            <a:off x="339581" y="9258300"/>
            <a:ext cx="2405360" cy="510491"/>
            <a:chOff x="0" y="0"/>
            <a:chExt cx="3207146" cy="680655"/>
          </a:xfrm>
        </p:grpSpPr>
        <p:grpSp>
          <p:nvGrpSpPr>
            <p:cNvPr id="29" name="Group 29"/>
            <p:cNvGrpSpPr/>
            <p:nvPr/>
          </p:nvGrpSpPr>
          <p:grpSpPr>
            <a:xfrm rot="0">
              <a:off x="0" y="0"/>
              <a:ext cx="453770" cy="680655"/>
              <a:chOff x="0" y="0"/>
              <a:chExt cx="406400" cy="6096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 rot="0">
              <a:off x="1573215" y="0"/>
              <a:ext cx="453770" cy="680655"/>
              <a:chOff x="0" y="0"/>
              <a:chExt cx="406400" cy="6096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 rot="0">
              <a:off x="789245" y="0"/>
              <a:ext cx="453770" cy="680655"/>
              <a:chOff x="0" y="0"/>
              <a:chExt cx="406400" cy="6096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 rot="0">
              <a:off x="2362459" y="0"/>
              <a:ext cx="453770" cy="680655"/>
              <a:chOff x="0" y="0"/>
              <a:chExt cx="406400" cy="6096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 rot="0">
              <a:off x="390917" y="0"/>
              <a:ext cx="453770" cy="680655"/>
              <a:chOff x="0" y="0"/>
              <a:chExt cx="406400" cy="6096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 rot="0">
              <a:off x="1964131" y="0"/>
              <a:ext cx="453770" cy="680655"/>
              <a:chOff x="0" y="0"/>
              <a:chExt cx="406400" cy="60960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 rot="0">
              <a:off x="1180162" y="0"/>
              <a:ext cx="453770" cy="680655"/>
              <a:chOff x="0" y="0"/>
              <a:chExt cx="406400" cy="60960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 rot="0">
              <a:off x="2753376" y="0"/>
              <a:ext cx="453770" cy="680655"/>
              <a:chOff x="0" y="0"/>
              <a:chExt cx="406400" cy="60960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</p:grpSp>
      <p:grpSp>
        <p:nvGrpSpPr>
          <p:cNvPr id="53" name="Group 53"/>
          <p:cNvGrpSpPr/>
          <p:nvPr/>
        </p:nvGrpSpPr>
        <p:grpSpPr>
          <a:xfrm rot="0">
            <a:off x="7528648" y="4597056"/>
            <a:ext cx="8841894" cy="2738698"/>
            <a:chOff x="0" y="0"/>
            <a:chExt cx="2328729" cy="721303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2328729" cy="721303"/>
            </a:xfrm>
            <a:custGeom>
              <a:avLst/>
              <a:gdLst/>
              <a:ahLst/>
              <a:cxnLst/>
              <a:rect l="l" t="t" r="r" b="b"/>
              <a:pathLst>
                <a:path w="2328729" h="721303">
                  <a:moveTo>
                    <a:pt x="44655" y="0"/>
                  </a:moveTo>
                  <a:lnTo>
                    <a:pt x="2284074" y="0"/>
                  </a:lnTo>
                  <a:cubicBezTo>
                    <a:pt x="2295917" y="0"/>
                    <a:pt x="2307276" y="4705"/>
                    <a:pt x="2315650" y="13079"/>
                  </a:cubicBezTo>
                  <a:cubicBezTo>
                    <a:pt x="2324025" y="21454"/>
                    <a:pt x="2328729" y="32812"/>
                    <a:pt x="2328729" y="44655"/>
                  </a:cubicBezTo>
                  <a:lnTo>
                    <a:pt x="2328729" y="676648"/>
                  </a:lnTo>
                  <a:cubicBezTo>
                    <a:pt x="2328729" y="688491"/>
                    <a:pt x="2324025" y="699849"/>
                    <a:pt x="2315650" y="708224"/>
                  </a:cubicBezTo>
                  <a:cubicBezTo>
                    <a:pt x="2307276" y="716598"/>
                    <a:pt x="2295917" y="721303"/>
                    <a:pt x="2284074" y="721303"/>
                  </a:cubicBezTo>
                  <a:lnTo>
                    <a:pt x="44655" y="721303"/>
                  </a:lnTo>
                  <a:cubicBezTo>
                    <a:pt x="32812" y="721303"/>
                    <a:pt x="21454" y="716598"/>
                    <a:pt x="13079" y="708224"/>
                  </a:cubicBezTo>
                  <a:cubicBezTo>
                    <a:pt x="4705" y="699849"/>
                    <a:pt x="0" y="688491"/>
                    <a:pt x="0" y="676648"/>
                  </a:cubicBezTo>
                  <a:lnTo>
                    <a:pt x="0" y="44655"/>
                  </a:lnTo>
                  <a:cubicBezTo>
                    <a:pt x="0" y="32812"/>
                    <a:pt x="4705" y="21454"/>
                    <a:pt x="13079" y="13079"/>
                  </a:cubicBezTo>
                  <a:cubicBezTo>
                    <a:pt x="21454" y="4705"/>
                    <a:pt x="32812" y="0"/>
                    <a:pt x="44655" y="0"/>
                  </a:cubicBezTo>
                  <a:close/>
                </a:path>
              </a:pathLst>
            </a:custGeom>
            <a:solidFill>
              <a:srgbClr val="F3F7FF">
                <a:alpha val="45882"/>
              </a:srgbClr>
            </a:solidFill>
          </p:spPr>
        </p:sp>
        <p:sp>
          <p:nvSpPr>
            <p:cNvPr id="55" name="TextBox 55"/>
            <p:cNvSpPr txBox="1"/>
            <p:nvPr/>
          </p:nvSpPr>
          <p:spPr>
            <a:xfrm>
              <a:off x="0" y="-66675"/>
              <a:ext cx="2328729" cy="7879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2700"/>
                </a:lnSpc>
              </a:pPr>
            </a:p>
          </p:txBody>
        </p:sp>
      </p:grpSp>
      <p:sp>
        <p:nvSpPr>
          <p:cNvPr id="56" name="Freeform 56"/>
          <p:cNvSpPr/>
          <p:nvPr/>
        </p:nvSpPr>
        <p:spPr>
          <a:xfrm>
            <a:off x="1028700" y="1502889"/>
            <a:ext cx="5789883" cy="7331147"/>
          </a:xfrm>
          <a:custGeom>
            <a:avLst/>
            <a:gdLst/>
            <a:ahLst/>
            <a:cxnLst/>
            <a:rect l="l" t="t" r="r" b="b"/>
            <a:pathLst>
              <a:path w="5789883" h="7331147">
                <a:moveTo>
                  <a:pt x="0" y="0"/>
                </a:moveTo>
                <a:lnTo>
                  <a:pt x="5789883" y="0"/>
                </a:lnTo>
                <a:lnTo>
                  <a:pt x="5789883" y="7331147"/>
                </a:lnTo>
                <a:lnTo>
                  <a:pt x="0" y="73311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991" t="-16515" r="-27827" b="-19819"/>
            </a:stretch>
          </a:blipFill>
        </p:spPr>
      </p:sp>
      <p:sp>
        <p:nvSpPr>
          <p:cNvPr id="57" name="TextBox 57"/>
          <p:cNvSpPr txBox="1"/>
          <p:nvPr/>
        </p:nvSpPr>
        <p:spPr>
          <a:xfrm>
            <a:off x="7759963" y="4006903"/>
            <a:ext cx="8379263" cy="2265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20"/>
              </a:lnSpc>
            </a:pPr>
            <a:r>
              <a:rPr lang="en-US" sz="2015">
                <a:solidFill>
                  <a:srgbClr val="7593DD"/>
                </a:solidFill>
                <a:ea typeface="阿里巴巴普惠体 Bold" panose="00020600040101010101" charset="-122"/>
              </a:rPr>
              <a:t>简介</a:t>
            </a:r>
            <a:r>
              <a:rPr lang="en-US" sz="2015">
                <a:solidFill>
                  <a:srgbClr val="7593DD"/>
                </a:solidFill>
                <a:ea typeface="阿里巴巴普惠体" panose="00020600040101010101" charset="-122"/>
              </a:rPr>
              <a:t>：由东海与灵昆之精华，凝气聚灵形成，带着灵昆人民的祝福与期盼而来，用自己的能力保护一方水土的繁华和平安。</a:t>
            </a:r>
            <a:endParaRPr lang="en-US" sz="2015">
              <a:solidFill>
                <a:srgbClr val="7593DD"/>
              </a:solidFill>
              <a:ea typeface="阿里巴巴普惠体" panose="00020600040101010101" charset="-122"/>
            </a:endParaRPr>
          </a:p>
          <a:p>
            <a:pPr>
              <a:lnSpc>
                <a:spcPts val="3020"/>
              </a:lnSpc>
            </a:pPr>
          </a:p>
          <a:p>
            <a:pPr>
              <a:lnSpc>
                <a:spcPts val="3020"/>
              </a:lnSpc>
              <a:spcBef>
                <a:spcPct val="0"/>
              </a:spcBef>
            </a:pPr>
            <a:r>
              <a:rPr lang="en-US" sz="2015">
                <a:solidFill>
                  <a:srgbClr val="7593DD"/>
                </a:solidFill>
                <a:ea typeface="阿里巴巴普惠体 Bold" panose="00020600040101010101" charset="-122"/>
              </a:rPr>
              <a:t>设计理念简述</a:t>
            </a:r>
            <a:r>
              <a:rPr lang="en-US" sz="2015">
                <a:solidFill>
                  <a:srgbClr val="7593DD"/>
                </a:solidFill>
                <a:ea typeface="阿里巴巴普惠体" panose="00020600040101010101" charset="-122"/>
              </a:rPr>
              <a:t>：以结合了生态和智慧的娃娃形象来阐述灵昆岛的人文和自然特征，</a:t>
            </a:r>
            <a:r>
              <a:rPr lang="en-US" sz="2015">
                <a:solidFill>
                  <a:srgbClr val="7593DD"/>
                </a:solidFill>
                <a:ea typeface="阿里巴巴普惠体 Bold" panose="00020600040101010101" charset="-122"/>
              </a:rPr>
              <a:t>偏向生态和灵动</a:t>
            </a:r>
            <a:r>
              <a:rPr lang="en-US" sz="2015">
                <a:solidFill>
                  <a:srgbClr val="7593DD"/>
                </a:solidFill>
                <a:latin typeface="阿里巴巴普惠体" panose="00020600040101010101" charset="-122"/>
                <a:ea typeface="阿里巴巴普惠体" panose="00020600040101010101" charset="-122"/>
              </a:rPr>
              <a:t>，引用灵昆本土特色作为形象特点，承载了“海上新城，生态智岛”的理念。</a:t>
            </a:r>
            <a:endParaRPr lang="en-US" sz="2015">
              <a:solidFill>
                <a:srgbClr val="7593DD"/>
              </a:solidFill>
              <a:latin typeface="阿里巴巴普惠体" panose="00020600040101010101" charset="-122"/>
              <a:ea typeface="阿里巴巴普惠体" panose="00020600040101010101" charset="-122"/>
            </a:endParaRPr>
          </a:p>
        </p:txBody>
      </p:sp>
      <p:sp>
        <p:nvSpPr>
          <p:cNvPr id="58" name="TextBox 58"/>
          <p:cNvSpPr txBox="1"/>
          <p:nvPr/>
        </p:nvSpPr>
        <p:spPr>
          <a:xfrm>
            <a:off x="1542261" y="323201"/>
            <a:ext cx="5276322" cy="793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6335"/>
              </a:lnSpc>
              <a:spcBef>
                <a:spcPct val="0"/>
              </a:spcBef>
            </a:pPr>
            <a:r>
              <a:rPr lang="en-US" sz="4800">
                <a:solidFill>
                  <a:srgbClr val="323232"/>
                </a:solidFill>
                <a:latin typeface="字由点字倔强黑" panose="00020600040101010101" charset="-122"/>
              </a:rPr>
              <a:t>IP1</a:t>
            </a:r>
            <a:endParaRPr lang="en-US" sz="4800">
              <a:solidFill>
                <a:srgbClr val="323232"/>
              </a:solidFill>
              <a:latin typeface="字由点字倔强黑" panose="00020600040101010101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72935" y="-89168"/>
            <a:ext cx="19060935" cy="10465336"/>
          </a:xfrm>
          <a:custGeom>
            <a:avLst/>
            <a:gdLst/>
            <a:ahLst/>
            <a:cxnLst/>
            <a:rect l="l" t="t" r="r" b="b"/>
            <a:pathLst>
              <a:path w="19060935" h="10465336">
                <a:moveTo>
                  <a:pt x="0" y="0"/>
                </a:moveTo>
                <a:lnTo>
                  <a:pt x="19060935" y="0"/>
                </a:lnTo>
                <a:lnTo>
                  <a:pt x="19060935" y="10465336"/>
                </a:lnTo>
                <a:lnTo>
                  <a:pt x="0" y="10465336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1566" b="-1566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240697" y="322266"/>
            <a:ext cx="8903303" cy="1226286"/>
            <a:chOff x="0" y="0"/>
            <a:chExt cx="11871071" cy="163504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35419" cy="1149557"/>
            </a:xfrm>
            <a:custGeom>
              <a:avLst/>
              <a:gdLst/>
              <a:ahLst/>
              <a:cxnLst/>
              <a:rect l="l" t="t" r="r" b="b"/>
              <a:pathLst>
                <a:path w="1735419" h="1149557">
                  <a:moveTo>
                    <a:pt x="0" y="0"/>
                  </a:moveTo>
                  <a:lnTo>
                    <a:pt x="1735419" y="0"/>
                  </a:lnTo>
                  <a:lnTo>
                    <a:pt x="1735419" y="1149557"/>
                  </a:lnTo>
                  <a:lnTo>
                    <a:pt x="0" y="11495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1735419" y="-123825"/>
              <a:ext cx="10135652" cy="10255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6750"/>
                </a:lnSpc>
                <a:spcBef>
                  <a:spcPct val="0"/>
                </a:spcBef>
              </a:pPr>
              <a:r>
                <a:rPr lang="en-US" sz="4500">
                  <a:solidFill>
                    <a:srgbClr val="9EADC0"/>
                  </a:solidFill>
                  <a:latin typeface="阿里巴巴普惠体" panose="00020600040101010101" charset="-122"/>
                </a:rPr>
                <a:t>DESIGN CONCEPT</a:t>
              </a:r>
              <a:endParaRPr lang="en-US" sz="4500">
                <a:solidFill>
                  <a:srgbClr val="9EADC0"/>
                </a:solidFill>
                <a:latin typeface="阿里巴巴普惠体" panose="00020600040101010101" charset="-122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735419" y="599194"/>
              <a:ext cx="10135652" cy="10358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>
                <a:lnSpc>
                  <a:spcPts val="6335"/>
                </a:lnSpc>
                <a:spcBef>
                  <a:spcPct val="0"/>
                </a:spcBef>
              </a:pPr>
              <a:r>
                <a:rPr lang="en-US" sz="4800">
                  <a:solidFill>
                    <a:srgbClr val="323232"/>
                  </a:solidFill>
                  <a:ea typeface="字由点字倔强黑" panose="00020600040101010101" charset="-122"/>
                </a:rPr>
                <a:t>设计理念</a:t>
              </a:r>
              <a:endParaRPr lang="en-US" sz="4800">
                <a:solidFill>
                  <a:srgbClr val="323232"/>
                </a:solidFill>
                <a:ea typeface="字由点字倔强黑" panose="00020600040101010101" charset="-122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 rot="0">
            <a:off x="12776001" y="3014906"/>
            <a:ext cx="2802139" cy="795719"/>
            <a:chOff x="0" y="0"/>
            <a:chExt cx="3736185" cy="1060959"/>
          </a:xfrm>
        </p:grpSpPr>
        <p:sp>
          <p:nvSpPr>
            <p:cNvPr id="8" name="TextBox 8"/>
            <p:cNvSpPr txBox="1"/>
            <p:nvPr/>
          </p:nvSpPr>
          <p:spPr>
            <a:xfrm>
              <a:off x="0" y="498037"/>
              <a:ext cx="3736185" cy="5629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755"/>
                </a:lnSpc>
                <a:spcBef>
                  <a:spcPct val="0"/>
                </a:spcBef>
              </a:pPr>
              <a:r>
                <a:rPr lang="en-US" sz="1170">
                  <a:solidFill>
                    <a:srgbClr val="737373"/>
                  </a:solidFill>
                  <a:ea typeface="阿里巴巴普惠体" panose="00020600040101010101" charset="-122"/>
                </a:rPr>
                <a:t>结合海洋元素，象征浙江人、温州灵昆人勇立潮头的精神品质</a:t>
              </a:r>
              <a:endParaRPr lang="en-US" sz="1170">
                <a:solidFill>
                  <a:srgbClr val="737373"/>
                </a:solidFill>
                <a:ea typeface="阿里巴巴普惠体" panose="00020600040101010101" charset="-122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1349772" cy="4507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323232"/>
                  </a:solidFill>
                  <a:ea typeface="阿里巴巴普惠体 Bold" panose="00020600040101010101" charset="-122"/>
                </a:rPr>
                <a:t>纹样设计</a:t>
              </a:r>
              <a:endParaRPr lang="en-US" sz="2000">
                <a:solidFill>
                  <a:srgbClr val="323232"/>
                </a:solidFill>
                <a:ea typeface="阿里巴巴普惠体 Bold" panose="00020600040101010101" charset="-122"/>
              </a:endParaR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865324" y="5078523"/>
            <a:ext cx="2802139" cy="869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55"/>
              </a:lnSpc>
              <a:spcBef>
                <a:spcPct val="0"/>
              </a:spcBef>
            </a:pPr>
            <a:r>
              <a:rPr lang="en-US" sz="1170">
                <a:solidFill>
                  <a:srgbClr val="737373"/>
                </a:solidFill>
                <a:ea typeface="阿里巴巴普惠体" panose="00020600040101010101" charset="-122"/>
              </a:rPr>
              <a:t>取自双昆山的意象，外部是一座透明的、较为写意的山，内部是一座实体的植绒的山。两座山虚实结合，营造一种灵气满溢，却又稳扎于大地的氛围</a:t>
            </a:r>
            <a:r>
              <a:rPr lang="en-US" sz="1170">
                <a:solidFill>
                  <a:srgbClr val="9EADC0"/>
                </a:solidFill>
                <a:ea typeface="阿里巴巴普惠体" panose="00020600040101010101" charset="-122"/>
              </a:rPr>
              <a:t>。</a:t>
            </a:r>
            <a:endParaRPr lang="en-US" sz="1170">
              <a:solidFill>
                <a:srgbClr val="9EADC0"/>
              </a:solidFill>
              <a:ea typeface="阿里巴巴普惠体" panose="00020600040101010101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4116515" y="4668948"/>
            <a:ext cx="1518493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000">
                <a:solidFill>
                  <a:srgbClr val="323232"/>
                </a:solidFill>
                <a:ea typeface="阿里巴巴普惠体 Bold" panose="00020600040101010101" charset="-122"/>
              </a:rPr>
              <a:t>头顶：双昆山</a:t>
            </a:r>
            <a:endParaRPr lang="en-US" sz="2000">
              <a:solidFill>
                <a:srgbClr val="323232"/>
              </a:solidFill>
              <a:ea typeface="阿里巴巴普惠体 Bold" panose="00020600040101010101" charset="-122"/>
            </a:endParaRPr>
          </a:p>
        </p:txBody>
      </p:sp>
      <p:grpSp>
        <p:nvGrpSpPr>
          <p:cNvPr id="12" name="Group 12"/>
          <p:cNvGrpSpPr/>
          <p:nvPr/>
        </p:nvGrpSpPr>
        <p:grpSpPr>
          <a:xfrm rot="0">
            <a:off x="12776001" y="4885220"/>
            <a:ext cx="2802139" cy="1062938"/>
            <a:chOff x="0" y="0"/>
            <a:chExt cx="3736185" cy="1417251"/>
          </a:xfrm>
        </p:grpSpPr>
        <p:sp>
          <p:nvSpPr>
            <p:cNvPr id="13" name="TextBox 13"/>
            <p:cNvSpPr txBox="1"/>
            <p:nvPr/>
          </p:nvSpPr>
          <p:spPr>
            <a:xfrm>
              <a:off x="0" y="562374"/>
              <a:ext cx="3736185" cy="8548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755"/>
                </a:lnSpc>
                <a:spcBef>
                  <a:spcPct val="0"/>
                </a:spcBef>
              </a:pPr>
              <a:r>
                <a:rPr lang="en-US" sz="1170">
                  <a:solidFill>
                    <a:srgbClr val="737373"/>
                  </a:solidFill>
                  <a:ea typeface="阿里巴巴普惠体" panose="00020600040101010101" charset="-122"/>
                </a:rPr>
                <a:t>设计成东海灵螺的形状。意味为大海中灵昆岛，同整体头部的设计结合，代表一个以海洋和陆地为基准的灵昆岛地理方位。</a:t>
              </a:r>
              <a:endParaRPr lang="en-US" sz="1170">
                <a:solidFill>
                  <a:srgbClr val="737373"/>
                </a:solidFill>
                <a:ea typeface="阿里巴巴普惠体" panose="00020600040101010101" charset="-122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3036888" cy="4507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323232"/>
                  </a:solidFill>
                  <a:ea typeface="阿里巴巴普惠体 Bold" panose="00020600040101010101" charset="-122"/>
                </a:rPr>
                <a:t>脸部：灵昆岛的轮廓</a:t>
              </a:r>
              <a:endParaRPr lang="en-US" sz="2000">
                <a:solidFill>
                  <a:srgbClr val="323232"/>
                </a:solidFill>
                <a:ea typeface="阿里巴巴普惠体 Bold" panose="00020600040101010101" charset="-122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 rot="0">
            <a:off x="2865324" y="7301186"/>
            <a:ext cx="2802139" cy="1345849"/>
            <a:chOff x="0" y="0"/>
            <a:chExt cx="3736185" cy="1794465"/>
          </a:xfrm>
        </p:grpSpPr>
        <p:sp>
          <p:nvSpPr>
            <p:cNvPr id="16" name="TextBox 16"/>
            <p:cNvSpPr txBox="1"/>
            <p:nvPr/>
          </p:nvSpPr>
          <p:spPr>
            <a:xfrm>
              <a:off x="0" y="355485"/>
              <a:ext cx="3736185" cy="14389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755"/>
                </a:lnSpc>
                <a:spcBef>
                  <a:spcPct val="0"/>
                </a:spcBef>
              </a:pPr>
              <a:r>
                <a:rPr lang="en-US" sz="1170">
                  <a:solidFill>
                    <a:srgbClr val="737373"/>
                  </a:solidFill>
                  <a:ea typeface="阿里巴巴普惠体 Bold" panose="00020600040101010101" charset="-122"/>
                </a:rPr>
                <a:t>灵昆岛的自然生态链，以莫比乌斯环和无限符号为意象</a:t>
              </a:r>
              <a:r>
                <a:rPr lang="en-US" sz="1170">
                  <a:solidFill>
                    <a:srgbClr val="737373"/>
                  </a:solidFill>
                  <a:ea typeface="阿里巴巴普惠体" panose="00020600040101010101" charset="-122"/>
                </a:rPr>
                <a:t>，象征海陆生灵和谐共处，形成循环，意为灵昆岛生生不息。此外。同时响应</a:t>
              </a:r>
              <a:r>
                <a:rPr lang="en-US" sz="1170">
                  <a:solidFill>
                    <a:srgbClr val="737373"/>
                  </a:solidFill>
                  <a:latin typeface="阿里巴巴普惠体 Bold" panose="00020600040101010101" charset="-122"/>
                  <a:ea typeface="阿里巴巴普惠体 Bold" panose="00020600040101010101" charset="-122"/>
                </a:rPr>
                <a:t>国家“内循环”</a:t>
              </a:r>
              <a:r>
                <a:rPr lang="en-US" sz="1170">
                  <a:solidFill>
                    <a:srgbClr val="737373"/>
                  </a:solidFill>
                  <a:latin typeface="阿里巴巴普惠体" panose="00020600040101010101" charset="-122"/>
                  <a:ea typeface="阿里巴巴普惠体" panose="00020600040101010101" charset="-122"/>
                </a:rPr>
                <a:t>号召,拓展本土资源探索，形成自给自足，激发本土生产力</a:t>
              </a:r>
              <a:endParaRPr lang="en-US" sz="1170">
                <a:solidFill>
                  <a:srgbClr val="737373"/>
                </a:solidFill>
                <a:latin typeface="阿里巴巴普惠体" panose="00020600040101010101" charset="-122"/>
                <a:ea typeface="阿里巴巴普惠体" panose="00020600040101010101" charset="-122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736423" y="-57150"/>
              <a:ext cx="999762" cy="4507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323232"/>
                  </a:solidFill>
                  <a:ea typeface="阿里巴巴普惠体 Bold" panose="00020600040101010101" charset="-122"/>
                </a:rPr>
                <a:t>生态环</a:t>
              </a:r>
              <a:endParaRPr lang="en-US" sz="2000">
                <a:solidFill>
                  <a:srgbClr val="323232"/>
                </a:solidFill>
                <a:ea typeface="阿里巴巴普惠体 Bold" panose="00020600040101010101" charset="-122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 rot="0">
            <a:off x="12776001" y="7480144"/>
            <a:ext cx="2802139" cy="1167072"/>
            <a:chOff x="0" y="0"/>
            <a:chExt cx="3736185" cy="1556097"/>
          </a:xfrm>
        </p:grpSpPr>
        <p:sp>
          <p:nvSpPr>
            <p:cNvPr id="19" name="TextBox 19"/>
            <p:cNvSpPr txBox="1"/>
            <p:nvPr/>
          </p:nvSpPr>
          <p:spPr>
            <a:xfrm>
              <a:off x="0" y="409168"/>
              <a:ext cx="3736185" cy="11469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755"/>
                </a:lnSpc>
                <a:spcBef>
                  <a:spcPct val="0"/>
                </a:spcBef>
              </a:pPr>
              <a:r>
                <a:rPr lang="en-US" sz="1170">
                  <a:solidFill>
                    <a:srgbClr val="737373"/>
                  </a:solidFill>
                  <a:ea typeface="阿里巴巴普惠体" panose="00020600040101010101" charset="-122"/>
                </a:rPr>
                <a:t>由于灵昆岛自古以来，钟灵毓秀，聚气凝神，透着清新自然之感。同时体现灵昆岛人民心地清净纯洁，静水流深，光而不耀的品质。</a:t>
              </a:r>
              <a:endParaRPr lang="en-US" sz="1170">
                <a:solidFill>
                  <a:srgbClr val="737373"/>
                </a:solidFill>
                <a:ea typeface="阿里巴巴普惠体" panose="00020600040101010101" charset="-122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1333015" cy="4507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323232"/>
                  </a:solidFill>
                  <a:ea typeface="阿里巴巴普惠体 Bold" panose="00020600040101010101" charset="-122"/>
                </a:rPr>
                <a:t>透明材质</a:t>
              </a:r>
              <a:endParaRPr lang="en-US" sz="2000">
                <a:solidFill>
                  <a:srgbClr val="323232"/>
                </a:solidFill>
                <a:ea typeface="阿里巴巴普惠体 Bold" panose="00020600040101010101" charset="-122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 rot="0">
            <a:off x="2865324" y="3023389"/>
            <a:ext cx="2802139" cy="787322"/>
            <a:chOff x="0" y="0"/>
            <a:chExt cx="3736185" cy="1049763"/>
          </a:xfrm>
        </p:grpSpPr>
        <p:sp>
          <p:nvSpPr>
            <p:cNvPr id="22" name="TextBox 22"/>
            <p:cNvSpPr txBox="1"/>
            <p:nvPr/>
          </p:nvSpPr>
          <p:spPr>
            <a:xfrm>
              <a:off x="0" y="486938"/>
              <a:ext cx="3736185" cy="5628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755"/>
                </a:lnSpc>
                <a:spcBef>
                  <a:spcPct val="0"/>
                </a:spcBef>
              </a:pPr>
              <a:r>
                <a:rPr lang="en-US" sz="1170">
                  <a:solidFill>
                    <a:srgbClr val="737373"/>
                  </a:solidFill>
                  <a:ea typeface="阿里巴巴普惠体" panose="00020600040101010101" charset="-122"/>
                </a:rPr>
                <a:t>灵昆岛为海洋岛屿，因此融入海洋元素，设计成流动的水滴，以体现海洋韵味。</a:t>
              </a:r>
              <a:endParaRPr lang="en-US" sz="1170">
                <a:solidFill>
                  <a:srgbClr val="737373"/>
                </a:solidFill>
                <a:ea typeface="阿里巴巴普惠体" panose="00020600040101010101" charset="-122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49618" y="-57150"/>
              <a:ext cx="1687116" cy="450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323232"/>
                  </a:solidFill>
                  <a:ea typeface="阿里巴巴普惠体 Bold" panose="00020600040101010101" charset="-122"/>
                </a:rPr>
                <a:t>头部：水滴</a:t>
              </a:r>
              <a:endParaRPr lang="en-US" sz="2000">
                <a:solidFill>
                  <a:srgbClr val="323232"/>
                </a:solidFill>
                <a:ea typeface="阿里巴巴普惠体 Bold" panose="00020600040101010101" charset="-122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0697" y="322266"/>
            <a:ext cx="1301564" cy="862168"/>
          </a:xfrm>
          <a:custGeom>
            <a:avLst/>
            <a:gdLst/>
            <a:ahLst/>
            <a:cxnLst/>
            <a:rect l="l" t="t" r="r" b="b"/>
            <a:pathLst>
              <a:path w="1301564" h="862168">
                <a:moveTo>
                  <a:pt x="0" y="0"/>
                </a:moveTo>
                <a:lnTo>
                  <a:pt x="1301564" y="0"/>
                </a:lnTo>
                <a:lnTo>
                  <a:pt x="1301564" y="862168"/>
                </a:lnTo>
                <a:lnTo>
                  <a:pt x="0" y="862168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15462761" y="518209"/>
            <a:ext cx="2405360" cy="510491"/>
            <a:chOff x="0" y="0"/>
            <a:chExt cx="3207146" cy="680655"/>
          </a:xfrm>
        </p:grpSpPr>
        <p:grpSp>
          <p:nvGrpSpPr>
            <p:cNvPr id="4" name="Group 4"/>
            <p:cNvGrpSpPr/>
            <p:nvPr/>
          </p:nvGrpSpPr>
          <p:grpSpPr>
            <a:xfrm rot="0">
              <a:off x="0" y="0"/>
              <a:ext cx="453770" cy="680655"/>
              <a:chOff x="0" y="0"/>
              <a:chExt cx="406400" cy="6096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 rot="0">
              <a:off x="1573215" y="0"/>
              <a:ext cx="453770" cy="680655"/>
              <a:chOff x="0" y="0"/>
              <a:chExt cx="406400" cy="6096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0">
              <a:off x="789245" y="0"/>
              <a:ext cx="453770" cy="680655"/>
              <a:chOff x="0" y="0"/>
              <a:chExt cx="406400" cy="6096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0">
              <a:off x="2362459" y="0"/>
              <a:ext cx="453770" cy="680655"/>
              <a:chOff x="0" y="0"/>
              <a:chExt cx="406400" cy="6096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0">
              <a:off x="390917" y="0"/>
              <a:ext cx="453770" cy="680655"/>
              <a:chOff x="0" y="0"/>
              <a:chExt cx="406400" cy="6096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0">
              <a:off x="1964131" y="0"/>
              <a:ext cx="453770" cy="680655"/>
              <a:chOff x="0" y="0"/>
              <a:chExt cx="406400" cy="6096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0">
              <a:off x="1180162" y="0"/>
              <a:ext cx="453770" cy="680655"/>
              <a:chOff x="0" y="0"/>
              <a:chExt cx="406400" cy="6096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 rot="0">
              <a:off x="2753376" y="0"/>
              <a:ext cx="453770" cy="680655"/>
              <a:chOff x="0" y="0"/>
              <a:chExt cx="406400" cy="6096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</p:grpSp>
      <p:grpSp>
        <p:nvGrpSpPr>
          <p:cNvPr id="28" name="Group 28"/>
          <p:cNvGrpSpPr/>
          <p:nvPr/>
        </p:nvGrpSpPr>
        <p:grpSpPr>
          <a:xfrm rot="0">
            <a:off x="339581" y="9258300"/>
            <a:ext cx="2405360" cy="510491"/>
            <a:chOff x="0" y="0"/>
            <a:chExt cx="3207146" cy="680655"/>
          </a:xfrm>
        </p:grpSpPr>
        <p:grpSp>
          <p:nvGrpSpPr>
            <p:cNvPr id="29" name="Group 29"/>
            <p:cNvGrpSpPr/>
            <p:nvPr/>
          </p:nvGrpSpPr>
          <p:grpSpPr>
            <a:xfrm rot="0">
              <a:off x="0" y="0"/>
              <a:ext cx="453770" cy="680655"/>
              <a:chOff x="0" y="0"/>
              <a:chExt cx="406400" cy="6096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 rot="0">
              <a:off x="1573215" y="0"/>
              <a:ext cx="453770" cy="680655"/>
              <a:chOff x="0" y="0"/>
              <a:chExt cx="406400" cy="6096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 rot="0">
              <a:off x="789245" y="0"/>
              <a:ext cx="453770" cy="680655"/>
              <a:chOff x="0" y="0"/>
              <a:chExt cx="406400" cy="6096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 rot="0">
              <a:off x="2362459" y="0"/>
              <a:ext cx="453770" cy="680655"/>
              <a:chOff x="0" y="0"/>
              <a:chExt cx="406400" cy="6096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 rot="0">
              <a:off x="390917" y="0"/>
              <a:ext cx="453770" cy="680655"/>
              <a:chOff x="0" y="0"/>
              <a:chExt cx="406400" cy="6096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 rot="0">
              <a:off x="1964131" y="0"/>
              <a:ext cx="453770" cy="680655"/>
              <a:chOff x="0" y="0"/>
              <a:chExt cx="406400" cy="60960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 rot="0">
              <a:off x="1180162" y="0"/>
              <a:ext cx="453770" cy="680655"/>
              <a:chOff x="0" y="0"/>
              <a:chExt cx="406400" cy="60960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 rot="0">
              <a:off x="2753376" y="0"/>
              <a:ext cx="453770" cy="680655"/>
              <a:chOff x="0" y="0"/>
              <a:chExt cx="406400" cy="60960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</p:grpSp>
      <p:sp>
        <p:nvSpPr>
          <p:cNvPr id="53" name="Freeform 53"/>
          <p:cNvSpPr/>
          <p:nvPr/>
        </p:nvSpPr>
        <p:spPr>
          <a:xfrm>
            <a:off x="625773" y="1442526"/>
            <a:ext cx="17036454" cy="8071020"/>
          </a:xfrm>
          <a:custGeom>
            <a:avLst/>
            <a:gdLst/>
            <a:ahLst/>
            <a:cxnLst/>
            <a:rect l="l" t="t" r="r" b="b"/>
            <a:pathLst>
              <a:path w="17036454" h="8071020">
                <a:moveTo>
                  <a:pt x="0" y="0"/>
                </a:moveTo>
                <a:lnTo>
                  <a:pt x="17036454" y="0"/>
                </a:lnTo>
                <a:lnTo>
                  <a:pt x="17036454" y="8071020"/>
                </a:lnTo>
                <a:lnTo>
                  <a:pt x="0" y="80710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4" name="TextBox 54"/>
          <p:cNvSpPr txBox="1"/>
          <p:nvPr/>
        </p:nvSpPr>
        <p:spPr>
          <a:xfrm>
            <a:off x="1542261" y="323201"/>
            <a:ext cx="5276322" cy="793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6335"/>
              </a:lnSpc>
              <a:spcBef>
                <a:spcPct val="0"/>
              </a:spcBef>
            </a:pPr>
            <a:r>
              <a:rPr lang="en-US" sz="4800">
                <a:solidFill>
                  <a:srgbClr val="323232"/>
                </a:solidFill>
                <a:latin typeface="字由点字倔强黑" panose="00020600040101010101" charset="-122"/>
                <a:ea typeface="字由点字倔强黑" panose="00020600040101010101" charset="-122"/>
              </a:rPr>
              <a:t>IP颜色选择</a:t>
            </a:r>
            <a:endParaRPr lang="en-US" sz="4800">
              <a:solidFill>
                <a:srgbClr val="323232"/>
              </a:solidFill>
              <a:latin typeface="字由点字倔强黑" panose="00020600040101010101" charset="-122"/>
              <a:ea typeface="字由点字倔强黑" panose="00020600040101010101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0697" y="322266"/>
            <a:ext cx="1301564" cy="862168"/>
          </a:xfrm>
          <a:custGeom>
            <a:avLst/>
            <a:gdLst/>
            <a:ahLst/>
            <a:cxnLst/>
            <a:rect l="l" t="t" r="r" b="b"/>
            <a:pathLst>
              <a:path w="1301564" h="862168">
                <a:moveTo>
                  <a:pt x="0" y="0"/>
                </a:moveTo>
                <a:lnTo>
                  <a:pt x="1301564" y="0"/>
                </a:lnTo>
                <a:lnTo>
                  <a:pt x="1301564" y="862168"/>
                </a:lnTo>
                <a:lnTo>
                  <a:pt x="0" y="862168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15462761" y="518209"/>
            <a:ext cx="2405360" cy="510491"/>
            <a:chOff x="0" y="0"/>
            <a:chExt cx="3207146" cy="680655"/>
          </a:xfrm>
        </p:grpSpPr>
        <p:grpSp>
          <p:nvGrpSpPr>
            <p:cNvPr id="4" name="Group 4"/>
            <p:cNvGrpSpPr/>
            <p:nvPr/>
          </p:nvGrpSpPr>
          <p:grpSpPr>
            <a:xfrm rot="0">
              <a:off x="0" y="0"/>
              <a:ext cx="453770" cy="680655"/>
              <a:chOff x="0" y="0"/>
              <a:chExt cx="406400" cy="6096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 rot="0">
              <a:off x="1573215" y="0"/>
              <a:ext cx="453770" cy="680655"/>
              <a:chOff x="0" y="0"/>
              <a:chExt cx="406400" cy="6096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0">
              <a:off x="789245" y="0"/>
              <a:ext cx="453770" cy="680655"/>
              <a:chOff x="0" y="0"/>
              <a:chExt cx="406400" cy="6096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0">
              <a:off x="2362459" y="0"/>
              <a:ext cx="453770" cy="680655"/>
              <a:chOff x="0" y="0"/>
              <a:chExt cx="406400" cy="6096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0">
              <a:off x="390917" y="0"/>
              <a:ext cx="453770" cy="680655"/>
              <a:chOff x="0" y="0"/>
              <a:chExt cx="406400" cy="6096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0">
              <a:off x="1964131" y="0"/>
              <a:ext cx="453770" cy="680655"/>
              <a:chOff x="0" y="0"/>
              <a:chExt cx="406400" cy="6096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0">
              <a:off x="1180162" y="0"/>
              <a:ext cx="453770" cy="680655"/>
              <a:chOff x="0" y="0"/>
              <a:chExt cx="406400" cy="6096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 rot="0">
              <a:off x="2753376" y="0"/>
              <a:ext cx="453770" cy="680655"/>
              <a:chOff x="0" y="0"/>
              <a:chExt cx="406400" cy="6096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</p:grpSp>
      <p:grpSp>
        <p:nvGrpSpPr>
          <p:cNvPr id="28" name="Group 28"/>
          <p:cNvGrpSpPr/>
          <p:nvPr/>
        </p:nvGrpSpPr>
        <p:grpSpPr>
          <a:xfrm rot="0">
            <a:off x="339581" y="9258300"/>
            <a:ext cx="2405360" cy="510491"/>
            <a:chOff x="0" y="0"/>
            <a:chExt cx="3207146" cy="680655"/>
          </a:xfrm>
        </p:grpSpPr>
        <p:grpSp>
          <p:nvGrpSpPr>
            <p:cNvPr id="29" name="Group 29"/>
            <p:cNvGrpSpPr/>
            <p:nvPr/>
          </p:nvGrpSpPr>
          <p:grpSpPr>
            <a:xfrm rot="0">
              <a:off x="0" y="0"/>
              <a:ext cx="453770" cy="680655"/>
              <a:chOff x="0" y="0"/>
              <a:chExt cx="406400" cy="6096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 rot="0">
              <a:off x="1573215" y="0"/>
              <a:ext cx="453770" cy="680655"/>
              <a:chOff x="0" y="0"/>
              <a:chExt cx="406400" cy="6096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 rot="0">
              <a:off x="789245" y="0"/>
              <a:ext cx="453770" cy="680655"/>
              <a:chOff x="0" y="0"/>
              <a:chExt cx="406400" cy="6096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 rot="0">
              <a:off x="2362459" y="0"/>
              <a:ext cx="453770" cy="680655"/>
              <a:chOff x="0" y="0"/>
              <a:chExt cx="406400" cy="6096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 rot="0">
              <a:off x="390917" y="0"/>
              <a:ext cx="453770" cy="680655"/>
              <a:chOff x="0" y="0"/>
              <a:chExt cx="406400" cy="6096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 rot="0">
              <a:off x="1964131" y="0"/>
              <a:ext cx="453770" cy="680655"/>
              <a:chOff x="0" y="0"/>
              <a:chExt cx="406400" cy="60960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 rot="0">
              <a:off x="1180162" y="0"/>
              <a:ext cx="453770" cy="680655"/>
              <a:chOff x="0" y="0"/>
              <a:chExt cx="406400" cy="60960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 rot="0">
              <a:off x="2753376" y="0"/>
              <a:ext cx="453770" cy="680655"/>
              <a:chOff x="0" y="0"/>
              <a:chExt cx="406400" cy="60960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</p:grpSp>
      <p:sp>
        <p:nvSpPr>
          <p:cNvPr id="53" name="Freeform 53"/>
          <p:cNvSpPr/>
          <p:nvPr/>
        </p:nvSpPr>
        <p:spPr>
          <a:xfrm rot="-5400000">
            <a:off x="6009680" y="-4693011"/>
            <a:ext cx="7679159" cy="19698519"/>
          </a:xfrm>
          <a:custGeom>
            <a:avLst/>
            <a:gdLst/>
            <a:ahLst/>
            <a:cxnLst/>
            <a:rect l="l" t="t" r="r" b="b"/>
            <a:pathLst>
              <a:path w="7679159" h="19698519">
                <a:moveTo>
                  <a:pt x="0" y="0"/>
                </a:moveTo>
                <a:lnTo>
                  <a:pt x="7679159" y="0"/>
                </a:lnTo>
                <a:lnTo>
                  <a:pt x="7679159" y="19698519"/>
                </a:lnTo>
                <a:lnTo>
                  <a:pt x="0" y="196985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4000"/>
            </a:blip>
            <a:stretch>
              <a:fillRect l="-14129" r="-14129"/>
            </a:stretch>
          </a:blipFill>
        </p:spPr>
      </p:sp>
      <p:sp>
        <p:nvSpPr>
          <p:cNvPr id="54" name="Freeform 54"/>
          <p:cNvSpPr/>
          <p:nvPr/>
        </p:nvSpPr>
        <p:spPr>
          <a:xfrm>
            <a:off x="891479" y="1750264"/>
            <a:ext cx="5708261" cy="6786471"/>
          </a:xfrm>
          <a:custGeom>
            <a:avLst/>
            <a:gdLst/>
            <a:ahLst/>
            <a:cxnLst/>
            <a:rect l="l" t="t" r="r" b="b"/>
            <a:pathLst>
              <a:path w="5708261" h="6786471">
                <a:moveTo>
                  <a:pt x="0" y="0"/>
                </a:moveTo>
                <a:lnTo>
                  <a:pt x="5708261" y="0"/>
                </a:lnTo>
                <a:lnTo>
                  <a:pt x="5708261" y="6786472"/>
                </a:lnTo>
                <a:lnTo>
                  <a:pt x="0" y="67864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1069" t="-17452" r="-22608" b="-22731"/>
            </a:stretch>
          </a:blipFill>
        </p:spPr>
      </p:sp>
      <p:sp>
        <p:nvSpPr>
          <p:cNvPr id="55" name="Freeform 55"/>
          <p:cNvSpPr/>
          <p:nvPr/>
        </p:nvSpPr>
        <p:spPr>
          <a:xfrm>
            <a:off x="6371220" y="1750264"/>
            <a:ext cx="10888080" cy="6486546"/>
          </a:xfrm>
          <a:custGeom>
            <a:avLst/>
            <a:gdLst/>
            <a:ahLst/>
            <a:cxnLst/>
            <a:rect l="l" t="t" r="r" b="b"/>
            <a:pathLst>
              <a:path w="10888080" h="6486546">
                <a:moveTo>
                  <a:pt x="0" y="0"/>
                </a:moveTo>
                <a:lnTo>
                  <a:pt x="10888080" y="0"/>
                </a:lnTo>
                <a:lnTo>
                  <a:pt x="10888080" y="6486547"/>
                </a:lnTo>
                <a:lnTo>
                  <a:pt x="0" y="64865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817" r="-5591"/>
            </a:stretch>
          </a:blipFill>
        </p:spPr>
      </p:sp>
      <p:sp>
        <p:nvSpPr>
          <p:cNvPr id="56" name="TextBox 56"/>
          <p:cNvSpPr txBox="1"/>
          <p:nvPr/>
        </p:nvSpPr>
        <p:spPr>
          <a:xfrm>
            <a:off x="1542261" y="323201"/>
            <a:ext cx="5276322" cy="793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6335"/>
              </a:lnSpc>
              <a:spcBef>
                <a:spcPct val="0"/>
              </a:spcBef>
            </a:pPr>
            <a:r>
              <a:rPr lang="en-US" sz="4800">
                <a:solidFill>
                  <a:srgbClr val="323232"/>
                </a:solidFill>
                <a:ea typeface="字由点字倔强黑" panose="00020600040101010101" charset="-122"/>
              </a:rPr>
              <a:t>三视图</a:t>
            </a:r>
            <a:endParaRPr lang="en-US" sz="4800">
              <a:solidFill>
                <a:srgbClr val="323232"/>
              </a:solidFill>
              <a:ea typeface="字由点字倔强黑" panose="00020600040101010101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0697" y="322266"/>
            <a:ext cx="1301564" cy="862168"/>
          </a:xfrm>
          <a:custGeom>
            <a:avLst/>
            <a:gdLst/>
            <a:ahLst/>
            <a:cxnLst/>
            <a:rect l="l" t="t" r="r" b="b"/>
            <a:pathLst>
              <a:path w="1301564" h="862168">
                <a:moveTo>
                  <a:pt x="0" y="0"/>
                </a:moveTo>
                <a:lnTo>
                  <a:pt x="1301564" y="0"/>
                </a:lnTo>
                <a:lnTo>
                  <a:pt x="1301564" y="862168"/>
                </a:lnTo>
                <a:lnTo>
                  <a:pt x="0" y="862168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15462761" y="518209"/>
            <a:ext cx="2405360" cy="510491"/>
            <a:chOff x="0" y="0"/>
            <a:chExt cx="3207146" cy="680655"/>
          </a:xfrm>
        </p:grpSpPr>
        <p:grpSp>
          <p:nvGrpSpPr>
            <p:cNvPr id="4" name="Group 4"/>
            <p:cNvGrpSpPr/>
            <p:nvPr/>
          </p:nvGrpSpPr>
          <p:grpSpPr>
            <a:xfrm rot="0">
              <a:off x="0" y="0"/>
              <a:ext cx="453770" cy="680655"/>
              <a:chOff x="0" y="0"/>
              <a:chExt cx="406400" cy="6096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 rot="0">
              <a:off x="1573215" y="0"/>
              <a:ext cx="453770" cy="680655"/>
              <a:chOff x="0" y="0"/>
              <a:chExt cx="406400" cy="6096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0">
              <a:off x="789245" y="0"/>
              <a:ext cx="453770" cy="680655"/>
              <a:chOff x="0" y="0"/>
              <a:chExt cx="406400" cy="6096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0">
              <a:off x="2362459" y="0"/>
              <a:ext cx="453770" cy="680655"/>
              <a:chOff x="0" y="0"/>
              <a:chExt cx="406400" cy="6096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0">
              <a:off x="390917" y="0"/>
              <a:ext cx="453770" cy="680655"/>
              <a:chOff x="0" y="0"/>
              <a:chExt cx="406400" cy="6096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0">
              <a:off x="1964131" y="0"/>
              <a:ext cx="453770" cy="680655"/>
              <a:chOff x="0" y="0"/>
              <a:chExt cx="406400" cy="6096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0">
              <a:off x="1180162" y="0"/>
              <a:ext cx="453770" cy="680655"/>
              <a:chOff x="0" y="0"/>
              <a:chExt cx="406400" cy="6096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 rot="0">
              <a:off x="2753376" y="0"/>
              <a:ext cx="453770" cy="680655"/>
              <a:chOff x="0" y="0"/>
              <a:chExt cx="406400" cy="6096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</p:grpSp>
      <p:grpSp>
        <p:nvGrpSpPr>
          <p:cNvPr id="28" name="Group 28"/>
          <p:cNvGrpSpPr/>
          <p:nvPr/>
        </p:nvGrpSpPr>
        <p:grpSpPr>
          <a:xfrm rot="0">
            <a:off x="339581" y="9258300"/>
            <a:ext cx="2405360" cy="510491"/>
            <a:chOff x="0" y="0"/>
            <a:chExt cx="3207146" cy="680655"/>
          </a:xfrm>
        </p:grpSpPr>
        <p:grpSp>
          <p:nvGrpSpPr>
            <p:cNvPr id="29" name="Group 29"/>
            <p:cNvGrpSpPr/>
            <p:nvPr/>
          </p:nvGrpSpPr>
          <p:grpSpPr>
            <a:xfrm rot="0">
              <a:off x="0" y="0"/>
              <a:ext cx="453770" cy="680655"/>
              <a:chOff x="0" y="0"/>
              <a:chExt cx="406400" cy="6096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 rot="0">
              <a:off x="1573215" y="0"/>
              <a:ext cx="453770" cy="680655"/>
              <a:chOff x="0" y="0"/>
              <a:chExt cx="406400" cy="6096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 rot="0">
              <a:off x="789245" y="0"/>
              <a:ext cx="453770" cy="680655"/>
              <a:chOff x="0" y="0"/>
              <a:chExt cx="406400" cy="6096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 rot="0">
              <a:off x="2362459" y="0"/>
              <a:ext cx="453770" cy="680655"/>
              <a:chOff x="0" y="0"/>
              <a:chExt cx="406400" cy="6096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 rot="0">
              <a:off x="390917" y="0"/>
              <a:ext cx="453770" cy="680655"/>
              <a:chOff x="0" y="0"/>
              <a:chExt cx="406400" cy="6096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 rot="0">
              <a:off x="1964131" y="0"/>
              <a:ext cx="453770" cy="680655"/>
              <a:chOff x="0" y="0"/>
              <a:chExt cx="406400" cy="60960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 rot="0">
              <a:off x="1180162" y="0"/>
              <a:ext cx="453770" cy="680655"/>
              <a:chOff x="0" y="0"/>
              <a:chExt cx="406400" cy="60960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 rot="0">
              <a:off x="2753376" y="0"/>
              <a:ext cx="453770" cy="680655"/>
              <a:chOff x="0" y="0"/>
              <a:chExt cx="406400" cy="60960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</p:grpSp>
      <p:grpSp>
        <p:nvGrpSpPr>
          <p:cNvPr id="53" name="Group 53"/>
          <p:cNvGrpSpPr/>
          <p:nvPr/>
        </p:nvGrpSpPr>
        <p:grpSpPr>
          <a:xfrm rot="0">
            <a:off x="1542261" y="3281551"/>
            <a:ext cx="8841894" cy="1778593"/>
            <a:chOff x="0" y="0"/>
            <a:chExt cx="2328729" cy="468436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2328729" cy="468436"/>
            </a:xfrm>
            <a:custGeom>
              <a:avLst/>
              <a:gdLst/>
              <a:ahLst/>
              <a:cxnLst/>
              <a:rect l="l" t="t" r="r" b="b"/>
              <a:pathLst>
                <a:path w="2328729" h="468436">
                  <a:moveTo>
                    <a:pt x="44655" y="0"/>
                  </a:moveTo>
                  <a:lnTo>
                    <a:pt x="2284074" y="0"/>
                  </a:lnTo>
                  <a:cubicBezTo>
                    <a:pt x="2295917" y="0"/>
                    <a:pt x="2307276" y="4705"/>
                    <a:pt x="2315650" y="13079"/>
                  </a:cubicBezTo>
                  <a:cubicBezTo>
                    <a:pt x="2324025" y="21454"/>
                    <a:pt x="2328729" y="32812"/>
                    <a:pt x="2328729" y="44655"/>
                  </a:cubicBezTo>
                  <a:lnTo>
                    <a:pt x="2328729" y="423781"/>
                  </a:lnTo>
                  <a:cubicBezTo>
                    <a:pt x="2328729" y="435624"/>
                    <a:pt x="2324025" y="446982"/>
                    <a:pt x="2315650" y="455357"/>
                  </a:cubicBezTo>
                  <a:cubicBezTo>
                    <a:pt x="2307276" y="463731"/>
                    <a:pt x="2295917" y="468436"/>
                    <a:pt x="2284074" y="468436"/>
                  </a:cubicBezTo>
                  <a:lnTo>
                    <a:pt x="44655" y="468436"/>
                  </a:lnTo>
                  <a:cubicBezTo>
                    <a:pt x="32812" y="468436"/>
                    <a:pt x="21454" y="463731"/>
                    <a:pt x="13079" y="455357"/>
                  </a:cubicBezTo>
                  <a:cubicBezTo>
                    <a:pt x="4705" y="446982"/>
                    <a:pt x="0" y="435624"/>
                    <a:pt x="0" y="423781"/>
                  </a:cubicBezTo>
                  <a:lnTo>
                    <a:pt x="0" y="44655"/>
                  </a:lnTo>
                  <a:cubicBezTo>
                    <a:pt x="0" y="32812"/>
                    <a:pt x="4705" y="21454"/>
                    <a:pt x="13079" y="13079"/>
                  </a:cubicBezTo>
                  <a:cubicBezTo>
                    <a:pt x="21454" y="4705"/>
                    <a:pt x="32812" y="0"/>
                    <a:pt x="44655" y="0"/>
                  </a:cubicBezTo>
                  <a:close/>
                </a:path>
              </a:pathLst>
            </a:custGeom>
            <a:solidFill>
              <a:srgbClr val="F3F7FF">
                <a:alpha val="45882"/>
              </a:srgbClr>
            </a:solidFill>
          </p:spPr>
        </p:sp>
        <p:sp>
          <p:nvSpPr>
            <p:cNvPr id="55" name="TextBox 55"/>
            <p:cNvSpPr txBox="1"/>
            <p:nvPr/>
          </p:nvSpPr>
          <p:spPr>
            <a:xfrm>
              <a:off x="0" y="-66675"/>
              <a:ext cx="2328729" cy="5351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0"/>
                </a:lnSpc>
              </a:pPr>
            </a:p>
          </p:txBody>
        </p:sp>
      </p:grpSp>
      <p:grpSp>
        <p:nvGrpSpPr>
          <p:cNvPr id="56" name="Group 56"/>
          <p:cNvGrpSpPr/>
          <p:nvPr/>
        </p:nvGrpSpPr>
        <p:grpSpPr>
          <a:xfrm rot="0">
            <a:off x="1542261" y="4561293"/>
            <a:ext cx="8530864" cy="2605532"/>
            <a:chOff x="0" y="0"/>
            <a:chExt cx="11374486" cy="3474042"/>
          </a:xfrm>
        </p:grpSpPr>
        <p:grpSp>
          <p:nvGrpSpPr>
            <p:cNvPr id="57" name="Group 57"/>
            <p:cNvGrpSpPr/>
            <p:nvPr/>
          </p:nvGrpSpPr>
          <p:grpSpPr>
            <a:xfrm rot="0">
              <a:off x="0" y="0"/>
              <a:ext cx="11374486" cy="3474042"/>
              <a:chOff x="0" y="0"/>
              <a:chExt cx="2246812" cy="686231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2246812" cy="686231"/>
              </a:xfrm>
              <a:custGeom>
                <a:avLst/>
                <a:gdLst/>
                <a:ahLst/>
                <a:cxnLst/>
                <a:rect l="l" t="t" r="r" b="b"/>
                <a:pathLst>
                  <a:path w="2246812" h="686231">
                    <a:moveTo>
                      <a:pt x="46283" y="0"/>
                    </a:moveTo>
                    <a:lnTo>
                      <a:pt x="2200529" y="0"/>
                    </a:lnTo>
                    <a:cubicBezTo>
                      <a:pt x="2212804" y="0"/>
                      <a:pt x="2224576" y="4876"/>
                      <a:pt x="2233256" y="13556"/>
                    </a:cubicBezTo>
                    <a:cubicBezTo>
                      <a:pt x="2241936" y="22236"/>
                      <a:pt x="2246812" y="34008"/>
                      <a:pt x="2246812" y="46283"/>
                    </a:cubicBezTo>
                    <a:lnTo>
                      <a:pt x="2246812" y="639947"/>
                    </a:lnTo>
                    <a:cubicBezTo>
                      <a:pt x="2246812" y="652222"/>
                      <a:pt x="2241936" y="663995"/>
                      <a:pt x="2233256" y="672674"/>
                    </a:cubicBezTo>
                    <a:cubicBezTo>
                      <a:pt x="2224576" y="681354"/>
                      <a:pt x="2212804" y="686231"/>
                      <a:pt x="2200529" y="686231"/>
                    </a:cubicBezTo>
                    <a:lnTo>
                      <a:pt x="46283" y="686231"/>
                    </a:lnTo>
                    <a:cubicBezTo>
                      <a:pt x="34008" y="686231"/>
                      <a:pt x="22236" y="681354"/>
                      <a:pt x="13556" y="672674"/>
                    </a:cubicBezTo>
                    <a:cubicBezTo>
                      <a:pt x="4876" y="663995"/>
                      <a:pt x="0" y="652222"/>
                      <a:pt x="0" y="639947"/>
                    </a:cubicBezTo>
                    <a:lnTo>
                      <a:pt x="0" y="46283"/>
                    </a:lnTo>
                    <a:cubicBezTo>
                      <a:pt x="0" y="34008"/>
                      <a:pt x="4876" y="22236"/>
                      <a:pt x="13556" y="13556"/>
                    </a:cubicBezTo>
                    <a:cubicBezTo>
                      <a:pt x="22236" y="4876"/>
                      <a:pt x="34008" y="0"/>
                      <a:pt x="46283" y="0"/>
                    </a:cubicBezTo>
                    <a:close/>
                  </a:path>
                </a:pathLst>
              </a:custGeom>
              <a:solidFill>
                <a:srgbClr val="F3F7FF">
                  <a:alpha val="60784"/>
                </a:srgbClr>
              </a:solidFill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0" y="-57150"/>
                <a:ext cx="2246812" cy="74338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l">
                  <a:lnSpc>
                    <a:spcPts val="302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id="60" name="TextBox 60"/>
            <p:cNvSpPr txBox="1"/>
            <p:nvPr/>
          </p:nvSpPr>
          <p:spPr>
            <a:xfrm>
              <a:off x="189493" y="252609"/>
              <a:ext cx="10982858" cy="30022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20"/>
                </a:lnSpc>
                <a:spcBef>
                  <a:spcPct val="0"/>
                </a:spcBef>
              </a:pPr>
              <a:r>
                <a:rPr lang="en-US" sz="2015" u="none" strike="noStrike">
                  <a:solidFill>
                    <a:srgbClr val="7593DD"/>
                  </a:solidFill>
                  <a:ea typeface="阿里巴巴普惠体 Bold" panose="00020600040101010101" charset="-122"/>
                </a:rPr>
                <a:t>简介</a:t>
              </a:r>
              <a:r>
                <a:rPr lang="en-US" sz="2015" u="none" strike="noStrike">
                  <a:solidFill>
                    <a:srgbClr val="7593DD"/>
                  </a:solidFill>
                  <a:ea typeface="阿里巴巴普惠体" panose="00020600040101010101" charset="-122"/>
                </a:rPr>
                <a:t>：由未来穿乘时光机越而来，带着对未来的期盼和先进的技术，辅助现在的灵昆人民走向现美好绿色先进的社会主义现代化新时代。</a:t>
              </a:r>
              <a:endParaRPr lang="en-US" sz="2015" u="none" strike="noStrike">
                <a:solidFill>
                  <a:srgbClr val="7593DD"/>
                </a:solidFill>
                <a:ea typeface="阿里巴巴普惠体" panose="00020600040101010101" charset="-122"/>
              </a:endParaRPr>
            </a:p>
            <a:p>
              <a:pPr marL="0" lvl="0" indent="0" algn="l">
                <a:lnSpc>
                  <a:spcPts val="3020"/>
                </a:lnSpc>
                <a:spcBef>
                  <a:spcPct val="0"/>
                </a:spcBef>
              </a:pPr>
            </a:p>
            <a:p>
              <a:pPr marL="0" lvl="0" indent="0" algn="l">
                <a:lnSpc>
                  <a:spcPts val="3020"/>
                </a:lnSpc>
                <a:spcBef>
                  <a:spcPct val="0"/>
                </a:spcBef>
              </a:pPr>
              <a:r>
                <a:rPr lang="en-US" sz="2015" u="none" strike="noStrike">
                  <a:solidFill>
                    <a:srgbClr val="7593DD"/>
                  </a:solidFill>
                  <a:ea typeface="阿里巴巴普惠体 Bold" panose="00020600040101010101" charset="-122"/>
                </a:rPr>
                <a:t>设计理念简述</a:t>
              </a:r>
              <a:r>
                <a:rPr lang="en-US" sz="2015" u="none" strike="noStrike">
                  <a:solidFill>
                    <a:srgbClr val="7593DD"/>
                  </a:solidFill>
                  <a:ea typeface="阿里巴巴普惠体" panose="00020600040101010101" charset="-122"/>
                </a:rPr>
                <a:t>：以结合了生态和智慧的娃娃形象来阐述灵昆岛的人文和自然特征，</a:t>
              </a:r>
              <a:r>
                <a:rPr lang="en-US" sz="2015" u="none" strike="noStrike">
                  <a:solidFill>
                    <a:srgbClr val="7593DD"/>
                  </a:solidFill>
                  <a:ea typeface="阿里巴巴普惠体 Bold" panose="00020600040101010101" charset="-122"/>
                </a:rPr>
                <a:t>偏向机械化设计</a:t>
              </a:r>
              <a:r>
                <a:rPr lang="en-US" sz="2015" u="none" strike="noStrike">
                  <a:solidFill>
                    <a:srgbClr val="7593DD"/>
                  </a:solidFill>
                  <a:latin typeface="阿里巴巴普惠体" panose="00020600040101010101" charset="-122"/>
                  <a:ea typeface="阿里巴巴普惠体" panose="00020600040101010101" charset="-122"/>
                </a:rPr>
                <a:t>，引用灵昆本土特色作为形象特点，承载了“海上新城，生态智岛”的理念。</a:t>
              </a:r>
              <a:endParaRPr lang="en-US" sz="2015" u="none" strike="noStrike">
                <a:solidFill>
                  <a:srgbClr val="7593DD"/>
                </a:solidFill>
                <a:latin typeface="阿里巴巴普惠体" panose="00020600040101010101" charset="-122"/>
                <a:ea typeface="阿里巴巴普惠体" panose="00020600040101010101" charset="-122"/>
              </a:endParaRPr>
            </a:p>
          </p:txBody>
        </p:sp>
      </p:grpSp>
      <p:sp>
        <p:nvSpPr>
          <p:cNvPr id="61" name="Freeform 61"/>
          <p:cNvSpPr/>
          <p:nvPr/>
        </p:nvSpPr>
        <p:spPr>
          <a:xfrm>
            <a:off x="10164597" y="1028700"/>
            <a:ext cx="8123403" cy="9670718"/>
          </a:xfrm>
          <a:custGeom>
            <a:avLst/>
            <a:gdLst/>
            <a:ahLst/>
            <a:cxnLst/>
            <a:rect l="l" t="t" r="r" b="b"/>
            <a:pathLst>
              <a:path w="8123403" h="9670718">
                <a:moveTo>
                  <a:pt x="0" y="0"/>
                </a:moveTo>
                <a:lnTo>
                  <a:pt x="8123403" y="0"/>
                </a:lnTo>
                <a:lnTo>
                  <a:pt x="8123403" y="9670718"/>
                </a:lnTo>
                <a:lnTo>
                  <a:pt x="0" y="96707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2" name="TextBox 62"/>
          <p:cNvSpPr txBox="1"/>
          <p:nvPr/>
        </p:nvSpPr>
        <p:spPr>
          <a:xfrm>
            <a:off x="1542261" y="323201"/>
            <a:ext cx="5276322" cy="793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6335"/>
              </a:lnSpc>
              <a:spcBef>
                <a:spcPct val="0"/>
              </a:spcBef>
            </a:pPr>
            <a:r>
              <a:rPr lang="en-US" sz="4800">
                <a:solidFill>
                  <a:srgbClr val="323232"/>
                </a:solidFill>
                <a:latin typeface="字由点字倔强黑" panose="00020600040101010101" charset="-122"/>
              </a:rPr>
              <a:t>IP2</a:t>
            </a:r>
            <a:endParaRPr lang="en-US" sz="4800">
              <a:solidFill>
                <a:srgbClr val="323232"/>
              </a:solidFill>
              <a:latin typeface="字由点字倔强黑" panose="00020600040101010101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21015" y="-296904"/>
            <a:ext cx="18930030" cy="10719130"/>
          </a:xfrm>
          <a:custGeom>
            <a:avLst/>
            <a:gdLst/>
            <a:ahLst/>
            <a:cxnLst/>
            <a:rect l="l" t="t" r="r" b="b"/>
            <a:pathLst>
              <a:path w="18930030" h="10719130">
                <a:moveTo>
                  <a:pt x="0" y="0"/>
                </a:moveTo>
                <a:lnTo>
                  <a:pt x="18930030" y="0"/>
                </a:lnTo>
                <a:lnTo>
                  <a:pt x="18930030" y="10719129"/>
                </a:lnTo>
                <a:lnTo>
                  <a:pt x="0" y="10719129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40697" y="322266"/>
            <a:ext cx="1301564" cy="862168"/>
          </a:xfrm>
          <a:custGeom>
            <a:avLst/>
            <a:gdLst/>
            <a:ahLst/>
            <a:cxnLst/>
            <a:rect l="l" t="t" r="r" b="b"/>
            <a:pathLst>
              <a:path w="1301564" h="862168">
                <a:moveTo>
                  <a:pt x="0" y="0"/>
                </a:moveTo>
                <a:lnTo>
                  <a:pt x="1301564" y="0"/>
                </a:lnTo>
                <a:lnTo>
                  <a:pt x="1301564" y="862168"/>
                </a:lnTo>
                <a:lnTo>
                  <a:pt x="0" y="8621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4910964" y="2372789"/>
            <a:ext cx="1803723" cy="789755"/>
          </a:xfrm>
          <a:custGeom>
            <a:avLst/>
            <a:gdLst/>
            <a:ahLst/>
            <a:cxnLst/>
            <a:rect l="l" t="t" r="r" b="b"/>
            <a:pathLst>
              <a:path w="1803723" h="789755">
                <a:moveTo>
                  <a:pt x="1803724" y="0"/>
                </a:moveTo>
                <a:lnTo>
                  <a:pt x="0" y="0"/>
                </a:lnTo>
                <a:lnTo>
                  <a:pt x="0" y="789755"/>
                </a:lnTo>
                <a:lnTo>
                  <a:pt x="1803724" y="789755"/>
                </a:lnTo>
                <a:lnTo>
                  <a:pt x="1803724" y="0"/>
                </a:lnTo>
                <a:close/>
              </a:path>
            </a:pathLst>
          </a:custGeom>
          <a:blipFill>
            <a:blip r:embed="rId3"/>
            <a:stretch>
              <a:fillRect l="-43703" t="-17987" r="-38906" b="-117504"/>
            </a:stretch>
          </a:blipFill>
        </p:spPr>
      </p:sp>
      <p:grpSp>
        <p:nvGrpSpPr>
          <p:cNvPr id="5" name="Group 5"/>
          <p:cNvGrpSpPr/>
          <p:nvPr/>
        </p:nvGrpSpPr>
        <p:grpSpPr>
          <a:xfrm rot="0">
            <a:off x="424110" y="366907"/>
            <a:ext cx="8903303" cy="1226286"/>
            <a:chOff x="0" y="0"/>
            <a:chExt cx="11871071" cy="16350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35419" cy="1149557"/>
            </a:xfrm>
            <a:custGeom>
              <a:avLst/>
              <a:gdLst/>
              <a:ahLst/>
              <a:cxnLst/>
              <a:rect l="l" t="t" r="r" b="b"/>
              <a:pathLst>
                <a:path w="1735419" h="1149557">
                  <a:moveTo>
                    <a:pt x="0" y="0"/>
                  </a:moveTo>
                  <a:lnTo>
                    <a:pt x="1735419" y="0"/>
                  </a:lnTo>
                  <a:lnTo>
                    <a:pt x="1735419" y="1149557"/>
                  </a:lnTo>
                  <a:lnTo>
                    <a:pt x="0" y="11495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1735419" y="-123825"/>
              <a:ext cx="10135652" cy="10255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6750"/>
                </a:lnSpc>
                <a:spcBef>
                  <a:spcPct val="0"/>
                </a:spcBef>
              </a:pPr>
              <a:r>
                <a:rPr lang="en-US" sz="4500">
                  <a:solidFill>
                    <a:srgbClr val="9EADC0"/>
                  </a:solidFill>
                  <a:latin typeface="阿里巴巴普惠体" panose="00020600040101010101" charset="-122"/>
                </a:rPr>
                <a:t>DESIGN CONCEPT</a:t>
              </a:r>
              <a:endParaRPr lang="en-US" sz="4500">
                <a:solidFill>
                  <a:srgbClr val="9EADC0"/>
                </a:solidFill>
                <a:latin typeface="阿里巴巴普惠体" panose="00020600040101010101" charset="-122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735419" y="599194"/>
              <a:ext cx="10135652" cy="10358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>
                <a:lnSpc>
                  <a:spcPts val="6335"/>
                </a:lnSpc>
                <a:spcBef>
                  <a:spcPct val="0"/>
                </a:spcBef>
              </a:pPr>
              <a:r>
                <a:rPr lang="en-US" sz="4800">
                  <a:solidFill>
                    <a:srgbClr val="323232"/>
                  </a:solidFill>
                  <a:ea typeface="字由点字倔强黑" panose="00020600040101010101" charset="-122"/>
                </a:rPr>
                <a:t>设计理念</a:t>
              </a:r>
              <a:endParaRPr lang="en-US" sz="4800">
                <a:solidFill>
                  <a:srgbClr val="323232"/>
                </a:solidFill>
                <a:ea typeface="字由点字倔强黑" panose="00020600040101010101" charset="-122"/>
              </a:endParaR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852129" y="4270521"/>
            <a:ext cx="1249588" cy="352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000">
                <a:solidFill>
                  <a:srgbClr val="323232"/>
                </a:solidFill>
                <a:ea typeface="阿里巴巴普惠体 Bold" panose="00020600040101010101" charset="-122"/>
              </a:rPr>
              <a:t>交通枢纽环</a:t>
            </a:r>
            <a:endParaRPr lang="en-US" sz="2000">
              <a:solidFill>
                <a:srgbClr val="323232"/>
              </a:solidFill>
              <a:ea typeface="阿里巴巴普惠体 Bold" panose="00020600040101010101" charset="-122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279233" y="4718269"/>
            <a:ext cx="2802139" cy="650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55"/>
              </a:lnSpc>
              <a:spcBef>
                <a:spcPct val="0"/>
              </a:spcBef>
            </a:pPr>
            <a:r>
              <a:rPr lang="en-US" sz="1170">
                <a:solidFill>
                  <a:srgbClr val="737373"/>
                </a:solidFill>
                <a:ea typeface="阿里巴巴普惠体" panose="00020600040101010101" charset="-122"/>
              </a:rPr>
              <a:t>取自灵昆岛交通建设，地</a:t>
            </a:r>
            <a:r>
              <a:rPr lang="en-US" sz="1170">
                <a:solidFill>
                  <a:srgbClr val="737373"/>
                </a:solidFill>
                <a:ea typeface="阿里巴巴普惠体" panose="00020600040101010101" charset="-122"/>
              </a:rPr>
              <a:t>处轻轨交叉线、灵昆高速、国道、省道，象征灵昆岛行走在未来的轨道上，前行不止。</a:t>
            </a:r>
            <a:endParaRPr lang="en-US" sz="1170">
              <a:solidFill>
                <a:srgbClr val="737373"/>
              </a:solidFill>
              <a:ea typeface="阿里巴巴普惠体" panose="00020600040101010101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2492185" y="2265459"/>
            <a:ext cx="2802139" cy="650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55"/>
              </a:lnSpc>
              <a:spcBef>
                <a:spcPct val="0"/>
              </a:spcBef>
            </a:pPr>
            <a:r>
              <a:rPr lang="en-US" sz="1170">
                <a:solidFill>
                  <a:srgbClr val="737373"/>
                </a:solidFill>
                <a:ea typeface="阿里巴巴普惠体" panose="00020600040101010101" charset="-122"/>
              </a:rPr>
              <a:t>体现低碳环保，体现浙江</a:t>
            </a:r>
            <a:r>
              <a:rPr lang="en-US" sz="1170">
                <a:solidFill>
                  <a:srgbClr val="737373"/>
                </a:solidFill>
                <a:ea typeface="阿里巴巴普惠体" panose="00020600040101010101" charset="-122"/>
              </a:rPr>
              <a:t>身为两山论发源地的环保理念，赋予灵昆科技与环保协同的关系。</a:t>
            </a:r>
            <a:endParaRPr lang="en-US" sz="1170">
              <a:solidFill>
                <a:srgbClr val="737373"/>
              </a:solidFill>
              <a:ea typeface="阿里巴巴普惠体" panose="00020600040101010101" charset="-12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2492185" y="1954203"/>
            <a:ext cx="999762" cy="352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000">
                <a:solidFill>
                  <a:srgbClr val="323232"/>
                </a:solidFill>
                <a:ea typeface="阿里巴巴普惠体 Bold" panose="00020600040101010101" charset="-122"/>
              </a:rPr>
              <a:t>右侧绿叶</a:t>
            </a:r>
            <a:endParaRPr lang="en-US" sz="2000">
              <a:solidFill>
                <a:srgbClr val="323232"/>
              </a:solidFill>
              <a:ea typeface="阿里巴巴普惠体 Bold" panose="00020600040101010101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680303" y="6876118"/>
            <a:ext cx="1249588" cy="352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000">
                <a:solidFill>
                  <a:srgbClr val="323232"/>
                </a:solidFill>
                <a:ea typeface="阿里巴巴普惠体 Bold" panose="00020600040101010101" charset="-122"/>
              </a:rPr>
              <a:t>大拇指头型</a:t>
            </a:r>
            <a:endParaRPr lang="en-US" sz="2000">
              <a:solidFill>
                <a:srgbClr val="323232"/>
              </a:solidFill>
              <a:ea typeface="阿里巴巴普惠体 Bold" panose="00020600040101010101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3279233" y="7203671"/>
            <a:ext cx="2802139" cy="431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55"/>
              </a:lnSpc>
              <a:spcBef>
                <a:spcPct val="0"/>
              </a:spcBef>
            </a:pPr>
            <a:r>
              <a:rPr lang="en-US" sz="1170">
                <a:solidFill>
                  <a:srgbClr val="737373"/>
                </a:solidFill>
                <a:ea typeface="阿里巴巴普惠体" panose="00020600040101010101" charset="-122"/>
              </a:rPr>
              <a:t>呈现大拇指的形状，象征</a:t>
            </a:r>
            <a:r>
              <a:rPr lang="en-US" sz="1170">
                <a:solidFill>
                  <a:srgbClr val="737373"/>
                </a:solidFill>
                <a:ea typeface="阿里巴巴普惠体" panose="00020600040101010101" charset="-122"/>
              </a:rPr>
              <a:t>灵昆的积极向上的精神，不畏艰险，拓土探海，追求极致。</a:t>
            </a:r>
            <a:endParaRPr lang="en-US" sz="1170">
              <a:solidFill>
                <a:srgbClr val="737373"/>
              </a:solidFill>
              <a:ea typeface="阿里巴巴普惠体" panose="00020600040101010101" charset="-122"/>
            </a:endParaRPr>
          </a:p>
        </p:txBody>
      </p:sp>
      <p:grpSp>
        <p:nvGrpSpPr>
          <p:cNvPr id="15" name="Group 15"/>
          <p:cNvGrpSpPr/>
          <p:nvPr/>
        </p:nvGrpSpPr>
        <p:grpSpPr>
          <a:xfrm rot="0">
            <a:off x="12660622" y="4381033"/>
            <a:ext cx="2802139" cy="750673"/>
            <a:chOff x="0" y="0"/>
            <a:chExt cx="3736185" cy="1000897"/>
          </a:xfrm>
        </p:grpSpPr>
        <p:sp>
          <p:nvSpPr>
            <p:cNvPr id="16" name="TextBox 16"/>
            <p:cNvSpPr txBox="1"/>
            <p:nvPr/>
          </p:nvSpPr>
          <p:spPr>
            <a:xfrm>
              <a:off x="0" y="-57150"/>
              <a:ext cx="1666118" cy="4507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323232"/>
                  </a:solidFill>
                  <a:ea typeface="阿里巴巴普惠体 Bold" panose="00020600040101010101" charset="-122"/>
                </a:rPr>
                <a:t>脸部及云纹</a:t>
              </a:r>
              <a:endParaRPr lang="en-US" sz="2000">
                <a:solidFill>
                  <a:srgbClr val="323232"/>
                </a:solidFill>
                <a:ea typeface="阿里巴巴普惠体 Bold" panose="00020600040101010101" charset="-122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438072"/>
              <a:ext cx="3736185" cy="5628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755"/>
                </a:lnSpc>
                <a:spcBef>
                  <a:spcPct val="0"/>
                </a:spcBef>
              </a:pPr>
              <a:r>
                <a:rPr lang="en-US" sz="1170">
                  <a:solidFill>
                    <a:srgbClr val="737373"/>
                  </a:solidFill>
                  <a:ea typeface="阿里巴巴普惠体" panose="00020600040101010101" charset="-122"/>
                </a:rPr>
                <a:t>呈现山形，且结合了山</a:t>
              </a:r>
              <a:r>
                <a:rPr lang="en-US" sz="1170">
                  <a:solidFill>
                    <a:srgbClr val="737373"/>
                  </a:solidFill>
                  <a:ea typeface="阿里巴巴普惠体" panose="00020600040101010101" charset="-122"/>
                </a:rPr>
                <a:t>形云纹，意为双昆山。</a:t>
              </a:r>
              <a:endParaRPr lang="en-US" sz="1170">
                <a:solidFill>
                  <a:srgbClr val="737373"/>
                </a:solidFill>
                <a:ea typeface="阿里巴巴普惠体" panose="00020600040101010101" charset="-122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 rot="0">
            <a:off x="12660622" y="6984657"/>
            <a:ext cx="2802139" cy="907771"/>
            <a:chOff x="0" y="0"/>
            <a:chExt cx="3736185" cy="1210362"/>
          </a:xfrm>
        </p:grpSpPr>
        <p:sp>
          <p:nvSpPr>
            <p:cNvPr id="19" name="TextBox 19"/>
            <p:cNvSpPr txBox="1"/>
            <p:nvPr/>
          </p:nvSpPr>
          <p:spPr>
            <a:xfrm>
              <a:off x="0" y="-57150"/>
              <a:ext cx="1666118" cy="4507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323232"/>
                  </a:solidFill>
                  <a:ea typeface="阿里巴巴普惠体 Bold" panose="00020600040101010101" charset="-122"/>
                </a:rPr>
                <a:t>身体交通网</a:t>
              </a:r>
              <a:endParaRPr lang="en-US" sz="2000">
                <a:solidFill>
                  <a:srgbClr val="323232"/>
                </a:solidFill>
                <a:ea typeface="阿里巴巴普惠体 Bold" panose="00020600040101010101" charset="-122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355485"/>
              <a:ext cx="3736185" cy="8548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755"/>
                </a:lnSpc>
                <a:spcBef>
                  <a:spcPct val="0"/>
                </a:spcBef>
              </a:pPr>
              <a:r>
                <a:rPr lang="en-US" sz="1170">
                  <a:solidFill>
                    <a:srgbClr val="737373"/>
                  </a:solidFill>
                  <a:ea typeface="阿里巴巴普惠体" panose="00020600040101010101" charset="-122"/>
                </a:rPr>
                <a:t>建模时，引入芯片和集成电</a:t>
              </a:r>
              <a:r>
                <a:rPr lang="en-US" sz="1170">
                  <a:solidFill>
                    <a:srgbClr val="737373"/>
                  </a:solidFill>
                  <a:ea typeface="阿里巴巴普惠体" panose="00020600040101010101" charset="-122"/>
                </a:rPr>
                <a:t>路的纹路，同时引入交通路线，体现生态智岛科技进步的概念。</a:t>
              </a:r>
              <a:endParaRPr lang="en-US" sz="1170">
                <a:solidFill>
                  <a:srgbClr val="737373"/>
                </a:solidFill>
                <a:ea typeface="阿里巴巴普惠体" panose="00020600040101010101" charset="-122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 rot="0">
            <a:off x="4180422" y="2011353"/>
            <a:ext cx="1900950" cy="756313"/>
            <a:chOff x="0" y="0"/>
            <a:chExt cx="2534600" cy="1008418"/>
          </a:xfrm>
        </p:grpSpPr>
        <p:sp>
          <p:nvSpPr>
            <p:cNvPr id="22" name="TextBox 22"/>
            <p:cNvSpPr txBox="1"/>
            <p:nvPr/>
          </p:nvSpPr>
          <p:spPr>
            <a:xfrm>
              <a:off x="0" y="355485"/>
              <a:ext cx="2534600" cy="6529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90"/>
                </a:lnSpc>
                <a:spcBef>
                  <a:spcPct val="0"/>
                </a:spcBef>
              </a:pPr>
              <a:r>
                <a:rPr lang="en-US" sz="1390">
                  <a:solidFill>
                    <a:srgbClr val="737373"/>
                  </a:solidFill>
                  <a:latin typeface="阿里巴巴普惠体" panose="00020600040101010101" charset="-122"/>
                  <a:ea typeface="阿里巴巴普惠体" panose="00020600040101010101" charset="-122"/>
                </a:rPr>
                <a:t>营造一种科技感，体现“</a:t>
              </a:r>
              <a:r>
                <a:rPr lang="en-US" sz="1390">
                  <a:solidFill>
                    <a:srgbClr val="737373"/>
                  </a:solidFill>
                  <a:latin typeface="阿里巴巴普惠体" panose="00020600040101010101" charset="-122"/>
                  <a:ea typeface="阿里巴巴普惠体" panose="00020600040101010101" charset="-122"/>
                </a:rPr>
                <a:t>智岛”的概念。</a:t>
              </a:r>
              <a:endParaRPr lang="en-US" sz="1390">
                <a:solidFill>
                  <a:srgbClr val="737373"/>
                </a:solidFill>
                <a:latin typeface="阿里巴巴普惠体" panose="00020600040101010101" charset="-122"/>
                <a:ea typeface="阿里巴巴普惠体" panose="00020600040101010101" charset="-122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74057" y="-57150"/>
              <a:ext cx="1333015" cy="4507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323232"/>
                  </a:solidFill>
                  <a:ea typeface="阿里巴巴普惠体 Bold" panose="00020600040101010101" charset="-122"/>
                </a:rPr>
                <a:t>整体设计</a:t>
              </a:r>
              <a:endParaRPr lang="en-US" sz="2000">
                <a:solidFill>
                  <a:srgbClr val="323232"/>
                </a:solidFill>
                <a:ea typeface="阿里巴巴普惠体 Bold" panose="00020600040101010101" charset="-122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0697" y="322266"/>
            <a:ext cx="1301564" cy="862168"/>
          </a:xfrm>
          <a:custGeom>
            <a:avLst/>
            <a:gdLst/>
            <a:ahLst/>
            <a:cxnLst/>
            <a:rect l="l" t="t" r="r" b="b"/>
            <a:pathLst>
              <a:path w="1301564" h="862168">
                <a:moveTo>
                  <a:pt x="0" y="0"/>
                </a:moveTo>
                <a:lnTo>
                  <a:pt x="1301564" y="0"/>
                </a:lnTo>
                <a:lnTo>
                  <a:pt x="1301564" y="862168"/>
                </a:lnTo>
                <a:lnTo>
                  <a:pt x="0" y="862168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15462761" y="518209"/>
            <a:ext cx="2405360" cy="510491"/>
            <a:chOff x="0" y="0"/>
            <a:chExt cx="3207146" cy="680655"/>
          </a:xfrm>
        </p:grpSpPr>
        <p:grpSp>
          <p:nvGrpSpPr>
            <p:cNvPr id="4" name="Group 4"/>
            <p:cNvGrpSpPr/>
            <p:nvPr/>
          </p:nvGrpSpPr>
          <p:grpSpPr>
            <a:xfrm rot="0">
              <a:off x="0" y="0"/>
              <a:ext cx="453770" cy="680655"/>
              <a:chOff x="0" y="0"/>
              <a:chExt cx="406400" cy="6096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 rot="0">
              <a:off x="1573215" y="0"/>
              <a:ext cx="453770" cy="680655"/>
              <a:chOff x="0" y="0"/>
              <a:chExt cx="406400" cy="6096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0">
              <a:off x="789245" y="0"/>
              <a:ext cx="453770" cy="680655"/>
              <a:chOff x="0" y="0"/>
              <a:chExt cx="406400" cy="6096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0">
              <a:off x="2362459" y="0"/>
              <a:ext cx="453770" cy="680655"/>
              <a:chOff x="0" y="0"/>
              <a:chExt cx="406400" cy="6096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0">
              <a:off x="390917" y="0"/>
              <a:ext cx="453770" cy="680655"/>
              <a:chOff x="0" y="0"/>
              <a:chExt cx="406400" cy="6096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0">
              <a:off x="1964131" y="0"/>
              <a:ext cx="453770" cy="680655"/>
              <a:chOff x="0" y="0"/>
              <a:chExt cx="406400" cy="6096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0">
              <a:off x="1180162" y="0"/>
              <a:ext cx="453770" cy="680655"/>
              <a:chOff x="0" y="0"/>
              <a:chExt cx="406400" cy="6096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 rot="0">
              <a:off x="2753376" y="0"/>
              <a:ext cx="453770" cy="680655"/>
              <a:chOff x="0" y="0"/>
              <a:chExt cx="406400" cy="6096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</p:grpSp>
      <p:grpSp>
        <p:nvGrpSpPr>
          <p:cNvPr id="28" name="Group 28"/>
          <p:cNvGrpSpPr/>
          <p:nvPr/>
        </p:nvGrpSpPr>
        <p:grpSpPr>
          <a:xfrm rot="0">
            <a:off x="339581" y="9258300"/>
            <a:ext cx="2405360" cy="510491"/>
            <a:chOff x="0" y="0"/>
            <a:chExt cx="3207146" cy="680655"/>
          </a:xfrm>
        </p:grpSpPr>
        <p:grpSp>
          <p:nvGrpSpPr>
            <p:cNvPr id="29" name="Group 29"/>
            <p:cNvGrpSpPr/>
            <p:nvPr/>
          </p:nvGrpSpPr>
          <p:grpSpPr>
            <a:xfrm rot="0">
              <a:off x="0" y="0"/>
              <a:ext cx="453770" cy="680655"/>
              <a:chOff x="0" y="0"/>
              <a:chExt cx="406400" cy="6096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 rot="0">
              <a:off x="1573215" y="0"/>
              <a:ext cx="453770" cy="680655"/>
              <a:chOff x="0" y="0"/>
              <a:chExt cx="406400" cy="6096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 rot="0">
              <a:off x="789245" y="0"/>
              <a:ext cx="453770" cy="680655"/>
              <a:chOff x="0" y="0"/>
              <a:chExt cx="406400" cy="6096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 rot="0">
              <a:off x="2362459" y="0"/>
              <a:ext cx="453770" cy="680655"/>
              <a:chOff x="0" y="0"/>
              <a:chExt cx="406400" cy="6096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 rot="0">
              <a:off x="390917" y="0"/>
              <a:ext cx="453770" cy="680655"/>
              <a:chOff x="0" y="0"/>
              <a:chExt cx="406400" cy="6096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 rot="0">
              <a:off x="1964131" y="0"/>
              <a:ext cx="453770" cy="680655"/>
              <a:chOff x="0" y="0"/>
              <a:chExt cx="406400" cy="60960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 rot="0">
              <a:off x="1180162" y="0"/>
              <a:ext cx="453770" cy="680655"/>
              <a:chOff x="0" y="0"/>
              <a:chExt cx="406400" cy="60960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 rot="0">
              <a:off x="2753376" y="0"/>
              <a:ext cx="453770" cy="680655"/>
              <a:chOff x="0" y="0"/>
              <a:chExt cx="406400" cy="60960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</p:grpSp>
      <p:sp>
        <p:nvSpPr>
          <p:cNvPr id="53" name="Freeform 53"/>
          <p:cNvSpPr/>
          <p:nvPr/>
        </p:nvSpPr>
        <p:spPr>
          <a:xfrm>
            <a:off x="1176297" y="2250924"/>
            <a:ext cx="15935407" cy="6632775"/>
          </a:xfrm>
          <a:custGeom>
            <a:avLst/>
            <a:gdLst/>
            <a:ahLst/>
            <a:cxnLst/>
            <a:rect l="l" t="t" r="r" b="b"/>
            <a:pathLst>
              <a:path w="15935407" h="6632775">
                <a:moveTo>
                  <a:pt x="0" y="0"/>
                </a:moveTo>
                <a:lnTo>
                  <a:pt x="15935406" y="0"/>
                </a:lnTo>
                <a:lnTo>
                  <a:pt x="15935406" y="6632774"/>
                </a:lnTo>
                <a:lnTo>
                  <a:pt x="0" y="66327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607"/>
            </a:stretch>
          </a:blipFill>
        </p:spPr>
      </p:sp>
      <p:sp>
        <p:nvSpPr>
          <p:cNvPr id="54" name="TextBox 54"/>
          <p:cNvSpPr txBox="1"/>
          <p:nvPr/>
        </p:nvSpPr>
        <p:spPr>
          <a:xfrm>
            <a:off x="1542261" y="323201"/>
            <a:ext cx="5276322" cy="793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6335"/>
              </a:lnSpc>
              <a:spcBef>
                <a:spcPct val="0"/>
              </a:spcBef>
            </a:pPr>
            <a:r>
              <a:rPr lang="en-US" sz="4800">
                <a:solidFill>
                  <a:srgbClr val="323232"/>
                </a:solidFill>
                <a:latin typeface="字由点字倔强黑" panose="00020600040101010101" charset="-122"/>
                <a:ea typeface="字由点字倔强黑" panose="00020600040101010101" charset="-122"/>
              </a:rPr>
              <a:t>IP颜色选择</a:t>
            </a:r>
            <a:endParaRPr lang="en-US" sz="4800">
              <a:solidFill>
                <a:srgbClr val="323232"/>
              </a:solidFill>
              <a:latin typeface="字由点字倔强黑" panose="00020600040101010101" charset="-122"/>
              <a:ea typeface="字由点字倔强黑" panose="00020600040101010101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0697" y="322266"/>
            <a:ext cx="1301564" cy="862168"/>
          </a:xfrm>
          <a:custGeom>
            <a:avLst/>
            <a:gdLst/>
            <a:ahLst/>
            <a:cxnLst/>
            <a:rect l="l" t="t" r="r" b="b"/>
            <a:pathLst>
              <a:path w="1301564" h="862168">
                <a:moveTo>
                  <a:pt x="0" y="0"/>
                </a:moveTo>
                <a:lnTo>
                  <a:pt x="1301564" y="0"/>
                </a:lnTo>
                <a:lnTo>
                  <a:pt x="1301564" y="862168"/>
                </a:lnTo>
                <a:lnTo>
                  <a:pt x="0" y="862168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15462761" y="518209"/>
            <a:ext cx="2405360" cy="510491"/>
            <a:chOff x="0" y="0"/>
            <a:chExt cx="3207146" cy="680655"/>
          </a:xfrm>
        </p:grpSpPr>
        <p:grpSp>
          <p:nvGrpSpPr>
            <p:cNvPr id="4" name="Group 4"/>
            <p:cNvGrpSpPr/>
            <p:nvPr/>
          </p:nvGrpSpPr>
          <p:grpSpPr>
            <a:xfrm rot="0">
              <a:off x="0" y="0"/>
              <a:ext cx="453770" cy="680655"/>
              <a:chOff x="0" y="0"/>
              <a:chExt cx="406400" cy="6096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 rot="0">
              <a:off x="1573215" y="0"/>
              <a:ext cx="453770" cy="680655"/>
              <a:chOff x="0" y="0"/>
              <a:chExt cx="406400" cy="6096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0">
              <a:off x="789245" y="0"/>
              <a:ext cx="453770" cy="680655"/>
              <a:chOff x="0" y="0"/>
              <a:chExt cx="406400" cy="6096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0">
              <a:off x="2362459" y="0"/>
              <a:ext cx="453770" cy="680655"/>
              <a:chOff x="0" y="0"/>
              <a:chExt cx="406400" cy="6096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0">
              <a:off x="390917" y="0"/>
              <a:ext cx="453770" cy="680655"/>
              <a:chOff x="0" y="0"/>
              <a:chExt cx="406400" cy="6096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0">
              <a:off x="1964131" y="0"/>
              <a:ext cx="453770" cy="680655"/>
              <a:chOff x="0" y="0"/>
              <a:chExt cx="406400" cy="6096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0">
              <a:off x="1180162" y="0"/>
              <a:ext cx="453770" cy="680655"/>
              <a:chOff x="0" y="0"/>
              <a:chExt cx="406400" cy="6096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 rot="0">
              <a:off x="2753376" y="0"/>
              <a:ext cx="453770" cy="680655"/>
              <a:chOff x="0" y="0"/>
              <a:chExt cx="406400" cy="6096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</p:grpSp>
      <p:grpSp>
        <p:nvGrpSpPr>
          <p:cNvPr id="28" name="Group 28"/>
          <p:cNvGrpSpPr/>
          <p:nvPr/>
        </p:nvGrpSpPr>
        <p:grpSpPr>
          <a:xfrm rot="0">
            <a:off x="339581" y="9258300"/>
            <a:ext cx="2405360" cy="510491"/>
            <a:chOff x="0" y="0"/>
            <a:chExt cx="3207146" cy="680655"/>
          </a:xfrm>
        </p:grpSpPr>
        <p:grpSp>
          <p:nvGrpSpPr>
            <p:cNvPr id="29" name="Group 29"/>
            <p:cNvGrpSpPr/>
            <p:nvPr/>
          </p:nvGrpSpPr>
          <p:grpSpPr>
            <a:xfrm rot="0">
              <a:off x="0" y="0"/>
              <a:ext cx="453770" cy="680655"/>
              <a:chOff x="0" y="0"/>
              <a:chExt cx="406400" cy="6096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 rot="0">
              <a:off x="1573215" y="0"/>
              <a:ext cx="453770" cy="680655"/>
              <a:chOff x="0" y="0"/>
              <a:chExt cx="406400" cy="6096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 rot="0">
              <a:off x="789245" y="0"/>
              <a:ext cx="453770" cy="680655"/>
              <a:chOff x="0" y="0"/>
              <a:chExt cx="406400" cy="6096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 rot="0">
              <a:off x="2362459" y="0"/>
              <a:ext cx="453770" cy="680655"/>
              <a:chOff x="0" y="0"/>
              <a:chExt cx="406400" cy="6096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 rot="0">
              <a:off x="390917" y="0"/>
              <a:ext cx="453770" cy="680655"/>
              <a:chOff x="0" y="0"/>
              <a:chExt cx="406400" cy="6096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 rot="0">
              <a:off x="1964131" y="0"/>
              <a:ext cx="453770" cy="680655"/>
              <a:chOff x="0" y="0"/>
              <a:chExt cx="406400" cy="60960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 rot="0">
              <a:off x="1180162" y="0"/>
              <a:ext cx="453770" cy="680655"/>
              <a:chOff x="0" y="0"/>
              <a:chExt cx="406400" cy="60960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 rot="0">
              <a:off x="2753376" y="0"/>
              <a:ext cx="453770" cy="680655"/>
              <a:chOff x="0" y="0"/>
              <a:chExt cx="406400" cy="60960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</p:grpSp>
      <p:sp>
        <p:nvSpPr>
          <p:cNvPr id="53" name="Freeform 53"/>
          <p:cNvSpPr/>
          <p:nvPr/>
        </p:nvSpPr>
        <p:spPr>
          <a:xfrm rot="-5400000">
            <a:off x="6009680" y="-4627893"/>
            <a:ext cx="7679159" cy="19698519"/>
          </a:xfrm>
          <a:custGeom>
            <a:avLst/>
            <a:gdLst/>
            <a:ahLst/>
            <a:cxnLst/>
            <a:rect l="l" t="t" r="r" b="b"/>
            <a:pathLst>
              <a:path w="7679159" h="19698519">
                <a:moveTo>
                  <a:pt x="0" y="0"/>
                </a:moveTo>
                <a:lnTo>
                  <a:pt x="7679159" y="0"/>
                </a:lnTo>
                <a:lnTo>
                  <a:pt x="7679159" y="19698519"/>
                </a:lnTo>
                <a:lnTo>
                  <a:pt x="0" y="196985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4000"/>
            </a:blip>
            <a:stretch>
              <a:fillRect l="-14129" r="-14129"/>
            </a:stretch>
          </a:blipFill>
        </p:spPr>
      </p:sp>
      <p:sp>
        <p:nvSpPr>
          <p:cNvPr id="54" name="Freeform 54"/>
          <p:cNvSpPr/>
          <p:nvPr/>
        </p:nvSpPr>
        <p:spPr>
          <a:xfrm>
            <a:off x="5145676" y="1818714"/>
            <a:ext cx="13596293" cy="6996426"/>
          </a:xfrm>
          <a:custGeom>
            <a:avLst/>
            <a:gdLst/>
            <a:ahLst/>
            <a:cxnLst/>
            <a:rect l="l" t="t" r="r" b="b"/>
            <a:pathLst>
              <a:path w="13596293" h="6996426">
                <a:moveTo>
                  <a:pt x="0" y="0"/>
                </a:moveTo>
                <a:lnTo>
                  <a:pt x="13596293" y="0"/>
                </a:lnTo>
                <a:lnTo>
                  <a:pt x="13596293" y="6996426"/>
                </a:lnTo>
                <a:lnTo>
                  <a:pt x="0" y="69964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5" name="Freeform 55"/>
          <p:cNvSpPr/>
          <p:nvPr/>
        </p:nvSpPr>
        <p:spPr>
          <a:xfrm>
            <a:off x="1034135" y="1506184"/>
            <a:ext cx="5028155" cy="7308956"/>
          </a:xfrm>
          <a:custGeom>
            <a:avLst/>
            <a:gdLst/>
            <a:ahLst/>
            <a:cxnLst/>
            <a:rect l="l" t="t" r="r" b="b"/>
            <a:pathLst>
              <a:path w="5028155" h="7308956">
                <a:moveTo>
                  <a:pt x="0" y="0"/>
                </a:moveTo>
                <a:lnTo>
                  <a:pt x="5028156" y="0"/>
                </a:lnTo>
                <a:lnTo>
                  <a:pt x="5028156" y="7308956"/>
                </a:lnTo>
                <a:lnTo>
                  <a:pt x="0" y="73089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5615" t="-7132" r="-29275" b="-19720"/>
            </a:stretch>
          </a:blipFill>
        </p:spPr>
      </p:sp>
      <p:sp>
        <p:nvSpPr>
          <p:cNvPr id="56" name="TextBox 56"/>
          <p:cNvSpPr txBox="1"/>
          <p:nvPr/>
        </p:nvSpPr>
        <p:spPr>
          <a:xfrm>
            <a:off x="1542261" y="323201"/>
            <a:ext cx="5276322" cy="793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6335"/>
              </a:lnSpc>
              <a:spcBef>
                <a:spcPct val="0"/>
              </a:spcBef>
            </a:pPr>
            <a:r>
              <a:rPr lang="en-US" sz="4800">
                <a:solidFill>
                  <a:srgbClr val="323232"/>
                </a:solidFill>
                <a:ea typeface="字由点字倔强黑" panose="00020600040101010101" charset="-122"/>
              </a:rPr>
              <a:t>三视图</a:t>
            </a:r>
            <a:endParaRPr lang="en-US" sz="4800">
              <a:solidFill>
                <a:srgbClr val="323232"/>
              </a:solidFill>
              <a:ea typeface="字由点字倔强黑" panose="00020600040101010101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0697" y="322266"/>
            <a:ext cx="1301564" cy="862168"/>
          </a:xfrm>
          <a:custGeom>
            <a:avLst/>
            <a:gdLst/>
            <a:ahLst/>
            <a:cxnLst/>
            <a:rect l="l" t="t" r="r" b="b"/>
            <a:pathLst>
              <a:path w="1301564" h="862168">
                <a:moveTo>
                  <a:pt x="0" y="0"/>
                </a:moveTo>
                <a:lnTo>
                  <a:pt x="1301564" y="0"/>
                </a:lnTo>
                <a:lnTo>
                  <a:pt x="1301564" y="862168"/>
                </a:lnTo>
                <a:lnTo>
                  <a:pt x="0" y="862168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15462761" y="518209"/>
            <a:ext cx="2405360" cy="510491"/>
            <a:chOff x="0" y="0"/>
            <a:chExt cx="3207146" cy="680655"/>
          </a:xfrm>
        </p:grpSpPr>
        <p:grpSp>
          <p:nvGrpSpPr>
            <p:cNvPr id="4" name="Group 4"/>
            <p:cNvGrpSpPr/>
            <p:nvPr/>
          </p:nvGrpSpPr>
          <p:grpSpPr>
            <a:xfrm rot="0">
              <a:off x="0" y="0"/>
              <a:ext cx="453770" cy="680655"/>
              <a:chOff x="0" y="0"/>
              <a:chExt cx="406400" cy="6096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 rot="0">
              <a:off x="1573215" y="0"/>
              <a:ext cx="453770" cy="680655"/>
              <a:chOff x="0" y="0"/>
              <a:chExt cx="406400" cy="6096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0">
              <a:off x="789245" y="0"/>
              <a:ext cx="453770" cy="680655"/>
              <a:chOff x="0" y="0"/>
              <a:chExt cx="406400" cy="6096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0">
              <a:off x="2362459" y="0"/>
              <a:ext cx="453770" cy="680655"/>
              <a:chOff x="0" y="0"/>
              <a:chExt cx="406400" cy="6096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0">
              <a:off x="390917" y="0"/>
              <a:ext cx="453770" cy="680655"/>
              <a:chOff x="0" y="0"/>
              <a:chExt cx="406400" cy="6096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0">
              <a:off x="1964131" y="0"/>
              <a:ext cx="453770" cy="680655"/>
              <a:chOff x="0" y="0"/>
              <a:chExt cx="406400" cy="6096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0">
              <a:off x="1180162" y="0"/>
              <a:ext cx="453770" cy="680655"/>
              <a:chOff x="0" y="0"/>
              <a:chExt cx="406400" cy="6096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 rot="0">
              <a:off x="2753376" y="0"/>
              <a:ext cx="453770" cy="680655"/>
              <a:chOff x="0" y="0"/>
              <a:chExt cx="406400" cy="6096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</p:grpSp>
      <p:grpSp>
        <p:nvGrpSpPr>
          <p:cNvPr id="28" name="Group 28"/>
          <p:cNvGrpSpPr/>
          <p:nvPr/>
        </p:nvGrpSpPr>
        <p:grpSpPr>
          <a:xfrm rot="0">
            <a:off x="339581" y="9258300"/>
            <a:ext cx="2405360" cy="510491"/>
            <a:chOff x="0" y="0"/>
            <a:chExt cx="3207146" cy="680655"/>
          </a:xfrm>
        </p:grpSpPr>
        <p:grpSp>
          <p:nvGrpSpPr>
            <p:cNvPr id="29" name="Group 29"/>
            <p:cNvGrpSpPr/>
            <p:nvPr/>
          </p:nvGrpSpPr>
          <p:grpSpPr>
            <a:xfrm rot="0">
              <a:off x="0" y="0"/>
              <a:ext cx="453770" cy="680655"/>
              <a:chOff x="0" y="0"/>
              <a:chExt cx="406400" cy="6096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 rot="0">
              <a:off x="1573215" y="0"/>
              <a:ext cx="453770" cy="680655"/>
              <a:chOff x="0" y="0"/>
              <a:chExt cx="406400" cy="6096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 rot="0">
              <a:off x="789245" y="0"/>
              <a:ext cx="453770" cy="680655"/>
              <a:chOff x="0" y="0"/>
              <a:chExt cx="406400" cy="6096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 rot="0">
              <a:off x="2362459" y="0"/>
              <a:ext cx="453770" cy="680655"/>
              <a:chOff x="0" y="0"/>
              <a:chExt cx="406400" cy="6096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 rot="0">
              <a:off x="390917" y="0"/>
              <a:ext cx="453770" cy="680655"/>
              <a:chOff x="0" y="0"/>
              <a:chExt cx="406400" cy="6096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 rot="0">
              <a:off x="1964131" y="0"/>
              <a:ext cx="453770" cy="680655"/>
              <a:chOff x="0" y="0"/>
              <a:chExt cx="406400" cy="60960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 rot="0">
              <a:off x="1180162" y="0"/>
              <a:ext cx="453770" cy="680655"/>
              <a:chOff x="0" y="0"/>
              <a:chExt cx="406400" cy="60960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 rot="0">
              <a:off x="2753376" y="0"/>
              <a:ext cx="453770" cy="680655"/>
              <a:chOff x="0" y="0"/>
              <a:chExt cx="406400" cy="60960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</p:grpSp>
      <p:sp>
        <p:nvSpPr>
          <p:cNvPr id="53" name="Freeform 53"/>
          <p:cNvSpPr/>
          <p:nvPr/>
        </p:nvSpPr>
        <p:spPr>
          <a:xfrm rot="-5400000">
            <a:off x="6009680" y="-4627893"/>
            <a:ext cx="7679159" cy="19698519"/>
          </a:xfrm>
          <a:custGeom>
            <a:avLst/>
            <a:gdLst/>
            <a:ahLst/>
            <a:cxnLst/>
            <a:rect l="l" t="t" r="r" b="b"/>
            <a:pathLst>
              <a:path w="7679159" h="19698519">
                <a:moveTo>
                  <a:pt x="0" y="0"/>
                </a:moveTo>
                <a:lnTo>
                  <a:pt x="7679159" y="0"/>
                </a:lnTo>
                <a:lnTo>
                  <a:pt x="7679159" y="19698519"/>
                </a:lnTo>
                <a:lnTo>
                  <a:pt x="0" y="196985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4000"/>
            </a:blip>
            <a:stretch>
              <a:fillRect l="-14129" r="-14129"/>
            </a:stretch>
          </a:blipFill>
        </p:spPr>
      </p:sp>
      <p:sp>
        <p:nvSpPr>
          <p:cNvPr id="54" name="Freeform 54"/>
          <p:cNvSpPr/>
          <p:nvPr/>
        </p:nvSpPr>
        <p:spPr>
          <a:xfrm>
            <a:off x="1314696" y="2269493"/>
            <a:ext cx="15658608" cy="5748014"/>
          </a:xfrm>
          <a:custGeom>
            <a:avLst/>
            <a:gdLst/>
            <a:ahLst/>
            <a:cxnLst/>
            <a:rect l="l" t="t" r="r" b="b"/>
            <a:pathLst>
              <a:path w="15658608" h="5748014">
                <a:moveTo>
                  <a:pt x="0" y="0"/>
                </a:moveTo>
                <a:lnTo>
                  <a:pt x="15658608" y="0"/>
                </a:lnTo>
                <a:lnTo>
                  <a:pt x="15658608" y="5748014"/>
                </a:lnTo>
                <a:lnTo>
                  <a:pt x="0" y="57480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5" name="TextBox 55"/>
          <p:cNvSpPr txBox="1"/>
          <p:nvPr/>
        </p:nvSpPr>
        <p:spPr>
          <a:xfrm>
            <a:off x="1542261" y="323201"/>
            <a:ext cx="7800278" cy="793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6335"/>
              </a:lnSpc>
              <a:spcBef>
                <a:spcPct val="0"/>
              </a:spcBef>
            </a:pPr>
            <a:r>
              <a:rPr lang="en-US" sz="4800">
                <a:solidFill>
                  <a:srgbClr val="323232"/>
                </a:solidFill>
                <a:ea typeface="字由点字倔强黑" panose="00020600040101010101" charset="-122"/>
              </a:rPr>
              <a:t>萌宠方向一：融入</a:t>
            </a:r>
            <a:endParaRPr lang="en-US" sz="4800">
              <a:solidFill>
                <a:srgbClr val="323232"/>
              </a:solidFill>
              <a:ea typeface="字由点字倔强黑" panose="00020600040101010101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0697" y="322266"/>
            <a:ext cx="1301564" cy="862168"/>
          </a:xfrm>
          <a:custGeom>
            <a:avLst/>
            <a:gdLst/>
            <a:ahLst/>
            <a:cxnLst/>
            <a:rect l="l" t="t" r="r" b="b"/>
            <a:pathLst>
              <a:path w="1301564" h="862168">
                <a:moveTo>
                  <a:pt x="0" y="0"/>
                </a:moveTo>
                <a:lnTo>
                  <a:pt x="1301564" y="0"/>
                </a:lnTo>
                <a:lnTo>
                  <a:pt x="1301564" y="862168"/>
                </a:lnTo>
                <a:lnTo>
                  <a:pt x="0" y="862168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15462761" y="518209"/>
            <a:ext cx="2405360" cy="510491"/>
            <a:chOff x="0" y="0"/>
            <a:chExt cx="3207146" cy="680655"/>
          </a:xfrm>
        </p:grpSpPr>
        <p:grpSp>
          <p:nvGrpSpPr>
            <p:cNvPr id="4" name="Group 4"/>
            <p:cNvGrpSpPr/>
            <p:nvPr/>
          </p:nvGrpSpPr>
          <p:grpSpPr>
            <a:xfrm rot="0">
              <a:off x="0" y="0"/>
              <a:ext cx="453770" cy="680655"/>
              <a:chOff x="0" y="0"/>
              <a:chExt cx="406400" cy="6096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 rot="0">
              <a:off x="1573215" y="0"/>
              <a:ext cx="453770" cy="680655"/>
              <a:chOff x="0" y="0"/>
              <a:chExt cx="406400" cy="6096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0">
              <a:off x="789245" y="0"/>
              <a:ext cx="453770" cy="680655"/>
              <a:chOff x="0" y="0"/>
              <a:chExt cx="406400" cy="6096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0">
              <a:off x="2362459" y="0"/>
              <a:ext cx="453770" cy="680655"/>
              <a:chOff x="0" y="0"/>
              <a:chExt cx="406400" cy="6096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0">
              <a:off x="390917" y="0"/>
              <a:ext cx="453770" cy="680655"/>
              <a:chOff x="0" y="0"/>
              <a:chExt cx="406400" cy="6096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0">
              <a:off x="1964131" y="0"/>
              <a:ext cx="453770" cy="680655"/>
              <a:chOff x="0" y="0"/>
              <a:chExt cx="406400" cy="6096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0">
              <a:off x="1180162" y="0"/>
              <a:ext cx="453770" cy="680655"/>
              <a:chOff x="0" y="0"/>
              <a:chExt cx="406400" cy="6096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 rot="0">
              <a:off x="2753376" y="0"/>
              <a:ext cx="453770" cy="680655"/>
              <a:chOff x="0" y="0"/>
              <a:chExt cx="406400" cy="6096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</p:grpSp>
      <p:grpSp>
        <p:nvGrpSpPr>
          <p:cNvPr id="28" name="Group 28"/>
          <p:cNvGrpSpPr/>
          <p:nvPr/>
        </p:nvGrpSpPr>
        <p:grpSpPr>
          <a:xfrm rot="0">
            <a:off x="339581" y="9258300"/>
            <a:ext cx="2405360" cy="510491"/>
            <a:chOff x="0" y="0"/>
            <a:chExt cx="3207146" cy="680655"/>
          </a:xfrm>
        </p:grpSpPr>
        <p:grpSp>
          <p:nvGrpSpPr>
            <p:cNvPr id="29" name="Group 29"/>
            <p:cNvGrpSpPr/>
            <p:nvPr/>
          </p:nvGrpSpPr>
          <p:grpSpPr>
            <a:xfrm rot="0">
              <a:off x="0" y="0"/>
              <a:ext cx="453770" cy="680655"/>
              <a:chOff x="0" y="0"/>
              <a:chExt cx="406400" cy="6096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 rot="0">
              <a:off x="1573215" y="0"/>
              <a:ext cx="453770" cy="680655"/>
              <a:chOff x="0" y="0"/>
              <a:chExt cx="406400" cy="6096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 rot="0">
              <a:off x="789245" y="0"/>
              <a:ext cx="453770" cy="680655"/>
              <a:chOff x="0" y="0"/>
              <a:chExt cx="406400" cy="6096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 rot="0">
              <a:off x="2362459" y="0"/>
              <a:ext cx="453770" cy="680655"/>
              <a:chOff x="0" y="0"/>
              <a:chExt cx="406400" cy="6096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 rot="0">
              <a:off x="390917" y="0"/>
              <a:ext cx="453770" cy="680655"/>
              <a:chOff x="0" y="0"/>
              <a:chExt cx="406400" cy="6096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 rot="0">
              <a:off x="1964131" y="0"/>
              <a:ext cx="453770" cy="680655"/>
              <a:chOff x="0" y="0"/>
              <a:chExt cx="406400" cy="60960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 rot="0">
              <a:off x="1180162" y="0"/>
              <a:ext cx="453770" cy="680655"/>
              <a:chOff x="0" y="0"/>
              <a:chExt cx="406400" cy="60960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 rot="0">
              <a:off x="2753376" y="0"/>
              <a:ext cx="453770" cy="680655"/>
              <a:chOff x="0" y="0"/>
              <a:chExt cx="406400" cy="60960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</p:grpSp>
      <p:sp>
        <p:nvSpPr>
          <p:cNvPr id="53" name="Freeform 53"/>
          <p:cNvSpPr/>
          <p:nvPr/>
        </p:nvSpPr>
        <p:spPr>
          <a:xfrm rot="-5400000">
            <a:off x="6009680" y="-4627893"/>
            <a:ext cx="7679159" cy="19698519"/>
          </a:xfrm>
          <a:custGeom>
            <a:avLst/>
            <a:gdLst/>
            <a:ahLst/>
            <a:cxnLst/>
            <a:rect l="l" t="t" r="r" b="b"/>
            <a:pathLst>
              <a:path w="7679159" h="19698519">
                <a:moveTo>
                  <a:pt x="0" y="0"/>
                </a:moveTo>
                <a:lnTo>
                  <a:pt x="7679159" y="0"/>
                </a:lnTo>
                <a:lnTo>
                  <a:pt x="7679159" y="19698519"/>
                </a:lnTo>
                <a:lnTo>
                  <a:pt x="0" y="196985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4000"/>
            </a:blip>
            <a:stretch>
              <a:fillRect l="-14129" r="-14129"/>
            </a:stretch>
          </a:blipFill>
        </p:spPr>
      </p:sp>
      <p:sp>
        <p:nvSpPr>
          <p:cNvPr id="54" name="Freeform 54"/>
          <p:cNvSpPr/>
          <p:nvPr/>
        </p:nvSpPr>
        <p:spPr>
          <a:xfrm>
            <a:off x="1028700" y="2117702"/>
            <a:ext cx="16909866" cy="6207330"/>
          </a:xfrm>
          <a:custGeom>
            <a:avLst/>
            <a:gdLst/>
            <a:ahLst/>
            <a:cxnLst/>
            <a:rect l="l" t="t" r="r" b="b"/>
            <a:pathLst>
              <a:path w="16909866" h="6207330">
                <a:moveTo>
                  <a:pt x="0" y="0"/>
                </a:moveTo>
                <a:lnTo>
                  <a:pt x="16909866" y="0"/>
                </a:lnTo>
                <a:lnTo>
                  <a:pt x="16909866" y="6207330"/>
                </a:lnTo>
                <a:lnTo>
                  <a:pt x="0" y="62073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5" name="TextBox 55"/>
          <p:cNvSpPr txBox="1"/>
          <p:nvPr/>
        </p:nvSpPr>
        <p:spPr>
          <a:xfrm>
            <a:off x="1542261" y="323201"/>
            <a:ext cx="5276322" cy="1593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335"/>
              </a:lnSpc>
            </a:pPr>
            <a:r>
              <a:rPr lang="en-US" sz="4800">
                <a:solidFill>
                  <a:srgbClr val="323232"/>
                </a:solidFill>
                <a:ea typeface="字由点字倔强黑" panose="00020600040101010101" charset="-122"/>
              </a:rPr>
              <a:t>萌宠方向二：跟宠</a:t>
            </a:r>
            <a:endParaRPr lang="en-US" sz="4800">
              <a:solidFill>
                <a:srgbClr val="323232"/>
              </a:solidFill>
              <a:ea typeface="字由点字倔强黑" panose="00020600040101010101" charset="-122"/>
            </a:endParaRPr>
          </a:p>
          <a:p>
            <a:pPr marL="0" lvl="0" indent="0">
              <a:lnSpc>
                <a:spcPts val="6335"/>
              </a:lnSpc>
              <a:spcBef>
                <a:spcPct val="0"/>
              </a:spcBef>
            </a:pPr>
          </a:p>
        </p:txBody>
      </p:sp>
      <p:sp>
        <p:nvSpPr>
          <p:cNvPr id="56" name="TextBox 56"/>
          <p:cNvSpPr txBox="1"/>
          <p:nvPr/>
        </p:nvSpPr>
        <p:spPr>
          <a:xfrm>
            <a:off x="2123563" y="7350271"/>
            <a:ext cx="2268031" cy="556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40"/>
              </a:lnSpc>
              <a:spcBef>
                <a:spcPct val="0"/>
              </a:spcBef>
            </a:pPr>
            <a:r>
              <a:rPr lang="en-US" sz="3025">
                <a:solidFill>
                  <a:srgbClr val="323232"/>
                </a:solidFill>
                <a:ea typeface="阿里巴巴普惠体" panose="00020600040101010101" charset="-122"/>
              </a:rPr>
              <a:t>萌萌（待定）</a:t>
            </a:r>
            <a:endParaRPr lang="en-US" sz="3025">
              <a:solidFill>
                <a:srgbClr val="323232"/>
              </a:solidFill>
              <a:ea typeface="阿里巴巴普惠体" panose="00020600040101010101" charset="-122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5235699" y="7350271"/>
            <a:ext cx="2268031" cy="556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40"/>
              </a:lnSpc>
              <a:spcBef>
                <a:spcPct val="0"/>
              </a:spcBef>
            </a:pPr>
            <a:r>
              <a:rPr lang="en-US" sz="3025">
                <a:solidFill>
                  <a:srgbClr val="323232"/>
                </a:solidFill>
                <a:ea typeface="阿里巴巴普惠体" panose="00020600040101010101" charset="-122"/>
              </a:rPr>
              <a:t>甜甜（待定）</a:t>
            </a:r>
            <a:endParaRPr lang="en-US" sz="3025">
              <a:solidFill>
                <a:srgbClr val="323232"/>
              </a:solidFill>
              <a:ea typeface="阿里巴巴普惠体" panose="00020600040101010101" charset="-122"/>
            </a:endParaRPr>
          </a:p>
        </p:txBody>
      </p:sp>
      <p:sp>
        <p:nvSpPr>
          <p:cNvPr id="58" name="TextBox 58"/>
          <p:cNvSpPr txBox="1"/>
          <p:nvPr/>
        </p:nvSpPr>
        <p:spPr>
          <a:xfrm>
            <a:off x="8017673" y="7350271"/>
            <a:ext cx="2268031" cy="556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40"/>
              </a:lnSpc>
              <a:spcBef>
                <a:spcPct val="0"/>
              </a:spcBef>
            </a:pPr>
            <a:r>
              <a:rPr lang="en-US" sz="3025">
                <a:solidFill>
                  <a:srgbClr val="323232"/>
                </a:solidFill>
                <a:ea typeface="阿里巴巴普惠体" panose="00020600040101010101" charset="-122"/>
              </a:rPr>
              <a:t>毛毛（待定）</a:t>
            </a:r>
            <a:endParaRPr lang="en-US" sz="3025">
              <a:solidFill>
                <a:srgbClr val="323232"/>
              </a:solidFill>
              <a:ea typeface="阿里巴巴普惠体" panose="00020600040101010101" charset="-122"/>
            </a:endParaRPr>
          </a:p>
        </p:txBody>
      </p:sp>
      <p:sp>
        <p:nvSpPr>
          <p:cNvPr id="59" name="TextBox 59"/>
          <p:cNvSpPr txBox="1"/>
          <p:nvPr/>
        </p:nvSpPr>
        <p:spPr>
          <a:xfrm>
            <a:off x="10800054" y="7350040"/>
            <a:ext cx="2269164" cy="556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40"/>
              </a:lnSpc>
              <a:spcBef>
                <a:spcPct val="0"/>
              </a:spcBef>
            </a:pPr>
            <a:r>
              <a:rPr lang="en-US" sz="3025">
                <a:solidFill>
                  <a:srgbClr val="323232"/>
                </a:solidFill>
                <a:ea typeface="阿里巴巴普惠体" panose="00020600040101010101" charset="-122"/>
              </a:rPr>
              <a:t>叮叮（待定）</a:t>
            </a:r>
            <a:endParaRPr lang="en-US" sz="3025">
              <a:solidFill>
                <a:srgbClr val="323232"/>
              </a:solidFill>
              <a:ea typeface="阿里巴巴普惠体" panose="00020600040101010101" charset="-122"/>
            </a:endParaRPr>
          </a:p>
        </p:txBody>
      </p:sp>
      <p:sp>
        <p:nvSpPr>
          <p:cNvPr id="60" name="TextBox 60"/>
          <p:cNvSpPr txBox="1"/>
          <p:nvPr/>
        </p:nvSpPr>
        <p:spPr>
          <a:xfrm>
            <a:off x="13916943" y="7350040"/>
            <a:ext cx="2269164" cy="556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40"/>
              </a:lnSpc>
              <a:spcBef>
                <a:spcPct val="0"/>
              </a:spcBef>
            </a:pPr>
            <a:r>
              <a:rPr lang="en-US" sz="3025">
                <a:solidFill>
                  <a:srgbClr val="323232"/>
                </a:solidFill>
                <a:ea typeface="阿里巴巴普惠体" panose="00020600040101010101" charset="-122"/>
              </a:rPr>
              <a:t>咚咚（待定）</a:t>
            </a:r>
            <a:endParaRPr lang="en-US" sz="3025">
              <a:solidFill>
                <a:srgbClr val="323232"/>
              </a:solidFill>
              <a:ea typeface="阿里巴巴普惠体" panose="00020600040101010101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0697" y="322266"/>
            <a:ext cx="1301564" cy="862168"/>
          </a:xfrm>
          <a:custGeom>
            <a:avLst/>
            <a:gdLst/>
            <a:ahLst/>
            <a:cxnLst/>
            <a:rect l="l" t="t" r="r" b="b"/>
            <a:pathLst>
              <a:path w="1301564" h="862168">
                <a:moveTo>
                  <a:pt x="0" y="0"/>
                </a:moveTo>
                <a:lnTo>
                  <a:pt x="1301564" y="0"/>
                </a:lnTo>
                <a:lnTo>
                  <a:pt x="1301564" y="862168"/>
                </a:lnTo>
                <a:lnTo>
                  <a:pt x="0" y="862168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293003" y="4226463"/>
            <a:ext cx="14976002" cy="5497441"/>
          </a:xfrm>
          <a:custGeom>
            <a:avLst/>
            <a:gdLst/>
            <a:ahLst/>
            <a:cxnLst/>
            <a:rect l="l" t="t" r="r" b="b"/>
            <a:pathLst>
              <a:path w="14976002" h="5497441">
                <a:moveTo>
                  <a:pt x="0" y="0"/>
                </a:moveTo>
                <a:lnTo>
                  <a:pt x="14976001" y="0"/>
                </a:lnTo>
                <a:lnTo>
                  <a:pt x="14976001" y="5497441"/>
                </a:lnTo>
                <a:lnTo>
                  <a:pt x="0" y="54974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568492" y="1334860"/>
            <a:ext cx="7717490" cy="8952140"/>
          </a:xfrm>
          <a:custGeom>
            <a:avLst/>
            <a:gdLst/>
            <a:ahLst/>
            <a:cxnLst/>
            <a:rect l="l" t="t" r="r" b="b"/>
            <a:pathLst>
              <a:path w="7717490" h="8952140">
                <a:moveTo>
                  <a:pt x="0" y="0"/>
                </a:moveTo>
                <a:lnTo>
                  <a:pt x="7717491" y="0"/>
                </a:lnTo>
                <a:lnTo>
                  <a:pt x="7717491" y="8952140"/>
                </a:lnTo>
                <a:lnTo>
                  <a:pt x="0" y="89521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0697" y="322266"/>
            <a:ext cx="1301564" cy="862168"/>
          </a:xfrm>
          <a:custGeom>
            <a:avLst/>
            <a:gdLst/>
            <a:ahLst/>
            <a:cxnLst/>
            <a:rect l="l" t="t" r="r" b="b"/>
            <a:pathLst>
              <a:path w="1301564" h="862168">
                <a:moveTo>
                  <a:pt x="0" y="0"/>
                </a:moveTo>
                <a:lnTo>
                  <a:pt x="1301564" y="0"/>
                </a:lnTo>
                <a:lnTo>
                  <a:pt x="1301564" y="862168"/>
                </a:lnTo>
                <a:lnTo>
                  <a:pt x="0" y="862168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339581" y="9258300"/>
            <a:ext cx="2405360" cy="510491"/>
            <a:chOff x="0" y="0"/>
            <a:chExt cx="3207146" cy="680655"/>
          </a:xfrm>
        </p:grpSpPr>
        <p:grpSp>
          <p:nvGrpSpPr>
            <p:cNvPr id="4" name="Group 4"/>
            <p:cNvGrpSpPr/>
            <p:nvPr/>
          </p:nvGrpSpPr>
          <p:grpSpPr>
            <a:xfrm rot="0">
              <a:off x="0" y="0"/>
              <a:ext cx="453770" cy="680655"/>
              <a:chOff x="0" y="0"/>
              <a:chExt cx="406400" cy="6096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 rot="0">
              <a:off x="1573215" y="0"/>
              <a:ext cx="453770" cy="680655"/>
              <a:chOff x="0" y="0"/>
              <a:chExt cx="406400" cy="6096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0">
              <a:off x="789245" y="0"/>
              <a:ext cx="453770" cy="680655"/>
              <a:chOff x="0" y="0"/>
              <a:chExt cx="406400" cy="6096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0">
              <a:off x="2362459" y="0"/>
              <a:ext cx="453770" cy="680655"/>
              <a:chOff x="0" y="0"/>
              <a:chExt cx="406400" cy="6096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0">
              <a:off x="390917" y="0"/>
              <a:ext cx="453770" cy="680655"/>
              <a:chOff x="0" y="0"/>
              <a:chExt cx="406400" cy="6096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0">
              <a:off x="1964131" y="0"/>
              <a:ext cx="453770" cy="680655"/>
              <a:chOff x="0" y="0"/>
              <a:chExt cx="406400" cy="6096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0">
              <a:off x="1180162" y="0"/>
              <a:ext cx="453770" cy="680655"/>
              <a:chOff x="0" y="0"/>
              <a:chExt cx="406400" cy="6096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 rot="0">
              <a:off x="2753376" y="0"/>
              <a:ext cx="453770" cy="680655"/>
              <a:chOff x="0" y="0"/>
              <a:chExt cx="406400" cy="6096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</p:grpSp>
      <p:sp>
        <p:nvSpPr>
          <p:cNvPr id="28" name="Freeform 28"/>
          <p:cNvSpPr/>
          <p:nvPr/>
        </p:nvSpPr>
        <p:spPr>
          <a:xfrm>
            <a:off x="1542261" y="753350"/>
            <a:ext cx="14504486" cy="8504950"/>
          </a:xfrm>
          <a:custGeom>
            <a:avLst/>
            <a:gdLst/>
            <a:ahLst/>
            <a:cxnLst/>
            <a:rect l="l" t="t" r="r" b="b"/>
            <a:pathLst>
              <a:path w="14504486" h="8504950">
                <a:moveTo>
                  <a:pt x="0" y="0"/>
                </a:moveTo>
                <a:lnTo>
                  <a:pt x="14504485" y="0"/>
                </a:lnTo>
                <a:lnTo>
                  <a:pt x="14504485" y="8504950"/>
                </a:lnTo>
                <a:lnTo>
                  <a:pt x="0" y="8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 rot="2630810">
            <a:off x="12985853" y="6626914"/>
            <a:ext cx="9486219" cy="6283754"/>
          </a:xfrm>
          <a:custGeom>
            <a:avLst/>
            <a:gdLst/>
            <a:ahLst/>
            <a:cxnLst/>
            <a:rect l="l" t="t" r="r" b="b"/>
            <a:pathLst>
              <a:path w="9486219" h="6283754">
                <a:moveTo>
                  <a:pt x="0" y="0"/>
                </a:moveTo>
                <a:lnTo>
                  <a:pt x="9486219" y="0"/>
                </a:lnTo>
                <a:lnTo>
                  <a:pt x="9486219" y="6283754"/>
                </a:lnTo>
                <a:lnTo>
                  <a:pt x="0" y="628375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1542261" y="323201"/>
            <a:ext cx="5276322" cy="793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6335"/>
              </a:lnSpc>
              <a:spcBef>
                <a:spcPct val="0"/>
              </a:spcBef>
            </a:pPr>
            <a:r>
              <a:rPr lang="en-US" sz="4800">
                <a:solidFill>
                  <a:srgbClr val="323232"/>
                </a:solidFill>
                <a:latin typeface="字由点字倔强黑" panose="00020600040101010101" charset="-122"/>
                <a:ea typeface="字由点字倔强黑" panose="00020600040101010101" charset="-122"/>
              </a:rPr>
              <a:t>3D效果</a:t>
            </a:r>
            <a:endParaRPr lang="en-US" sz="4800">
              <a:solidFill>
                <a:srgbClr val="323232"/>
              </a:solidFill>
              <a:latin typeface="字由点字倔强黑" panose="00020600040101010101" charset="-122"/>
              <a:ea typeface="字由点字倔强黑" panose="00020600040101010101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0697" y="322266"/>
            <a:ext cx="1301564" cy="862168"/>
          </a:xfrm>
          <a:custGeom>
            <a:avLst/>
            <a:gdLst/>
            <a:ahLst/>
            <a:cxnLst/>
            <a:rect l="l" t="t" r="r" b="b"/>
            <a:pathLst>
              <a:path w="1301564" h="862168">
                <a:moveTo>
                  <a:pt x="0" y="0"/>
                </a:moveTo>
                <a:lnTo>
                  <a:pt x="1301564" y="0"/>
                </a:lnTo>
                <a:lnTo>
                  <a:pt x="1301564" y="862168"/>
                </a:lnTo>
                <a:lnTo>
                  <a:pt x="0" y="862168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339581" y="9258300"/>
            <a:ext cx="2405360" cy="510491"/>
            <a:chOff x="0" y="0"/>
            <a:chExt cx="3207146" cy="680655"/>
          </a:xfrm>
        </p:grpSpPr>
        <p:grpSp>
          <p:nvGrpSpPr>
            <p:cNvPr id="4" name="Group 4"/>
            <p:cNvGrpSpPr/>
            <p:nvPr/>
          </p:nvGrpSpPr>
          <p:grpSpPr>
            <a:xfrm rot="0">
              <a:off x="0" y="0"/>
              <a:ext cx="453770" cy="680655"/>
              <a:chOff x="0" y="0"/>
              <a:chExt cx="406400" cy="6096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 rot="0">
              <a:off x="1573215" y="0"/>
              <a:ext cx="453770" cy="680655"/>
              <a:chOff x="0" y="0"/>
              <a:chExt cx="406400" cy="6096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0">
              <a:off x="789245" y="0"/>
              <a:ext cx="453770" cy="680655"/>
              <a:chOff x="0" y="0"/>
              <a:chExt cx="406400" cy="6096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0">
              <a:off x="2362459" y="0"/>
              <a:ext cx="453770" cy="680655"/>
              <a:chOff x="0" y="0"/>
              <a:chExt cx="406400" cy="6096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0">
              <a:off x="390917" y="0"/>
              <a:ext cx="453770" cy="680655"/>
              <a:chOff x="0" y="0"/>
              <a:chExt cx="406400" cy="6096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0">
              <a:off x="1964131" y="0"/>
              <a:ext cx="453770" cy="680655"/>
              <a:chOff x="0" y="0"/>
              <a:chExt cx="406400" cy="6096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0">
              <a:off x="1180162" y="0"/>
              <a:ext cx="453770" cy="680655"/>
              <a:chOff x="0" y="0"/>
              <a:chExt cx="406400" cy="6096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 rot="0">
              <a:off x="2753376" y="0"/>
              <a:ext cx="453770" cy="680655"/>
              <a:chOff x="0" y="0"/>
              <a:chExt cx="406400" cy="6096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</p:grpSp>
      <p:sp>
        <p:nvSpPr>
          <p:cNvPr id="28" name="Freeform 28"/>
          <p:cNvSpPr/>
          <p:nvPr/>
        </p:nvSpPr>
        <p:spPr>
          <a:xfrm>
            <a:off x="1843344" y="773454"/>
            <a:ext cx="14202115" cy="8740091"/>
          </a:xfrm>
          <a:custGeom>
            <a:avLst/>
            <a:gdLst/>
            <a:ahLst/>
            <a:cxnLst/>
            <a:rect l="l" t="t" r="r" b="b"/>
            <a:pathLst>
              <a:path w="14202115" h="8740091">
                <a:moveTo>
                  <a:pt x="0" y="0"/>
                </a:moveTo>
                <a:lnTo>
                  <a:pt x="14202114" y="0"/>
                </a:lnTo>
                <a:lnTo>
                  <a:pt x="14202114" y="8740092"/>
                </a:lnTo>
                <a:lnTo>
                  <a:pt x="0" y="87400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952"/>
            </a:stretch>
          </a:blipFill>
        </p:spPr>
      </p:sp>
      <p:sp>
        <p:nvSpPr>
          <p:cNvPr id="29" name="Freeform 29"/>
          <p:cNvSpPr/>
          <p:nvPr/>
        </p:nvSpPr>
        <p:spPr>
          <a:xfrm rot="2630810" flipH="1">
            <a:off x="-3200848" y="7145123"/>
            <a:ext cx="9486219" cy="6283754"/>
          </a:xfrm>
          <a:custGeom>
            <a:avLst/>
            <a:gdLst/>
            <a:ahLst/>
            <a:cxnLst/>
            <a:rect l="l" t="t" r="r" b="b"/>
            <a:pathLst>
              <a:path w="9486219" h="6283754">
                <a:moveTo>
                  <a:pt x="9486218" y="0"/>
                </a:moveTo>
                <a:lnTo>
                  <a:pt x="0" y="0"/>
                </a:lnTo>
                <a:lnTo>
                  <a:pt x="0" y="6283754"/>
                </a:lnTo>
                <a:lnTo>
                  <a:pt x="9486218" y="6283754"/>
                </a:lnTo>
                <a:lnTo>
                  <a:pt x="9486218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1542261" y="323201"/>
            <a:ext cx="5276322" cy="793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6335"/>
              </a:lnSpc>
              <a:spcBef>
                <a:spcPct val="0"/>
              </a:spcBef>
            </a:pPr>
            <a:r>
              <a:rPr lang="en-US" sz="4800">
                <a:solidFill>
                  <a:srgbClr val="323232"/>
                </a:solidFill>
                <a:latin typeface="字由点字倔强黑" panose="00020600040101010101" charset="-122"/>
                <a:ea typeface="字由点字倔强黑" panose="00020600040101010101" charset="-122"/>
              </a:rPr>
              <a:t>3D效果</a:t>
            </a:r>
            <a:endParaRPr lang="en-US" sz="4800">
              <a:solidFill>
                <a:srgbClr val="323232"/>
              </a:solidFill>
              <a:latin typeface="字由点字倔强黑" panose="00020600040101010101" charset="-122"/>
              <a:ea typeface="字由点字倔强黑" panose="00020600040101010101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894594" y="9258300"/>
            <a:ext cx="2405360" cy="510491"/>
            <a:chOff x="0" y="0"/>
            <a:chExt cx="3207146" cy="680655"/>
          </a:xfrm>
        </p:grpSpPr>
        <p:grpSp>
          <p:nvGrpSpPr>
            <p:cNvPr id="3" name="Group 3"/>
            <p:cNvGrpSpPr/>
            <p:nvPr/>
          </p:nvGrpSpPr>
          <p:grpSpPr>
            <a:xfrm rot="0">
              <a:off x="0" y="0"/>
              <a:ext cx="453770" cy="680655"/>
              <a:chOff x="0" y="0"/>
              <a:chExt cx="406400" cy="6096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 rot="0">
              <a:off x="1573215" y="0"/>
              <a:ext cx="453770" cy="680655"/>
              <a:chOff x="0" y="0"/>
              <a:chExt cx="406400" cy="6096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0">
              <a:off x="789245" y="0"/>
              <a:ext cx="453770" cy="680655"/>
              <a:chOff x="0" y="0"/>
              <a:chExt cx="406400" cy="6096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0">
              <a:off x="2362459" y="0"/>
              <a:ext cx="453770" cy="680655"/>
              <a:chOff x="0" y="0"/>
              <a:chExt cx="406400" cy="6096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0">
              <a:off x="390917" y="0"/>
              <a:ext cx="453770" cy="680655"/>
              <a:chOff x="0" y="0"/>
              <a:chExt cx="406400" cy="6096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 rot="0">
              <a:off x="1964131" y="0"/>
              <a:ext cx="453770" cy="680655"/>
              <a:chOff x="0" y="0"/>
              <a:chExt cx="406400" cy="6096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 rot="0">
              <a:off x="1180162" y="0"/>
              <a:ext cx="453770" cy="680655"/>
              <a:chOff x="0" y="0"/>
              <a:chExt cx="406400" cy="6096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 rot="0">
              <a:off x="2753376" y="0"/>
              <a:ext cx="453770" cy="680655"/>
              <a:chOff x="0" y="0"/>
              <a:chExt cx="406400" cy="6096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</p:grpSp>
      <p:grpSp>
        <p:nvGrpSpPr>
          <p:cNvPr id="27" name="Group 27"/>
          <p:cNvGrpSpPr/>
          <p:nvPr/>
        </p:nvGrpSpPr>
        <p:grpSpPr>
          <a:xfrm rot="0">
            <a:off x="12482404" y="518209"/>
            <a:ext cx="2405360" cy="510491"/>
            <a:chOff x="0" y="0"/>
            <a:chExt cx="3207146" cy="680655"/>
          </a:xfrm>
        </p:grpSpPr>
        <p:grpSp>
          <p:nvGrpSpPr>
            <p:cNvPr id="28" name="Group 28"/>
            <p:cNvGrpSpPr/>
            <p:nvPr/>
          </p:nvGrpSpPr>
          <p:grpSpPr>
            <a:xfrm rot="0">
              <a:off x="0" y="0"/>
              <a:ext cx="453770" cy="680655"/>
              <a:chOff x="0" y="0"/>
              <a:chExt cx="406400" cy="6096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 rot="0">
              <a:off x="1573215" y="0"/>
              <a:ext cx="453770" cy="680655"/>
              <a:chOff x="0" y="0"/>
              <a:chExt cx="406400" cy="6096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 rot="0">
              <a:off x="789245" y="0"/>
              <a:ext cx="453770" cy="680655"/>
              <a:chOff x="0" y="0"/>
              <a:chExt cx="406400" cy="6096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 rot="0">
              <a:off x="2362459" y="0"/>
              <a:ext cx="453770" cy="680655"/>
              <a:chOff x="0" y="0"/>
              <a:chExt cx="406400" cy="6096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 rot="0">
              <a:off x="390917" y="0"/>
              <a:ext cx="453770" cy="680655"/>
              <a:chOff x="0" y="0"/>
              <a:chExt cx="406400" cy="6096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 rot="0">
              <a:off x="1964131" y="0"/>
              <a:ext cx="453770" cy="680655"/>
              <a:chOff x="0" y="0"/>
              <a:chExt cx="406400" cy="60960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 rot="0">
              <a:off x="1180162" y="0"/>
              <a:ext cx="453770" cy="680655"/>
              <a:chOff x="0" y="0"/>
              <a:chExt cx="406400" cy="60960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 rot="0">
              <a:off x="2753376" y="0"/>
              <a:ext cx="453770" cy="680655"/>
              <a:chOff x="0" y="0"/>
              <a:chExt cx="406400" cy="60960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</p:grpSp>
      <p:grpSp>
        <p:nvGrpSpPr>
          <p:cNvPr id="52" name="Group 52"/>
          <p:cNvGrpSpPr/>
          <p:nvPr/>
        </p:nvGrpSpPr>
        <p:grpSpPr>
          <a:xfrm rot="0">
            <a:off x="3266130" y="9258300"/>
            <a:ext cx="2405360" cy="510491"/>
            <a:chOff x="0" y="0"/>
            <a:chExt cx="3207146" cy="680655"/>
          </a:xfrm>
        </p:grpSpPr>
        <p:grpSp>
          <p:nvGrpSpPr>
            <p:cNvPr id="53" name="Group 53"/>
            <p:cNvGrpSpPr/>
            <p:nvPr/>
          </p:nvGrpSpPr>
          <p:grpSpPr>
            <a:xfrm rot="0">
              <a:off x="0" y="0"/>
              <a:ext cx="453770" cy="680655"/>
              <a:chOff x="0" y="0"/>
              <a:chExt cx="406400" cy="60960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 rot="0">
              <a:off x="1573215" y="0"/>
              <a:ext cx="453770" cy="680655"/>
              <a:chOff x="0" y="0"/>
              <a:chExt cx="406400" cy="60960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 rot="0">
              <a:off x="789245" y="0"/>
              <a:ext cx="453770" cy="680655"/>
              <a:chOff x="0" y="0"/>
              <a:chExt cx="406400" cy="609600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62" name="Group 62"/>
            <p:cNvGrpSpPr/>
            <p:nvPr/>
          </p:nvGrpSpPr>
          <p:grpSpPr>
            <a:xfrm rot="0">
              <a:off x="2362459" y="0"/>
              <a:ext cx="453770" cy="680655"/>
              <a:chOff x="0" y="0"/>
              <a:chExt cx="406400" cy="609600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 rot="0">
              <a:off x="390917" y="0"/>
              <a:ext cx="453770" cy="680655"/>
              <a:chOff x="0" y="0"/>
              <a:chExt cx="406400" cy="609600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68" name="Group 68"/>
            <p:cNvGrpSpPr/>
            <p:nvPr/>
          </p:nvGrpSpPr>
          <p:grpSpPr>
            <a:xfrm rot="0">
              <a:off x="1964131" y="0"/>
              <a:ext cx="453770" cy="680655"/>
              <a:chOff x="0" y="0"/>
              <a:chExt cx="406400" cy="609600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71" name="Group 71"/>
            <p:cNvGrpSpPr/>
            <p:nvPr/>
          </p:nvGrpSpPr>
          <p:grpSpPr>
            <a:xfrm rot="0">
              <a:off x="1180162" y="0"/>
              <a:ext cx="453770" cy="680655"/>
              <a:chOff x="0" y="0"/>
              <a:chExt cx="406400" cy="609600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73" name="TextBox 73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74" name="Group 74"/>
            <p:cNvGrpSpPr/>
            <p:nvPr/>
          </p:nvGrpSpPr>
          <p:grpSpPr>
            <a:xfrm rot="0">
              <a:off x="2753376" y="0"/>
              <a:ext cx="453770" cy="680655"/>
              <a:chOff x="0" y="0"/>
              <a:chExt cx="406400" cy="609600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76" name="TextBox 76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</p:grpSp>
      <p:grpSp>
        <p:nvGrpSpPr>
          <p:cNvPr id="77" name="Group 77"/>
          <p:cNvGrpSpPr/>
          <p:nvPr/>
        </p:nvGrpSpPr>
        <p:grpSpPr>
          <a:xfrm rot="0">
            <a:off x="14853940" y="518209"/>
            <a:ext cx="2405360" cy="510491"/>
            <a:chOff x="0" y="0"/>
            <a:chExt cx="3207146" cy="680655"/>
          </a:xfrm>
        </p:grpSpPr>
        <p:grpSp>
          <p:nvGrpSpPr>
            <p:cNvPr id="78" name="Group 78"/>
            <p:cNvGrpSpPr/>
            <p:nvPr/>
          </p:nvGrpSpPr>
          <p:grpSpPr>
            <a:xfrm rot="0">
              <a:off x="0" y="0"/>
              <a:ext cx="453770" cy="680655"/>
              <a:chOff x="0" y="0"/>
              <a:chExt cx="406400" cy="609600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80" name="TextBox 80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81" name="Group 81"/>
            <p:cNvGrpSpPr/>
            <p:nvPr/>
          </p:nvGrpSpPr>
          <p:grpSpPr>
            <a:xfrm rot="0">
              <a:off x="1573215" y="0"/>
              <a:ext cx="453770" cy="680655"/>
              <a:chOff x="0" y="0"/>
              <a:chExt cx="406400" cy="609600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83" name="TextBox 83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84" name="Group 84"/>
            <p:cNvGrpSpPr/>
            <p:nvPr/>
          </p:nvGrpSpPr>
          <p:grpSpPr>
            <a:xfrm rot="0">
              <a:off x="789245" y="0"/>
              <a:ext cx="453770" cy="680655"/>
              <a:chOff x="0" y="0"/>
              <a:chExt cx="406400" cy="609600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86" name="TextBox 86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87" name="Group 87"/>
            <p:cNvGrpSpPr/>
            <p:nvPr/>
          </p:nvGrpSpPr>
          <p:grpSpPr>
            <a:xfrm rot="0">
              <a:off x="2362459" y="0"/>
              <a:ext cx="453770" cy="680655"/>
              <a:chOff x="0" y="0"/>
              <a:chExt cx="406400" cy="609600"/>
            </a:xfrm>
          </p:grpSpPr>
          <p:sp>
            <p:nvSpPr>
              <p:cNvPr id="88" name="Freeform 88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89" name="TextBox 89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90" name="Group 90"/>
            <p:cNvGrpSpPr/>
            <p:nvPr/>
          </p:nvGrpSpPr>
          <p:grpSpPr>
            <a:xfrm rot="0">
              <a:off x="390917" y="0"/>
              <a:ext cx="453770" cy="680655"/>
              <a:chOff x="0" y="0"/>
              <a:chExt cx="406400" cy="609600"/>
            </a:xfrm>
          </p:grpSpPr>
          <p:sp>
            <p:nvSpPr>
              <p:cNvPr id="91" name="Freeform 91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92" name="TextBox 92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93" name="Group 93"/>
            <p:cNvGrpSpPr/>
            <p:nvPr/>
          </p:nvGrpSpPr>
          <p:grpSpPr>
            <a:xfrm rot="0">
              <a:off x="1964131" y="0"/>
              <a:ext cx="453770" cy="680655"/>
              <a:chOff x="0" y="0"/>
              <a:chExt cx="406400" cy="609600"/>
            </a:xfrm>
          </p:grpSpPr>
          <p:sp>
            <p:nvSpPr>
              <p:cNvPr id="94" name="Freeform 94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95" name="TextBox 95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96" name="Group 96"/>
            <p:cNvGrpSpPr/>
            <p:nvPr/>
          </p:nvGrpSpPr>
          <p:grpSpPr>
            <a:xfrm rot="0">
              <a:off x="1180162" y="0"/>
              <a:ext cx="453770" cy="680655"/>
              <a:chOff x="0" y="0"/>
              <a:chExt cx="406400" cy="609600"/>
            </a:xfrm>
          </p:grpSpPr>
          <p:sp>
            <p:nvSpPr>
              <p:cNvPr id="97" name="Freeform 97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98" name="TextBox 98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99" name="Group 99"/>
            <p:cNvGrpSpPr/>
            <p:nvPr/>
          </p:nvGrpSpPr>
          <p:grpSpPr>
            <a:xfrm rot="0">
              <a:off x="2753376" y="0"/>
              <a:ext cx="453770" cy="680655"/>
              <a:chOff x="0" y="0"/>
              <a:chExt cx="406400" cy="609600"/>
            </a:xfrm>
          </p:grpSpPr>
          <p:sp>
            <p:nvSpPr>
              <p:cNvPr id="100" name="Freeform 100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01" name="TextBox 101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</p:grpSp>
      <p:sp>
        <p:nvSpPr>
          <p:cNvPr id="102" name="TextBox 102"/>
          <p:cNvSpPr txBox="1"/>
          <p:nvPr/>
        </p:nvSpPr>
        <p:spPr>
          <a:xfrm>
            <a:off x="58043" y="1598930"/>
            <a:ext cx="18171914" cy="7251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880"/>
              </a:lnSpc>
            </a:pPr>
            <a:r>
              <a:rPr lang="en-US" sz="49000">
                <a:solidFill>
                  <a:srgbClr val="0743E8">
                    <a:alpha val="8627"/>
                  </a:srgbClr>
                </a:solidFill>
                <a:latin typeface="Arimo Bold" panose="020B0704020202020204"/>
              </a:rPr>
              <a:t>03</a:t>
            </a:r>
            <a:endParaRPr lang="en-US" sz="49000">
              <a:solidFill>
                <a:srgbClr val="0743E8">
                  <a:alpha val="8627"/>
                </a:srgbClr>
              </a:solidFill>
              <a:latin typeface="Arimo Bold" panose="020B0704020202020204"/>
            </a:endParaRPr>
          </a:p>
        </p:txBody>
      </p:sp>
      <p:sp>
        <p:nvSpPr>
          <p:cNvPr id="103" name="TextBox 103"/>
          <p:cNvSpPr txBox="1"/>
          <p:nvPr/>
        </p:nvSpPr>
        <p:spPr>
          <a:xfrm>
            <a:off x="3030489" y="3976479"/>
            <a:ext cx="12227023" cy="1227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960"/>
              </a:lnSpc>
              <a:spcBef>
                <a:spcPct val="0"/>
              </a:spcBef>
            </a:pPr>
            <a:r>
              <a:rPr lang="en-US" sz="7545" spc="2172">
                <a:solidFill>
                  <a:srgbClr val="323232"/>
                </a:solidFill>
                <a:latin typeface="字由点字倔强黑" panose="00020600040101010101" charset="-122"/>
                <a:ea typeface="字由点字倔强黑" panose="00020600040101010101" charset="-122"/>
              </a:rPr>
              <a:t>IP命名</a:t>
            </a:r>
            <a:endParaRPr lang="en-US" sz="7545" spc="2172">
              <a:solidFill>
                <a:srgbClr val="323232"/>
              </a:solidFill>
              <a:latin typeface="字由点字倔强黑" panose="00020600040101010101" charset="-122"/>
              <a:ea typeface="字由点字倔强黑" panose="00020600040101010101" charset="-122"/>
            </a:endParaRPr>
          </a:p>
        </p:txBody>
      </p:sp>
      <p:sp>
        <p:nvSpPr>
          <p:cNvPr id="104" name="TextBox 104"/>
          <p:cNvSpPr txBox="1"/>
          <p:nvPr/>
        </p:nvSpPr>
        <p:spPr>
          <a:xfrm>
            <a:off x="3030489" y="5185474"/>
            <a:ext cx="12227023" cy="447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85"/>
              </a:lnSpc>
              <a:spcBef>
                <a:spcPct val="0"/>
              </a:spcBef>
            </a:pPr>
            <a:r>
              <a:rPr lang="en-US" sz="2820" spc="854">
                <a:solidFill>
                  <a:srgbClr val="323232"/>
                </a:solidFill>
                <a:latin typeface="Arimo" panose="020B0604020202020204"/>
              </a:rPr>
              <a:t>IP NAMEING</a:t>
            </a:r>
            <a:endParaRPr lang="en-US" sz="2820" spc="854">
              <a:solidFill>
                <a:srgbClr val="323232"/>
              </a:solidFill>
              <a:latin typeface="Arimo" panose="020B0604020202020204"/>
            </a:endParaRPr>
          </a:p>
        </p:txBody>
      </p:sp>
      <p:sp>
        <p:nvSpPr>
          <p:cNvPr id="105" name="Freeform 105"/>
          <p:cNvSpPr/>
          <p:nvPr/>
        </p:nvSpPr>
        <p:spPr>
          <a:xfrm>
            <a:off x="686693" y="355326"/>
            <a:ext cx="1679936" cy="673374"/>
          </a:xfrm>
          <a:custGeom>
            <a:avLst/>
            <a:gdLst/>
            <a:ahLst/>
            <a:cxnLst/>
            <a:rect l="l" t="t" r="r" b="b"/>
            <a:pathLst>
              <a:path w="1679936" h="673374">
                <a:moveTo>
                  <a:pt x="0" y="0"/>
                </a:moveTo>
                <a:lnTo>
                  <a:pt x="1679936" y="0"/>
                </a:lnTo>
                <a:lnTo>
                  <a:pt x="1679936" y="673374"/>
                </a:lnTo>
                <a:lnTo>
                  <a:pt x="0" y="67337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0697" y="322266"/>
            <a:ext cx="1301564" cy="862168"/>
          </a:xfrm>
          <a:custGeom>
            <a:avLst/>
            <a:gdLst/>
            <a:ahLst/>
            <a:cxnLst/>
            <a:rect l="l" t="t" r="r" b="b"/>
            <a:pathLst>
              <a:path w="1301564" h="862168">
                <a:moveTo>
                  <a:pt x="0" y="0"/>
                </a:moveTo>
                <a:lnTo>
                  <a:pt x="1301564" y="0"/>
                </a:lnTo>
                <a:lnTo>
                  <a:pt x="1301564" y="862168"/>
                </a:lnTo>
                <a:lnTo>
                  <a:pt x="0" y="862168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542261" y="323201"/>
            <a:ext cx="5276322" cy="793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6335"/>
              </a:lnSpc>
              <a:spcBef>
                <a:spcPct val="0"/>
              </a:spcBef>
            </a:pPr>
            <a:r>
              <a:rPr lang="en-US" sz="4800">
                <a:solidFill>
                  <a:srgbClr val="323232"/>
                </a:solidFill>
                <a:latin typeface="字由点字倔强黑" panose="00020600040101010101" charset="-122"/>
                <a:ea typeface="字由点字倔强黑" panose="00020600040101010101" charset="-122"/>
              </a:rPr>
              <a:t>IP1名字参考</a:t>
            </a:r>
            <a:endParaRPr lang="en-US" sz="4800">
              <a:solidFill>
                <a:srgbClr val="323232"/>
              </a:solidFill>
              <a:latin typeface="字由点字倔强黑" panose="00020600040101010101" charset="-122"/>
              <a:ea typeface="字由点字倔强黑" panose="00020600040101010101" charset="-122"/>
            </a:endParaRPr>
          </a:p>
        </p:txBody>
      </p:sp>
      <p:grpSp>
        <p:nvGrpSpPr>
          <p:cNvPr id="4" name="Group 4"/>
          <p:cNvGrpSpPr/>
          <p:nvPr/>
        </p:nvGrpSpPr>
        <p:grpSpPr>
          <a:xfrm rot="0">
            <a:off x="15462761" y="518209"/>
            <a:ext cx="2405360" cy="510491"/>
            <a:chOff x="0" y="0"/>
            <a:chExt cx="3207146" cy="680655"/>
          </a:xfrm>
        </p:grpSpPr>
        <p:grpSp>
          <p:nvGrpSpPr>
            <p:cNvPr id="5" name="Group 5"/>
            <p:cNvGrpSpPr/>
            <p:nvPr/>
          </p:nvGrpSpPr>
          <p:grpSpPr>
            <a:xfrm rot="0">
              <a:off x="0" y="0"/>
              <a:ext cx="453770" cy="680655"/>
              <a:chOff x="0" y="0"/>
              <a:chExt cx="406400" cy="6096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 rot="0">
              <a:off x="1573215" y="0"/>
              <a:ext cx="453770" cy="680655"/>
              <a:chOff x="0" y="0"/>
              <a:chExt cx="406400" cy="6096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 rot="0">
              <a:off x="789245" y="0"/>
              <a:ext cx="453770" cy="680655"/>
              <a:chOff x="0" y="0"/>
              <a:chExt cx="406400" cy="6096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rot="0">
              <a:off x="2362459" y="0"/>
              <a:ext cx="453770" cy="680655"/>
              <a:chOff x="0" y="0"/>
              <a:chExt cx="406400" cy="6096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 rot="0">
              <a:off x="390917" y="0"/>
              <a:ext cx="453770" cy="680655"/>
              <a:chOff x="0" y="0"/>
              <a:chExt cx="406400" cy="6096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 rot="0">
              <a:off x="1964131" y="0"/>
              <a:ext cx="453770" cy="680655"/>
              <a:chOff x="0" y="0"/>
              <a:chExt cx="406400" cy="6096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 rot="0">
              <a:off x="1180162" y="0"/>
              <a:ext cx="453770" cy="680655"/>
              <a:chOff x="0" y="0"/>
              <a:chExt cx="406400" cy="6096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 rot="0">
              <a:off x="2753376" y="0"/>
              <a:ext cx="453770" cy="680655"/>
              <a:chOff x="0" y="0"/>
              <a:chExt cx="406400" cy="6096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</p:grpSp>
      <p:grpSp>
        <p:nvGrpSpPr>
          <p:cNvPr id="29" name="Group 29"/>
          <p:cNvGrpSpPr/>
          <p:nvPr/>
        </p:nvGrpSpPr>
        <p:grpSpPr>
          <a:xfrm rot="0">
            <a:off x="339581" y="9258300"/>
            <a:ext cx="2405360" cy="510491"/>
            <a:chOff x="0" y="0"/>
            <a:chExt cx="3207146" cy="680655"/>
          </a:xfrm>
        </p:grpSpPr>
        <p:grpSp>
          <p:nvGrpSpPr>
            <p:cNvPr id="30" name="Group 30"/>
            <p:cNvGrpSpPr/>
            <p:nvPr/>
          </p:nvGrpSpPr>
          <p:grpSpPr>
            <a:xfrm rot="0">
              <a:off x="0" y="0"/>
              <a:ext cx="453770" cy="680655"/>
              <a:chOff x="0" y="0"/>
              <a:chExt cx="406400" cy="6096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 rot="0">
              <a:off x="1573215" y="0"/>
              <a:ext cx="453770" cy="680655"/>
              <a:chOff x="0" y="0"/>
              <a:chExt cx="406400" cy="6096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 rot="0">
              <a:off x="789245" y="0"/>
              <a:ext cx="453770" cy="680655"/>
              <a:chOff x="0" y="0"/>
              <a:chExt cx="406400" cy="6096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 rot="0">
              <a:off x="2362459" y="0"/>
              <a:ext cx="453770" cy="680655"/>
              <a:chOff x="0" y="0"/>
              <a:chExt cx="406400" cy="6096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 rot="0">
              <a:off x="390917" y="0"/>
              <a:ext cx="453770" cy="680655"/>
              <a:chOff x="0" y="0"/>
              <a:chExt cx="406400" cy="6096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 rot="0">
              <a:off x="1964131" y="0"/>
              <a:ext cx="453770" cy="680655"/>
              <a:chOff x="0" y="0"/>
              <a:chExt cx="406400" cy="6096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 rot="0">
              <a:off x="1180162" y="0"/>
              <a:ext cx="453770" cy="680655"/>
              <a:chOff x="0" y="0"/>
              <a:chExt cx="406400" cy="60960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 rot="0">
              <a:off x="2753376" y="0"/>
              <a:ext cx="453770" cy="680655"/>
              <a:chOff x="0" y="0"/>
              <a:chExt cx="406400" cy="60960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</p:grpSp>
      <p:grpSp>
        <p:nvGrpSpPr>
          <p:cNvPr id="54" name="Group 54"/>
          <p:cNvGrpSpPr/>
          <p:nvPr/>
        </p:nvGrpSpPr>
        <p:grpSpPr>
          <a:xfrm rot="0">
            <a:off x="1592600" y="1425807"/>
            <a:ext cx="15102800" cy="7732028"/>
            <a:chOff x="0" y="0"/>
            <a:chExt cx="3977692" cy="2036419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3977692" cy="2036419"/>
            </a:xfrm>
            <a:custGeom>
              <a:avLst/>
              <a:gdLst/>
              <a:ahLst/>
              <a:cxnLst/>
              <a:rect l="l" t="t" r="r" b="b"/>
              <a:pathLst>
                <a:path w="3977692" h="2036419">
                  <a:moveTo>
                    <a:pt x="5639" y="0"/>
                  </a:moveTo>
                  <a:lnTo>
                    <a:pt x="3972053" y="0"/>
                  </a:lnTo>
                  <a:cubicBezTo>
                    <a:pt x="3975167" y="0"/>
                    <a:pt x="3977692" y="2525"/>
                    <a:pt x="3977692" y="5639"/>
                  </a:cubicBezTo>
                  <a:lnTo>
                    <a:pt x="3977692" y="2030780"/>
                  </a:lnTo>
                  <a:cubicBezTo>
                    <a:pt x="3977692" y="2033894"/>
                    <a:pt x="3975167" y="2036419"/>
                    <a:pt x="3972053" y="2036419"/>
                  </a:cubicBezTo>
                  <a:lnTo>
                    <a:pt x="5639" y="2036419"/>
                  </a:lnTo>
                  <a:cubicBezTo>
                    <a:pt x="2525" y="2036419"/>
                    <a:pt x="0" y="2033894"/>
                    <a:pt x="0" y="2030780"/>
                  </a:cubicBezTo>
                  <a:lnTo>
                    <a:pt x="0" y="5639"/>
                  </a:lnTo>
                  <a:cubicBezTo>
                    <a:pt x="0" y="2525"/>
                    <a:pt x="2525" y="0"/>
                    <a:pt x="563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743E8"/>
              </a:solidFill>
              <a:prstDash val="solid"/>
              <a:miter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0" y="-57150"/>
              <a:ext cx="3977692" cy="2093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5"/>
                </a:lnSpc>
              </a:pPr>
            </a:p>
            <a:p>
              <a:pPr algn="ctr">
                <a:lnSpc>
                  <a:spcPts val="2645"/>
                </a:lnSpc>
              </a:pPr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1835430" y="1553368"/>
            <a:ext cx="14371742" cy="6216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60"/>
              </a:lnSpc>
            </a:pPr>
          </a:p>
          <a:p>
            <a:pPr>
              <a:lnSpc>
                <a:spcPts val="5315"/>
              </a:lnSpc>
            </a:pPr>
            <a:r>
              <a:rPr lang="en-US" sz="3615" spc="336">
                <a:solidFill>
                  <a:srgbClr val="171717"/>
                </a:solidFill>
                <a:latin typeface="阿里巴巴普惠体 Bold" panose="00020600040101010101" charset="-122"/>
                <a:ea typeface="阿里巴巴普惠体 Bold" panose="00020600040101010101" charset="-122"/>
              </a:rPr>
              <a:t>水灵灵/海灵灵：</a:t>
            </a:r>
            <a:endParaRPr lang="en-US" sz="3615" spc="336">
              <a:solidFill>
                <a:srgbClr val="171717"/>
              </a:solidFill>
              <a:latin typeface="阿里巴巴普惠体 Bold" panose="00020600040101010101" charset="-122"/>
              <a:ea typeface="阿里巴巴普惠体 Bold" panose="00020600040101010101" charset="-122"/>
            </a:endParaRPr>
          </a:p>
          <a:p>
            <a:pPr>
              <a:lnSpc>
                <a:spcPts val="2960"/>
              </a:lnSpc>
            </a:pPr>
            <a:r>
              <a:rPr lang="en-US" sz="2015" spc="187">
                <a:solidFill>
                  <a:srgbClr val="171717"/>
                </a:solidFill>
                <a:ea typeface="阿里巴巴普惠体" panose="00020600040101010101" charset="-122"/>
              </a:rPr>
              <a:t>取自用灵昆的字，简单亲切，契合形象。</a:t>
            </a:r>
            <a:endParaRPr lang="en-US" sz="2015" spc="187">
              <a:solidFill>
                <a:srgbClr val="171717"/>
              </a:solidFill>
              <a:ea typeface="阿里巴巴普惠体" panose="00020600040101010101" charset="-122"/>
            </a:endParaRPr>
          </a:p>
          <a:p>
            <a:pPr>
              <a:lnSpc>
                <a:spcPts val="2960"/>
              </a:lnSpc>
            </a:pPr>
          </a:p>
          <a:p>
            <a:pPr>
              <a:lnSpc>
                <a:spcPts val="2960"/>
              </a:lnSpc>
            </a:pPr>
            <a:r>
              <a:rPr lang="en-US" sz="2015" spc="187">
                <a:solidFill>
                  <a:srgbClr val="171717"/>
                </a:solidFill>
                <a:latin typeface="阿里巴巴普惠体 Bold" panose="00020600040101010101" charset="-122"/>
                <a:ea typeface="阿里巴巴普惠体 Bold" panose="00020600040101010101" charset="-122"/>
              </a:rPr>
              <a:t>小灵/灵灵/灵梓（梓意为故乡）：</a:t>
            </a:r>
            <a:endParaRPr lang="en-US" sz="2015" spc="187">
              <a:solidFill>
                <a:srgbClr val="171717"/>
              </a:solidFill>
              <a:latin typeface="阿里巴巴普惠体 Bold" panose="00020600040101010101" charset="-122"/>
              <a:ea typeface="阿里巴巴普惠体 Bold" panose="00020600040101010101" charset="-122"/>
            </a:endParaRPr>
          </a:p>
          <a:p>
            <a:pPr>
              <a:lnSpc>
                <a:spcPts val="2960"/>
              </a:lnSpc>
            </a:pPr>
            <a:r>
              <a:rPr lang="en-US" sz="2015" spc="187">
                <a:solidFill>
                  <a:srgbClr val="171717"/>
                </a:solidFill>
                <a:ea typeface="阿里巴巴普惠体" panose="00020600040101010101" charset="-122"/>
              </a:rPr>
              <a:t>取自用灵昆的字，简单亲切，易传播</a:t>
            </a:r>
            <a:endParaRPr lang="en-US" sz="2015" spc="187">
              <a:solidFill>
                <a:srgbClr val="171717"/>
              </a:solidFill>
              <a:ea typeface="阿里巴巴普惠体" panose="00020600040101010101" charset="-122"/>
            </a:endParaRPr>
          </a:p>
          <a:p>
            <a:pPr>
              <a:lnSpc>
                <a:spcPts val="2960"/>
              </a:lnSpc>
            </a:pPr>
          </a:p>
          <a:p>
            <a:pPr>
              <a:lnSpc>
                <a:spcPts val="2960"/>
              </a:lnSpc>
            </a:pPr>
            <a:r>
              <a:rPr lang="en-US" sz="2015" spc="187">
                <a:solidFill>
                  <a:srgbClr val="171717"/>
                </a:solidFill>
                <a:latin typeface="阿里巴巴普惠体 Bold" panose="00020600040101010101" charset="-122"/>
                <a:ea typeface="阿里巴巴普惠体 Bold" panose="00020600040101010101" charset="-122"/>
              </a:rPr>
              <a:t>灵儿/钟灵/灵澜（澜取波澜壮阔意）：</a:t>
            </a:r>
            <a:endParaRPr lang="en-US" sz="2015" spc="187">
              <a:solidFill>
                <a:srgbClr val="171717"/>
              </a:solidFill>
              <a:latin typeface="阿里巴巴普惠体 Bold" panose="00020600040101010101" charset="-122"/>
              <a:ea typeface="阿里巴巴普惠体 Bold" panose="00020600040101010101" charset="-122"/>
            </a:endParaRPr>
          </a:p>
          <a:p>
            <a:pPr>
              <a:lnSpc>
                <a:spcPts val="2960"/>
              </a:lnSpc>
            </a:pPr>
            <a:r>
              <a:rPr lang="en-US" sz="2015" spc="187">
                <a:solidFill>
                  <a:srgbClr val="171717"/>
                </a:solidFill>
                <a:latin typeface="阿里巴巴普惠体" panose="00020600040101010101" charset="-122"/>
                <a:ea typeface="阿里巴巴普惠体" panose="00020600040101010101" charset="-122"/>
              </a:rPr>
              <a:t>灵昆的古文里说“灵气以为钟”，取自用灵昆的字，简单亲切，类似仙侠小说的名字</a:t>
            </a:r>
            <a:endParaRPr lang="en-US" sz="2015" spc="187">
              <a:solidFill>
                <a:srgbClr val="171717"/>
              </a:solidFill>
              <a:latin typeface="阿里巴巴普惠体" panose="00020600040101010101" charset="-122"/>
              <a:ea typeface="阿里巴巴普惠体" panose="00020600040101010101" charset="-122"/>
            </a:endParaRPr>
          </a:p>
          <a:p>
            <a:pPr>
              <a:lnSpc>
                <a:spcPts val="2960"/>
              </a:lnSpc>
            </a:pPr>
          </a:p>
          <a:p>
            <a:pPr>
              <a:lnSpc>
                <a:spcPts val="2960"/>
              </a:lnSpc>
            </a:pPr>
            <a:r>
              <a:rPr lang="en-US" sz="2015" spc="187">
                <a:solidFill>
                  <a:srgbClr val="171717"/>
                </a:solidFill>
                <a:ea typeface="阿里巴巴普惠体 Bold" panose="00020600040101010101" charset="-122"/>
              </a:rPr>
              <a:t>念念：</a:t>
            </a:r>
            <a:endParaRPr lang="en-US" sz="2015" spc="187">
              <a:solidFill>
                <a:srgbClr val="171717"/>
              </a:solidFill>
              <a:ea typeface="阿里巴巴普惠体 Bold" panose="00020600040101010101" charset="-122"/>
            </a:endParaRPr>
          </a:p>
          <a:p>
            <a:pPr>
              <a:lnSpc>
                <a:spcPts val="2960"/>
              </a:lnSpc>
            </a:pPr>
            <a:r>
              <a:rPr lang="en-US" sz="2015" spc="187">
                <a:solidFill>
                  <a:srgbClr val="171717"/>
                </a:solidFill>
                <a:latin typeface="阿里巴巴普惠体" panose="00020600040101010101" charset="-122"/>
                <a:ea typeface="阿里巴巴普惠体" panose="00020600040101010101" charset="-122"/>
              </a:rPr>
              <a:t>抽离灵昆，取温州话里的念叨思念，念你，引入一个关于“祝福”的名字。</a:t>
            </a:r>
            <a:endParaRPr lang="en-US" sz="2015" spc="187">
              <a:solidFill>
                <a:srgbClr val="171717"/>
              </a:solidFill>
              <a:latin typeface="阿里巴巴普惠体" panose="00020600040101010101" charset="-122"/>
              <a:ea typeface="阿里巴巴普惠体" panose="00020600040101010101" charset="-122"/>
            </a:endParaRPr>
          </a:p>
          <a:p>
            <a:pPr>
              <a:lnSpc>
                <a:spcPts val="2960"/>
              </a:lnSpc>
            </a:pPr>
          </a:p>
          <a:p>
            <a:pPr>
              <a:lnSpc>
                <a:spcPts val="2960"/>
              </a:lnSpc>
            </a:pPr>
            <a:r>
              <a:rPr lang="en-US" sz="2015" spc="187">
                <a:solidFill>
                  <a:srgbClr val="171717"/>
                </a:solidFill>
                <a:latin typeface="阿里巴巴普惠体 Bold" panose="00020600040101010101" charset="-122"/>
                <a:ea typeface="阿里巴巴普惠体 Bold" panose="00020600040101010101" charset="-122"/>
              </a:rPr>
              <a:t>灵汐梓/灵汐子/灵汐仔：</a:t>
            </a:r>
            <a:endParaRPr lang="en-US" sz="2015" spc="187">
              <a:solidFill>
                <a:srgbClr val="171717"/>
              </a:solidFill>
              <a:latin typeface="阿里巴巴普惠体 Bold" panose="00020600040101010101" charset="-122"/>
              <a:ea typeface="阿里巴巴普惠体 Bold" panose="00020600040101010101" charset="-122"/>
            </a:endParaRPr>
          </a:p>
          <a:p>
            <a:pPr>
              <a:lnSpc>
                <a:spcPts val="2960"/>
              </a:lnSpc>
            </a:pPr>
            <a:r>
              <a:rPr lang="en-US" sz="2015" spc="187">
                <a:solidFill>
                  <a:srgbClr val="171717"/>
                </a:solidFill>
                <a:ea typeface="阿里巴巴普惠体" panose="00020600040101010101" charset="-122"/>
              </a:rPr>
              <a:t>灵指灵昆，灵动可爱、汐寓意潮水褪去之后的痕迹，海洋褪去后的小岛，子也可同仔寓意新生与明天。</a:t>
            </a:r>
            <a:endParaRPr lang="en-US" sz="2015" spc="187">
              <a:solidFill>
                <a:srgbClr val="171717"/>
              </a:solidFill>
              <a:ea typeface="阿里巴巴普惠体" panose="00020600040101010101" charset="-122"/>
            </a:endParaRPr>
          </a:p>
          <a:p>
            <a:pPr>
              <a:lnSpc>
                <a:spcPts val="2960"/>
              </a:lnSpc>
            </a:pPr>
          </a:p>
        </p:txBody>
      </p:sp>
      <p:sp>
        <p:nvSpPr>
          <p:cNvPr id="58" name="Freeform 58"/>
          <p:cNvSpPr/>
          <p:nvPr/>
        </p:nvSpPr>
        <p:spPr>
          <a:xfrm>
            <a:off x="13590880" y="5552214"/>
            <a:ext cx="2926937" cy="3706086"/>
          </a:xfrm>
          <a:custGeom>
            <a:avLst/>
            <a:gdLst/>
            <a:ahLst/>
            <a:cxnLst/>
            <a:rect l="l" t="t" r="r" b="b"/>
            <a:pathLst>
              <a:path w="2926937" h="3706086">
                <a:moveTo>
                  <a:pt x="0" y="0"/>
                </a:moveTo>
                <a:lnTo>
                  <a:pt x="2926937" y="0"/>
                </a:lnTo>
                <a:lnTo>
                  <a:pt x="2926937" y="3706086"/>
                </a:lnTo>
                <a:lnTo>
                  <a:pt x="0" y="37060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991" t="-16515" r="-27827" b="-19819"/>
            </a:stretch>
          </a:blipFill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0697" y="322266"/>
            <a:ext cx="1301564" cy="862168"/>
          </a:xfrm>
          <a:custGeom>
            <a:avLst/>
            <a:gdLst/>
            <a:ahLst/>
            <a:cxnLst/>
            <a:rect l="l" t="t" r="r" b="b"/>
            <a:pathLst>
              <a:path w="1301564" h="862168">
                <a:moveTo>
                  <a:pt x="0" y="0"/>
                </a:moveTo>
                <a:lnTo>
                  <a:pt x="1301564" y="0"/>
                </a:lnTo>
                <a:lnTo>
                  <a:pt x="1301564" y="862168"/>
                </a:lnTo>
                <a:lnTo>
                  <a:pt x="0" y="862168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542261" y="323201"/>
            <a:ext cx="5276322" cy="793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6335"/>
              </a:lnSpc>
              <a:spcBef>
                <a:spcPct val="0"/>
              </a:spcBef>
            </a:pPr>
            <a:r>
              <a:rPr lang="en-US" sz="4800">
                <a:solidFill>
                  <a:srgbClr val="323232"/>
                </a:solidFill>
                <a:latin typeface="字由点字倔强黑" panose="00020600040101010101" charset="-122"/>
                <a:ea typeface="字由点字倔强黑" panose="00020600040101010101" charset="-122"/>
              </a:rPr>
              <a:t>IP2名字参考</a:t>
            </a:r>
            <a:endParaRPr lang="en-US" sz="4800">
              <a:solidFill>
                <a:srgbClr val="323232"/>
              </a:solidFill>
              <a:latin typeface="字由点字倔强黑" panose="00020600040101010101" charset="-122"/>
              <a:ea typeface="字由点字倔强黑" panose="00020600040101010101" charset="-122"/>
            </a:endParaRPr>
          </a:p>
        </p:txBody>
      </p:sp>
      <p:grpSp>
        <p:nvGrpSpPr>
          <p:cNvPr id="4" name="Group 4"/>
          <p:cNvGrpSpPr/>
          <p:nvPr/>
        </p:nvGrpSpPr>
        <p:grpSpPr>
          <a:xfrm rot="0">
            <a:off x="15462761" y="518209"/>
            <a:ext cx="2405360" cy="510491"/>
            <a:chOff x="0" y="0"/>
            <a:chExt cx="3207146" cy="680655"/>
          </a:xfrm>
        </p:grpSpPr>
        <p:grpSp>
          <p:nvGrpSpPr>
            <p:cNvPr id="5" name="Group 5"/>
            <p:cNvGrpSpPr/>
            <p:nvPr/>
          </p:nvGrpSpPr>
          <p:grpSpPr>
            <a:xfrm rot="0">
              <a:off x="0" y="0"/>
              <a:ext cx="453770" cy="680655"/>
              <a:chOff x="0" y="0"/>
              <a:chExt cx="406400" cy="6096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 rot="0">
              <a:off x="1573215" y="0"/>
              <a:ext cx="453770" cy="680655"/>
              <a:chOff x="0" y="0"/>
              <a:chExt cx="406400" cy="6096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 rot="0">
              <a:off x="789245" y="0"/>
              <a:ext cx="453770" cy="680655"/>
              <a:chOff x="0" y="0"/>
              <a:chExt cx="406400" cy="6096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rot="0">
              <a:off x="2362459" y="0"/>
              <a:ext cx="453770" cy="680655"/>
              <a:chOff x="0" y="0"/>
              <a:chExt cx="406400" cy="6096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 rot="0">
              <a:off x="390917" y="0"/>
              <a:ext cx="453770" cy="680655"/>
              <a:chOff x="0" y="0"/>
              <a:chExt cx="406400" cy="6096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 rot="0">
              <a:off x="1964131" y="0"/>
              <a:ext cx="453770" cy="680655"/>
              <a:chOff x="0" y="0"/>
              <a:chExt cx="406400" cy="6096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 rot="0">
              <a:off x="1180162" y="0"/>
              <a:ext cx="453770" cy="680655"/>
              <a:chOff x="0" y="0"/>
              <a:chExt cx="406400" cy="6096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 rot="0">
              <a:off x="2753376" y="0"/>
              <a:ext cx="453770" cy="680655"/>
              <a:chOff x="0" y="0"/>
              <a:chExt cx="406400" cy="6096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</p:grpSp>
      <p:grpSp>
        <p:nvGrpSpPr>
          <p:cNvPr id="29" name="Group 29"/>
          <p:cNvGrpSpPr/>
          <p:nvPr/>
        </p:nvGrpSpPr>
        <p:grpSpPr>
          <a:xfrm rot="0">
            <a:off x="339581" y="9258300"/>
            <a:ext cx="2405360" cy="510491"/>
            <a:chOff x="0" y="0"/>
            <a:chExt cx="3207146" cy="680655"/>
          </a:xfrm>
        </p:grpSpPr>
        <p:grpSp>
          <p:nvGrpSpPr>
            <p:cNvPr id="30" name="Group 30"/>
            <p:cNvGrpSpPr/>
            <p:nvPr/>
          </p:nvGrpSpPr>
          <p:grpSpPr>
            <a:xfrm rot="0">
              <a:off x="0" y="0"/>
              <a:ext cx="453770" cy="680655"/>
              <a:chOff x="0" y="0"/>
              <a:chExt cx="406400" cy="6096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 rot="0">
              <a:off x="1573215" y="0"/>
              <a:ext cx="453770" cy="680655"/>
              <a:chOff x="0" y="0"/>
              <a:chExt cx="406400" cy="6096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 rot="0">
              <a:off x="789245" y="0"/>
              <a:ext cx="453770" cy="680655"/>
              <a:chOff x="0" y="0"/>
              <a:chExt cx="406400" cy="6096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 rot="0">
              <a:off x="2362459" y="0"/>
              <a:ext cx="453770" cy="680655"/>
              <a:chOff x="0" y="0"/>
              <a:chExt cx="406400" cy="6096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 rot="0">
              <a:off x="390917" y="0"/>
              <a:ext cx="453770" cy="680655"/>
              <a:chOff x="0" y="0"/>
              <a:chExt cx="406400" cy="6096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 rot="0">
              <a:off x="1964131" y="0"/>
              <a:ext cx="453770" cy="680655"/>
              <a:chOff x="0" y="0"/>
              <a:chExt cx="406400" cy="6096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 rot="0">
              <a:off x="1180162" y="0"/>
              <a:ext cx="453770" cy="680655"/>
              <a:chOff x="0" y="0"/>
              <a:chExt cx="406400" cy="60960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 rot="0">
              <a:off x="2753376" y="0"/>
              <a:ext cx="453770" cy="680655"/>
              <a:chOff x="0" y="0"/>
              <a:chExt cx="406400" cy="60960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</p:grpSp>
      <p:grpSp>
        <p:nvGrpSpPr>
          <p:cNvPr id="54" name="Group 54"/>
          <p:cNvGrpSpPr/>
          <p:nvPr/>
        </p:nvGrpSpPr>
        <p:grpSpPr>
          <a:xfrm rot="0">
            <a:off x="1592600" y="1425807"/>
            <a:ext cx="15102800" cy="7732028"/>
            <a:chOff x="0" y="0"/>
            <a:chExt cx="3977692" cy="2036419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3977692" cy="2036419"/>
            </a:xfrm>
            <a:custGeom>
              <a:avLst/>
              <a:gdLst/>
              <a:ahLst/>
              <a:cxnLst/>
              <a:rect l="l" t="t" r="r" b="b"/>
              <a:pathLst>
                <a:path w="3977692" h="2036419">
                  <a:moveTo>
                    <a:pt x="5639" y="0"/>
                  </a:moveTo>
                  <a:lnTo>
                    <a:pt x="3972053" y="0"/>
                  </a:lnTo>
                  <a:cubicBezTo>
                    <a:pt x="3975167" y="0"/>
                    <a:pt x="3977692" y="2525"/>
                    <a:pt x="3977692" y="5639"/>
                  </a:cubicBezTo>
                  <a:lnTo>
                    <a:pt x="3977692" y="2030780"/>
                  </a:lnTo>
                  <a:cubicBezTo>
                    <a:pt x="3977692" y="2033894"/>
                    <a:pt x="3975167" y="2036419"/>
                    <a:pt x="3972053" y="2036419"/>
                  </a:cubicBezTo>
                  <a:lnTo>
                    <a:pt x="5639" y="2036419"/>
                  </a:lnTo>
                  <a:cubicBezTo>
                    <a:pt x="2525" y="2036419"/>
                    <a:pt x="0" y="2033894"/>
                    <a:pt x="0" y="2030780"/>
                  </a:cubicBezTo>
                  <a:lnTo>
                    <a:pt x="0" y="5639"/>
                  </a:lnTo>
                  <a:cubicBezTo>
                    <a:pt x="0" y="2525"/>
                    <a:pt x="2525" y="0"/>
                    <a:pt x="563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743E8"/>
              </a:solidFill>
              <a:prstDash val="solid"/>
              <a:miter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0" y="-57150"/>
              <a:ext cx="3977692" cy="2093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5"/>
                </a:lnSpc>
              </a:pPr>
            </a:p>
            <a:p>
              <a:pPr algn="ctr">
                <a:lnSpc>
                  <a:spcPts val="2645"/>
                </a:lnSpc>
              </a:pPr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1835430" y="1553368"/>
            <a:ext cx="12839138" cy="7530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45"/>
              </a:lnSpc>
            </a:pPr>
          </a:p>
          <a:p>
            <a:pPr>
              <a:lnSpc>
                <a:spcPts val="3970"/>
              </a:lnSpc>
            </a:pPr>
            <a:r>
              <a:rPr lang="en-US" sz="2700" spc="251">
                <a:solidFill>
                  <a:srgbClr val="171717"/>
                </a:solidFill>
                <a:latin typeface="阿里巴巴普惠体 Bold" panose="00020600040101010101" charset="-122"/>
                <a:ea typeface="阿里巴巴普惠体 Bold" panose="00020600040101010101" charset="-122"/>
              </a:rPr>
              <a:t>水灼灼（zhuo）</a:t>
            </a:r>
            <a:endParaRPr lang="en-US" sz="2700" spc="251">
              <a:solidFill>
                <a:srgbClr val="171717"/>
              </a:solidFill>
              <a:latin typeface="阿里巴巴普惠体 Bold" panose="00020600040101010101" charset="-122"/>
              <a:ea typeface="阿里巴巴普惠体 Bold" panose="00020600040101010101" charset="-122"/>
            </a:endParaRPr>
          </a:p>
          <a:p>
            <a:pPr>
              <a:lnSpc>
                <a:spcPts val="2945"/>
              </a:lnSpc>
            </a:pPr>
            <a:r>
              <a:rPr lang="en-US" sz="2000" spc="186">
                <a:solidFill>
                  <a:srgbClr val="171717"/>
                </a:solidFill>
                <a:ea typeface="阿里巴巴普惠体" panose="00020600040101010101" charset="-122"/>
              </a:rPr>
              <a:t>同水灵灵相对应，灼取明亮意</a:t>
            </a:r>
            <a:endParaRPr lang="en-US" sz="2000" spc="186">
              <a:solidFill>
                <a:srgbClr val="171717"/>
              </a:solidFill>
              <a:ea typeface="阿里巴巴普惠体" panose="00020600040101010101" charset="-122"/>
            </a:endParaRPr>
          </a:p>
          <a:p>
            <a:pPr>
              <a:lnSpc>
                <a:spcPts val="2945"/>
              </a:lnSpc>
            </a:pPr>
          </a:p>
          <a:p>
            <a:pPr>
              <a:lnSpc>
                <a:spcPts val="2945"/>
              </a:lnSpc>
            </a:pPr>
            <a:r>
              <a:rPr lang="en-US" sz="2000" spc="186">
                <a:solidFill>
                  <a:srgbClr val="171717"/>
                </a:solidFill>
                <a:ea typeface="阿里巴巴普惠体 Bold" panose="00020600040101010101" charset="-122"/>
              </a:rPr>
              <a:t>灵灵柒：</a:t>
            </a:r>
            <a:endParaRPr lang="en-US" sz="2000" spc="186">
              <a:solidFill>
                <a:srgbClr val="171717"/>
              </a:solidFill>
              <a:ea typeface="阿里巴巴普惠体 Bold" panose="00020600040101010101" charset="-122"/>
            </a:endParaRPr>
          </a:p>
          <a:p>
            <a:pPr>
              <a:lnSpc>
                <a:spcPts val="2945"/>
              </a:lnSpc>
            </a:pPr>
            <a:r>
              <a:rPr lang="en-US" sz="2000" spc="186">
                <a:solidFill>
                  <a:srgbClr val="171717"/>
                </a:solidFill>
                <a:latin typeface="阿里巴巴普惠体" panose="00020600040101010101" charset="-122"/>
                <a:ea typeface="阿里巴巴普惠体" panose="00020600040101010101" charset="-122"/>
              </a:rPr>
              <a:t>取自用灵昆的字，音同007，有现代感，简单亲切，契合形象。</a:t>
            </a:r>
            <a:endParaRPr lang="en-US" sz="2000" spc="186">
              <a:solidFill>
                <a:srgbClr val="171717"/>
              </a:solidFill>
              <a:latin typeface="阿里巴巴普惠体" panose="00020600040101010101" charset="-122"/>
              <a:ea typeface="阿里巴巴普惠体" panose="00020600040101010101" charset="-122"/>
            </a:endParaRPr>
          </a:p>
          <a:p>
            <a:pPr>
              <a:lnSpc>
                <a:spcPts val="2945"/>
              </a:lnSpc>
            </a:pPr>
          </a:p>
          <a:p>
            <a:pPr>
              <a:lnSpc>
                <a:spcPts val="2945"/>
              </a:lnSpc>
            </a:pPr>
            <a:r>
              <a:rPr lang="en-US" sz="2000" spc="186">
                <a:solidFill>
                  <a:srgbClr val="171717"/>
                </a:solidFill>
                <a:latin typeface="阿里巴巴普惠体 Bold" panose="00020600040101010101" charset="-122"/>
                <a:ea typeface="阿里巴巴普惠体 Bold" panose="00020600040101010101" charset="-122"/>
              </a:rPr>
              <a:t>山昆昆/山堃堃（kun）：</a:t>
            </a:r>
            <a:endParaRPr lang="en-US" sz="2000" spc="186">
              <a:solidFill>
                <a:srgbClr val="171717"/>
              </a:solidFill>
              <a:latin typeface="阿里巴巴普惠体 Bold" panose="00020600040101010101" charset="-122"/>
              <a:ea typeface="阿里巴巴普惠体 Bold" panose="00020600040101010101" charset="-122"/>
            </a:endParaRPr>
          </a:p>
          <a:p>
            <a:pPr>
              <a:lnSpc>
                <a:spcPts val="2945"/>
              </a:lnSpc>
            </a:pPr>
            <a:r>
              <a:rPr lang="en-US" sz="2000" spc="186">
                <a:solidFill>
                  <a:srgbClr val="171717"/>
                </a:solidFill>
                <a:latin typeface="阿里巴巴普惠体" panose="00020600040101010101" charset="-122"/>
                <a:ea typeface="阿里巴巴普惠体" panose="00020600040101010101" charset="-122"/>
              </a:rPr>
              <a:t>取自用灵昆的字，简单亲切，契合形象，“堃”（kun）字在汉语中的含义主要与土地和地面有关。</a:t>
            </a:r>
            <a:endParaRPr lang="en-US" sz="2000" spc="186">
              <a:solidFill>
                <a:srgbClr val="171717"/>
              </a:solidFill>
              <a:latin typeface="阿里巴巴普惠体" panose="00020600040101010101" charset="-122"/>
              <a:ea typeface="阿里巴巴普惠体" panose="00020600040101010101" charset="-122"/>
            </a:endParaRPr>
          </a:p>
          <a:p>
            <a:pPr>
              <a:lnSpc>
                <a:spcPts val="2945"/>
              </a:lnSpc>
            </a:pPr>
          </a:p>
          <a:p>
            <a:pPr>
              <a:lnSpc>
                <a:spcPts val="2945"/>
              </a:lnSpc>
            </a:pPr>
            <a:r>
              <a:rPr lang="en-US" sz="2000" spc="186">
                <a:solidFill>
                  <a:srgbClr val="171717"/>
                </a:solidFill>
                <a:latin typeface="阿里巴巴普惠体 Bold" panose="00020600040101010101" charset="-122"/>
                <a:ea typeface="阿里巴巴普惠体 Bold" panose="00020600040101010101" charset="-122"/>
              </a:rPr>
              <a:t>灵霏霏/灵白白/白灵灵/灵澜澜（澜取波澜壮阔意）/海澜澜：</a:t>
            </a:r>
            <a:endParaRPr lang="en-US" sz="2000" spc="186">
              <a:solidFill>
                <a:srgbClr val="171717"/>
              </a:solidFill>
              <a:latin typeface="阿里巴巴普惠体 Bold" panose="00020600040101010101" charset="-122"/>
              <a:ea typeface="阿里巴巴普惠体 Bold" panose="00020600040101010101" charset="-122"/>
            </a:endParaRPr>
          </a:p>
          <a:p>
            <a:pPr>
              <a:lnSpc>
                <a:spcPts val="2945"/>
              </a:lnSpc>
            </a:pPr>
            <a:r>
              <a:rPr lang="en-US" sz="2000" spc="186">
                <a:solidFill>
                  <a:srgbClr val="171717"/>
                </a:solidFill>
                <a:ea typeface="阿里巴巴普惠体" panose="00020600040101010101" charset="-122"/>
              </a:rPr>
              <a:t>霏取飘扬意</a:t>
            </a:r>
            <a:endParaRPr lang="en-US" sz="2000" spc="186">
              <a:solidFill>
                <a:srgbClr val="171717"/>
              </a:solidFill>
              <a:ea typeface="阿里巴巴普惠体" panose="00020600040101010101" charset="-122"/>
            </a:endParaRPr>
          </a:p>
          <a:p>
            <a:pPr>
              <a:lnSpc>
                <a:spcPts val="2945"/>
              </a:lnSpc>
            </a:pPr>
          </a:p>
          <a:p>
            <a:pPr>
              <a:lnSpc>
                <a:spcPts val="2945"/>
              </a:lnSpc>
            </a:pPr>
            <a:r>
              <a:rPr lang="en-US" sz="2000" spc="186">
                <a:solidFill>
                  <a:srgbClr val="171717"/>
                </a:solidFill>
                <a:latin typeface="阿里巴巴普惠体 Bold" panose="00020600040101010101" charset="-122"/>
                <a:ea typeface="阿里巴巴普惠体 Bold" panose="00020600040101010101" charset="-122"/>
              </a:rPr>
              <a:t>跃跃/跳跳/涛涛：</a:t>
            </a:r>
            <a:endParaRPr lang="en-US" sz="2000" spc="186">
              <a:solidFill>
                <a:srgbClr val="171717"/>
              </a:solidFill>
              <a:latin typeface="阿里巴巴普惠体 Bold" panose="00020600040101010101" charset="-122"/>
              <a:ea typeface="阿里巴巴普惠体 Bold" panose="00020600040101010101" charset="-122"/>
            </a:endParaRPr>
          </a:p>
          <a:p>
            <a:pPr>
              <a:lnSpc>
                <a:spcPts val="2945"/>
              </a:lnSpc>
            </a:pPr>
            <a:r>
              <a:rPr lang="en-US" sz="2000" spc="186">
                <a:solidFill>
                  <a:srgbClr val="171717"/>
                </a:solidFill>
                <a:ea typeface="阿里巴巴普惠体" panose="00020600040101010101" charset="-122"/>
              </a:rPr>
              <a:t>象征灵昆岛的飞跃、勇立潮头</a:t>
            </a:r>
            <a:endParaRPr lang="en-US" sz="2000" spc="186">
              <a:solidFill>
                <a:srgbClr val="171717"/>
              </a:solidFill>
              <a:ea typeface="阿里巴巴普惠体" panose="00020600040101010101" charset="-122"/>
            </a:endParaRPr>
          </a:p>
          <a:p>
            <a:pPr>
              <a:lnSpc>
                <a:spcPts val="2945"/>
              </a:lnSpc>
            </a:pPr>
          </a:p>
          <a:p>
            <a:pPr>
              <a:lnSpc>
                <a:spcPts val="2945"/>
              </a:lnSpc>
            </a:pPr>
            <a:r>
              <a:rPr lang="en-US" sz="2000" spc="186">
                <a:solidFill>
                  <a:srgbClr val="171717"/>
                </a:solidFill>
                <a:ea typeface="阿里巴巴普惠体 Bold" panose="00020600040101010101" charset="-122"/>
              </a:rPr>
              <a:t>灵小飞：</a:t>
            </a:r>
            <a:endParaRPr lang="en-US" sz="2000" spc="186">
              <a:solidFill>
                <a:srgbClr val="171717"/>
              </a:solidFill>
              <a:ea typeface="阿里巴巴普惠体 Bold" panose="00020600040101010101" charset="-122"/>
            </a:endParaRPr>
          </a:p>
          <a:p>
            <a:pPr>
              <a:lnSpc>
                <a:spcPts val="2945"/>
              </a:lnSpc>
            </a:pPr>
            <a:r>
              <a:rPr lang="en-US" sz="2000" spc="186">
                <a:solidFill>
                  <a:srgbClr val="171717"/>
                </a:solidFill>
                <a:ea typeface="阿里巴巴普惠体" panose="00020600040101010101" charset="-122"/>
              </a:rPr>
              <a:t>象征灵昆岛的飞跃，体现科技进步意</a:t>
            </a:r>
            <a:endParaRPr lang="en-US" sz="2000" spc="186">
              <a:solidFill>
                <a:srgbClr val="171717"/>
              </a:solidFill>
              <a:ea typeface="阿里巴巴普惠体" panose="00020600040101010101" charset="-122"/>
            </a:endParaRPr>
          </a:p>
          <a:p>
            <a:pPr>
              <a:lnSpc>
                <a:spcPts val="2945"/>
              </a:lnSpc>
            </a:pPr>
          </a:p>
          <a:p>
            <a:pPr>
              <a:lnSpc>
                <a:spcPts val="2945"/>
              </a:lnSpc>
            </a:pPr>
          </a:p>
        </p:txBody>
      </p:sp>
      <p:sp>
        <p:nvSpPr>
          <p:cNvPr id="58" name="Freeform 58"/>
          <p:cNvSpPr/>
          <p:nvPr/>
        </p:nvSpPr>
        <p:spPr>
          <a:xfrm>
            <a:off x="14527183" y="5364619"/>
            <a:ext cx="2882396" cy="4404172"/>
          </a:xfrm>
          <a:custGeom>
            <a:avLst/>
            <a:gdLst/>
            <a:ahLst/>
            <a:cxnLst/>
            <a:rect l="l" t="t" r="r" b="b"/>
            <a:pathLst>
              <a:path w="2882396" h="4404172">
                <a:moveTo>
                  <a:pt x="0" y="0"/>
                </a:moveTo>
                <a:lnTo>
                  <a:pt x="2882396" y="0"/>
                </a:lnTo>
                <a:lnTo>
                  <a:pt x="2882396" y="4404172"/>
                </a:lnTo>
                <a:lnTo>
                  <a:pt x="0" y="44041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859" t="-1956"/>
            </a:stretch>
          </a:blipFill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0697" y="322266"/>
            <a:ext cx="1301564" cy="862168"/>
          </a:xfrm>
          <a:custGeom>
            <a:avLst/>
            <a:gdLst/>
            <a:ahLst/>
            <a:cxnLst/>
            <a:rect l="l" t="t" r="r" b="b"/>
            <a:pathLst>
              <a:path w="1301564" h="862168">
                <a:moveTo>
                  <a:pt x="0" y="0"/>
                </a:moveTo>
                <a:lnTo>
                  <a:pt x="1301564" y="0"/>
                </a:lnTo>
                <a:lnTo>
                  <a:pt x="1301564" y="862168"/>
                </a:lnTo>
                <a:lnTo>
                  <a:pt x="0" y="862168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542261" y="323201"/>
            <a:ext cx="5276322" cy="793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6335"/>
              </a:lnSpc>
              <a:spcBef>
                <a:spcPct val="0"/>
              </a:spcBef>
            </a:pPr>
            <a:r>
              <a:rPr lang="en-US" sz="4800">
                <a:solidFill>
                  <a:srgbClr val="323232"/>
                </a:solidFill>
                <a:ea typeface="字由点字倔强黑" panose="00020600040101010101" charset="-122"/>
              </a:rPr>
              <a:t>跟宠名字参考</a:t>
            </a:r>
            <a:endParaRPr lang="en-US" sz="4800">
              <a:solidFill>
                <a:srgbClr val="323232"/>
              </a:solidFill>
              <a:ea typeface="字由点字倔强黑" panose="00020600040101010101" charset="-122"/>
            </a:endParaRPr>
          </a:p>
        </p:txBody>
      </p:sp>
      <p:grpSp>
        <p:nvGrpSpPr>
          <p:cNvPr id="4" name="Group 4"/>
          <p:cNvGrpSpPr/>
          <p:nvPr/>
        </p:nvGrpSpPr>
        <p:grpSpPr>
          <a:xfrm rot="0">
            <a:off x="15462761" y="518209"/>
            <a:ext cx="2405360" cy="510491"/>
            <a:chOff x="0" y="0"/>
            <a:chExt cx="3207146" cy="680655"/>
          </a:xfrm>
        </p:grpSpPr>
        <p:grpSp>
          <p:nvGrpSpPr>
            <p:cNvPr id="5" name="Group 5"/>
            <p:cNvGrpSpPr/>
            <p:nvPr/>
          </p:nvGrpSpPr>
          <p:grpSpPr>
            <a:xfrm rot="0">
              <a:off x="0" y="0"/>
              <a:ext cx="453770" cy="680655"/>
              <a:chOff x="0" y="0"/>
              <a:chExt cx="406400" cy="6096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 rot="0">
              <a:off x="1573215" y="0"/>
              <a:ext cx="453770" cy="680655"/>
              <a:chOff x="0" y="0"/>
              <a:chExt cx="406400" cy="6096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 rot="0">
              <a:off x="789245" y="0"/>
              <a:ext cx="453770" cy="680655"/>
              <a:chOff x="0" y="0"/>
              <a:chExt cx="406400" cy="6096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rot="0">
              <a:off x="2362459" y="0"/>
              <a:ext cx="453770" cy="680655"/>
              <a:chOff x="0" y="0"/>
              <a:chExt cx="406400" cy="6096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 rot="0">
              <a:off x="390917" y="0"/>
              <a:ext cx="453770" cy="680655"/>
              <a:chOff x="0" y="0"/>
              <a:chExt cx="406400" cy="6096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 rot="0">
              <a:off x="1964131" y="0"/>
              <a:ext cx="453770" cy="680655"/>
              <a:chOff x="0" y="0"/>
              <a:chExt cx="406400" cy="6096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 rot="0">
              <a:off x="1180162" y="0"/>
              <a:ext cx="453770" cy="680655"/>
              <a:chOff x="0" y="0"/>
              <a:chExt cx="406400" cy="6096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 rot="0">
              <a:off x="2753376" y="0"/>
              <a:ext cx="453770" cy="680655"/>
              <a:chOff x="0" y="0"/>
              <a:chExt cx="406400" cy="6096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</p:grpSp>
      <p:grpSp>
        <p:nvGrpSpPr>
          <p:cNvPr id="29" name="Group 29"/>
          <p:cNvGrpSpPr/>
          <p:nvPr/>
        </p:nvGrpSpPr>
        <p:grpSpPr>
          <a:xfrm rot="0">
            <a:off x="339581" y="9258300"/>
            <a:ext cx="2405360" cy="510491"/>
            <a:chOff x="0" y="0"/>
            <a:chExt cx="3207146" cy="680655"/>
          </a:xfrm>
        </p:grpSpPr>
        <p:grpSp>
          <p:nvGrpSpPr>
            <p:cNvPr id="30" name="Group 30"/>
            <p:cNvGrpSpPr/>
            <p:nvPr/>
          </p:nvGrpSpPr>
          <p:grpSpPr>
            <a:xfrm rot="0">
              <a:off x="0" y="0"/>
              <a:ext cx="453770" cy="680655"/>
              <a:chOff x="0" y="0"/>
              <a:chExt cx="406400" cy="6096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 rot="0">
              <a:off x="1573215" y="0"/>
              <a:ext cx="453770" cy="680655"/>
              <a:chOff x="0" y="0"/>
              <a:chExt cx="406400" cy="6096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 rot="0">
              <a:off x="789245" y="0"/>
              <a:ext cx="453770" cy="680655"/>
              <a:chOff x="0" y="0"/>
              <a:chExt cx="406400" cy="6096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 rot="0">
              <a:off x="2362459" y="0"/>
              <a:ext cx="453770" cy="680655"/>
              <a:chOff x="0" y="0"/>
              <a:chExt cx="406400" cy="6096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 rot="0">
              <a:off x="390917" y="0"/>
              <a:ext cx="453770" cy="680655"/>
              <a:chOff x="0" y="0"/>
              <a:chExt cx="406400" cy="6096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 rot="0">
              <a:off x="1964131" y="0"/>
              <a:ext cx="453770" cy="680655"/>
              <a:chOff x="0" y="0"/>
              <a:chExt cx="406400" cy="6096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 rot="0">
              <a:off x="1180162" y="0"/>
              <a:ext cx="453770" cy="680655"/>
              <a:chOff x="0" y="0"/>
              <a:chExt cx="406400" cy="60960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 rot="0">
              <a:off x="2753376" y="0"/>
              <a:ext cx="453770" cy="680655"/>
              <a:chOff x="0" y="0"/>
              <a:chExt cx="406400" cy="60960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4064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096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743E8"/>
              </a:solidFill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101600" y="-66675"/>
                <a:ext cx="203200" cy="676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00"/>
                  </a:lnSpc>
                </a:pPr>
              </a:p>
            </p:txBody>
          </p:sp>
        </p:grpSp>
      </p:grpSp>
      <p:grpSp>
        <p:nvGrpSpPr>
          <p:cNvPr id="54" name="Group 54"/>
          <p:cNvGrpSpPr/>
          <p:nvPr/>
        </p:nvGrpSpPr>
        <p:grpSpPr>
          <a:xfrm rot="0">
            <a:off x="1592600" y="1425807"/>
            <a:ext cx="15102800" cy="7732028"/>
            <a:chOff x="0" y="0"/>
            <a:chExt cx="3977692" cy="2036419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3977692" cy="2036419"/>
            </a:xfrm>
            <a:custGeom>
              <a:avLst/>
              <a:gdLst/>
              <a:ahLst/>
              <a:cxnLst/>
              <a:rect l="l" t="t" r="r" b="b"/>
              <a:pathLst>
                <a:path w="3977692" h="2036419">
                  <a:moveTo>
                    <a:pt x="5639" y="0"/>
                  </a:moveTo>
                  <a:lnTo>
                    <a:pt x="3972053" y="0"/>
                  </a:lnTo>
                  <a:cubicBezTo>
                    <a:pt x="3975167" y="0"/>
                    <a:pt x="3977692" y="2525"/>
                    <a:pt x="3977692" y="5639"/>
                  </a:cubicBezTo>
                  <a:lnTo>
                    <a:pt x="3977692" y="2030780"/>
                  </a:lnTo>
                  <a:cubicBezTo>
                    <a:pt x="3977692" y="2033894"/>
                    <a:pt x="3975167" y="2036419"/>
                    <a:pt x="3972053" y="2036419"/>
                  </a:cubicBezTo>
                  <a:lnTo>
                    <a:pt x="5639" y="2036419"/>
                  </a:lnTo>
                  <a:cubicBezTo>
                    <a:pt x="2525" y="2036419"/>
                    <a:pt x="0" y="2033894"/>
                    <a:pt x="0" y="2030780"/>
                  </a:cubicBezTo>
                  <a:lnTo>
                    <a:pt x="0" y="5639"/>
                  </a:lnTo>
                  <a:cubicBezTo>
                    <a:pt x="0" y="2525"/>
                    <a:pt x="2525" y="0"/>
                    <a:pt x="563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743E8"/>
              </a:solidFill>
              <a:prstDash val="solid"/>
              <a:miter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0" y="-57150"/>
              <a:ext cx="3977692" cy="2093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5"/>
                </a:lnSpc>
              </a:pPr>
            </a:p>
            <a:p>
              <a:pPr algn="ctr">
                <a:lnSpc>
                  <a:spcPts val="2645"/>
                </a:lnSpc>
              </a:pPr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1835430" y="1534318"/>
            <a:ext cx="14564941" cy="7146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30"/>
              </a:lnSpc>
            </a:pPr>
          </a:p>
          <a:p>
            <a:pPr>
              <a:lnSpc>
                <a:spcPts val="3530"/>
              </a:lnSpc>
            </a:pPr>
            <a:r>
              <a:rPr lang="en-US" sz="2400" spc="223">
                <a:solidFill>
                  <a:srgbClr val="171717"/>
                </a:solidFill>
                <a:latin typeface="阿里巴巴普惠体 Bold" panose="00020600040101010101" charset="-122"/>
                <a:ea typeface="阿里巴巴普惠体 Bold" panose="00020600040101010101" charset="-122"/>
              </a:rPr>
              <a:t>根据灵昆岛当地特产特点取字“蠓”“甜”等进行拓展</a:t>
            </a:r>
            <a:endParaRPr lang="en-US" sz="2400" spc="223">
              <a:solidFill>
                <a:srgbClr val="171717"/>
              </a:solidFill>
              <a:latin typeface="阿里巴巴普惠体 Bold" panose="00020600040101010101" charset="-122"/>
              <a:ea typeface="阿里巴巴普惠体 Bold" panose="00020600040101010101" charset="-122"/>
            </a:endParaRPr>
          </a:p>
          <a:p>
            <a:pPr>
              <a:lnSpc>
                <a:spcPts val="3530"/>
              </a:lnSpc>
            </a:pPr>
          </a:p>
          <a:p>
            <a:pPr>
              <a:lnSpc>
                <a:spcPts val="3530"/>
              </a:lnSpc>
            </a:pPr>
            <a:r>
              <a:rPr lang="en-US" sz="2400" spc="223">
                <a:solidFill>
                  <a:srgbClr val="171717"/>
                </a:solidFill>
                <a:ea typeface="阿里巴巴普惠体 Bold" panose="00020600040101010101" charset="-122"/>
              </a:rPr>
              <a:t>叠字：</a:t>
            </a:r>
            <a:endParaRPr lang="en-US" sz="2400" spc="223">
              <a:solidFill>
                <a:srgbClr val="171717"/>
              </a:solidFill>
              <a:ea typeface="阿里巴巴普惠体 Bold" panose="00020600040101010101" charset="-122"/>
            </a:endParaRPr>
          </a:p>
          <a:p>
            <a:pPr>
              <a:lnSpc>
                <a:spcPts val="3530"/>
              </a:lnSpc>
            </a:pPr>
            <a:r>
              <a:rPr lang="en-US" sz="2400" spc="223">
                <a:solidFill>
                  <a:srgbClr val="171717"/>
                </a:solidFill>
                <a:ea typeface="阿里巴巴普惠体" panose="00020600040101010101" charset="-122"/>
              </a:rPr>
              <a:t>萌萌、甜甜、毛毛、叮叮、咚咚</a:t>
            </a:r>
            <a:endParaRPr lang="en-US" sz="2400" spc="223">
              <a:solidFill>
                <a:srgbClr val="171717"/>
              </a:solidFill>
              <a:ea typeface="阿里巴巴普惠体" panose="00020600040101010101" charset="-122"/>
            </a:endParaRPr>
          </a:p>
          <a:p>
            <a:pPr>
              <a:lnSpc>
                <a:spcPts val="3530"/>
              </a:lnSpc>
            </a:pPr>
          </a:p>
          <a:p>
            <a:pPr>
              <a:lnSpc>
                <a:spcPts val="3530"/>
              </a:lnSpc>
            </a:pPr>
            <a:r>
              <a:rPr lang="en-US" sz="2400" spc="223">
                <a:solidFill>
                  <a:srgbClr val="171717"/>
                </a:solidFill>
                <a:ea typeface="阿里巴巴普惠体 Bold" panose="00020600040101010101" charset="-122"/>
              </a:rPr>
              <a:t>小字：</a:t>
            </a:r>
            <a:endParaRPr lang="en-US" sz="2400" spc="223">
              <a:solidFill>
                <a:srgbClr val="171717"/>
              </a:solidFill>
              <a:ea typeface="阿里巴巴普惠体 Bold" panose="00020600040101010101" charset="-122"/>
            </a:endParaRPr>
          </a:p>
          <a:p>
            <a:pPr>
              <a:lnSpc>
                <a:spcPts val="3530"/>
              </a:lnSpc>
            </a:pPr>
            <a:r>
              <a:rPr lang="en-US" sz="2400" spc="223">
                <a:solidFill>
                  <a:srgbClr val="171717"/>
                </a:solidFill>
                <a:ea typeface="阿里巴巴普惠体" panose="00020600040101010101" charset="-122"/>
              </a:rPr>
              <a:t>萌小蟹、甜小瓜、毛小鸡、叮小咚</a:t>
            </a:r>
            <a:endParaRPr lang="en-US" sz="2400" spc="223">
              <a:solidFill>
                <a:srgbClr val="171717"/>
              </a:solidFill>
              <a:ea typeface="阿里巴巴普惠体" panose="00020600040101010101" charset="-122"/>
            </a:endParaRPr>
          </a:p>
          <a:p>
            <a:pPr>
              <a:lnSpc>
                <a:spcPts val="3530"/>
              </a:lnSpc>
            </a:pPr>
          </a:p>
          <a:p>
            <a:pPr>
              <a:lnSpc>
                <a:spcPts val="3530"/>
              </a:lnSpc>
            </a:pPr>
            <a:r>
              <a:rPr lang="en-US" sz="2400" spc="223">
                <a:solidFill>
                  <a:srgbClr val="171717"/>
                </a:solidFill>
                <a:latin typeface="阿里巴巴普惠体 Bold" panose="00020600040101010101" charset="-122"/>
                <a:ea typeface="阿里巴巴普惠体 Bold" panose="00020600040101010101" charset="-122"/>
              </a:rPr>
              <a:t>宝字/仔字：</a:t>
            </a:r>
            <a:endParaRPr lang="en-US" sz="2400" spc="223">
              <a:solidFill>
                <a:srgbClr val="171717"/>
              </a:solidFill>
              <a:latin typeface="阿里巴巴普惠体 Bold" panose="00020600040101010101" charset="-122"/>
              <a:ea typeface="阿里巴巴普惠体 Bold" panose="00020600040101010101" charset="-122"/>
            </a:endParaRPr>
          </a:p>
          <a:p>
            <a:pPr>
              <a:lnSpc>
                <a:spcPts val="3530"/>
              </a:lnSpc>
            </a:pPr>
            <a:r>
              <a:rPr lang="en-US" sz="2400" spc="223">
                <a:solidFill>
                  <a:srgbClr val="171717"/>
                </a:solidFill>
                <a:ea typeface="阿里巴巴普惠体" panose="00020600040101010101" charset="-122"/>
              </a:rPr>
              <a:t>甜宝、萌宝、萌仔等</a:t>
            </a:r>
            <a:endParaRPr lang="en-US" sz="2400" spc="223">
              <a:solidFill>
                <a:srgbClr val="171717"/>
              </a:solidFill>
              <a:ea typeface="阿里巴巴普惠体" panose="00020600040101010101" charset="-122"/>
            </a:endParaRPr>
          </a:p>
          <a:p>
            <a:pPr>
              <a:lnSpc>
                <a:spcPts val="3530"/>
              </a:lnSpc>
            </a:pPr>
          </a:p>
          <a:p>
            <a:pPr>
              <a:lnSpc>
                <a:spcPts val="3530"/>
              </a:lnSpc>
            </a:pPr>
            <a:r>
              <a:rPr lang="en-US" sz="2400" spc="223">
                <a:solidFill>
                  <a:srgbClr val="171717"/>
                </a:solidFill>
                <a:ea typeface="阿里巴巴普惠体 Bold" panose="00020600040101010101" charset="-122"/>
              </a:rPr>
              <a:t>娃娃：</a:t>
            </a:r>
            <a:endParaRPr lang="en-US" sz="2400" spc="223">
              <a:solidFill>
                <a:srgbClr val="171717"/>
              </a:solidFill>
              <a:ea typeface="阿里巴巴普惠体 Bold" panose="00020600040101010101" charset="-122"/>
            </a:endParaRPr>
          </a:p>
          <a:p>
            <a:pPr>
              <a:lnSpc>
                <a:spcPts val="3530"/>
              </a:lnSpc>
            </a:pPr>
            <a:r>
              <a:rPr lang="en-US" sz="2400" spc="223">
                <a:solidFill>
                  <a:srgbClr val="171717"/>
                </a:solidFill>
                <a:ea typeface="阿里巴巴普惠体" panose="00020600040101010101" charset="-122"/>
              </a:rPr>
              <a:t>甜娃娃、萌娃娃、毛娃娃</a:t>
            </a:r>
            <a:endParaRPr lang="en-US" sz="2400" spc="223">
              <a:solidFill>
                <a:srgbClr val="171717"/>
              </a:solidFill>
              <a:ea typeface="阿里巴巴普惠体" panose="00020600040101010101" charset="-122"/>
            </a:endParaRPr>
          </a:p>
          <a:p>
            <a:pPr>
              <a:lnSpc>
                <a:spcPts val="3530"/>
              </a:lnSpc>
            </a:pPr>
          </a:p>
          <a:p>
            <a:pPr>
              <a:lnSpc>
                <a:spcPts val="3530"/>
              </a:lnSpc>
            </a:pPr>
          </a:p>
        </p:txBody>
      </p:sp>
      <p:sp>
        <p:nvSpPr>
          <p:cNvPr id="58" name="Freeform 58"/>
          <p:cNvSpPr/>
          <p:nvPr/>
        </p:nvSpPr>
        <p:spPr>
          <a:xfrm>
            <a:off x="11148742" y="7132747"/>
            <a:ext cx="5516699" cy="2025088"/>
          </a:xfrm>
          <a:custGeom>
            <a:avLst/>
            <a:gdLst/>
            <a:ahLst/>
            <a:cxnLst/>
            <a:rect l="l" t="t" r="r" b="b"/>
            <a:pathLst>
              <a:path w="5516699" h="2025088">
                <a:moveTo>
                  <a:pt x="0" y="0"/>
                </a:moveTo>
                <a:lnTo>
                  <a:pt x="5516699" y="0"/>
                </a:lnTo>
                <a:lnTo>
                  <a:pt x="5516699" y="2025088"/>
                </a:lnTo>
                <a:lnTo>
                  <a:pt x="0" y="20250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 flipH="1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0" y="0"/>
                </a:lnTo>
                <a:lnTo>
                  <a:pt x="0" y="18288000"/>
                </a:lnTo>
                <a:lnTo>
                  <a:pt x="10287000" y="1828800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4015497"/>
            <a:ext cx="11847554" cy="1519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320"/>
              </a:lnSpc>
            </a:pPr>
            <a:r>
              <a:rPr lang="en-US" sz="8800" spc="1443">
                <a:solidFill>
                  <a:srgbClr val="171717"/>
                </a:solidFill>
                <a:latin typeface="字由点字倔强黑" panose="00020600040101010101" charset="-122"/>
              </a:rPr>
              <a:t>THANKS</a:t>
            </a:r>
            <a:endParaRPr lang="en-US" sz="8800" spc="1443">
              <a:solidFill>
                <a:srgbClr val="171717"/>
              </a:solidFill>
              <a:latin typeface="字由点字倔强黑" panose="00020600040101010101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186447" y="5601583"/>
            <a:ext cx="11532059" cy="470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2200" spc="1759">
                <a:solidFill>
                  <a:srgbClr val="404040"/>
                </a:solidFill>
                <a:ea typeface="Arimo Light"/>
              </a:rPr>
              <a:t>瓯创文化，让创意生根发芽</a:t>
            </a:r>
            <a:endParaRPr lang="en-US" sz="2200" spc="1759">
              <a:solidFill>
                <a:srgbClr val="404040"/>
              </a:solidFill>
              <a:ea typeface="Arimo Light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686693" y="355326"/>
            <a:ext cx="1679936" cy="673374"/>
          </a:xfrm>
          <a:custGeom>
            <a:avLst/>
            <a:gdLst/>
            <a:ahLst/>
            <a:cxnLst/>
            <a:rect l="l" t="t" r="r" b="b"/>
            <a:pathLst>
              <a:path w="1679936" h="673374">
                <a:moveTo>
                  <a:pt x="0" y="0"/>
                </a:moveTo>
                <a:lnTo>
                  <a:pt x="1679936" y="0"/>
                </a:lnTo>
                <a:lnTo>
                  <a:pt x="1679936" y="673374"/>
                </a:lnTo>
                <a:lnTo>
                  <a:pt x="0" y="6733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2373</Words>
  <Application>WPS 演示</Application>
  <PresentationFormat>On-screen Show (4:3)</PresentationFormat>
  <Paragraphs>268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59" baseType="lpstr">
      <vt:lpstr>Arial</vt:lpstr>
      <vt:lpstr>宋体</vt:lpstr>
      <vt:lpstr>Wingdings</vt:lpstr>
      <vt:lpstr>字由点字倔强黑</vt:lpstr>
      <vt:lpstr>Arimo Light</vt:lpstr>
      <vt:lpstr>FFont-Family</vt:lpstr>
      <vt:lpstr>阿里巴巴普惠体</vt:lpstr>
      <vt:lpstr>Arimo</vt:lpstr>
      <vt:lpstr>Arimo Bold</vt:lpstr>
      <vt:lpstr>思源黑体</vt:lpstr>
      <vt:lpstr>黑体</vt:lpstr>
      <vt:lpstr>字由点字美玲体</vt:lpstr>
      <vt:lpstr>思源黑体 Bold</vt:lpstr>
      <vt:lpstr>Calibri</vt:lpstr>
      <vt:lpstr>微软雅黑</vt:lpstr>
      <vt:lpstr>Arial Unicode MS</vt:lpstr>
      <vt:lpstr>阿里巴巴普惠体 Bold</vt:lpstr>
      <vt:lpstr>KSOF4CF9F437</vt:lpstr>
      <vt:lpstr>Arimo</vt:lpstr>
      <vt:lpstr>Arimo Bold</vt:lpstr>
      <vt:lpstr>Arimo Light</vt:lpstr>
      <vt:lpstr>思源黑体</vt:lpstr>
      <vt:lpstr>思源黑体 Bold</vt:lpstr>
      <vt:lpstr>Windsor Std Light</vt:lpstr>
      <vt:lpstr>清雅黑体</vt:lpstr>
      <vt:lpstr>方正大黑体_GBK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科技风</dc:title>
  <dc:creator/>
  <cp:lastModifiedBy>PX SHAO.</cp:lastModifiedBy>
  <cp:revision>3</cp:revision>
  <dcterms:created xsi:type="dcterms:W3CDTF">2006-08-16T00:00:00Z</dcterms:created>
  <dcterms:modified xsi:type="dcterms:W3CDTF">2026-10-20T06:37:24Z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A1F53B91811A43679CF7465BBAD4C820_13</vt:lpwstr>
  </property>
  <property fmtid="{D5CDD505-2E9C-101B-9397-08002B2CF9AE}" pid="3" name="KSOProductBuildVer">
    <vt:lpwstr>2052-12.1.0.29161</vt:lpwstr>
  </property>
</Properties>
</file>