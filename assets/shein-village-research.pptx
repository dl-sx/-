
<file path=[Content_Types].xml><?xml version="1.0" encoding="utf-8"?>
<Types xmlns="http://schemas.openxmlformats.org/package/2006/content-types">
  <Default Extension="jpeg" ContentType="image/jpeg"/>
  <Default Extension="JPG" ContentType="image/.jpg"/>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olors1.xml" ContentType="application/vnd.ms-office.chartcolorstyle+xml"/>
  <Override PartName="/ppt/charts/style1.xml" ContentType="application/vnd.ms-office.chartstyl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4.svg" ContentType="image/svg+xml"/>
  <Override PartName="/ppt/media/image17.svg" ContentType="image/svg+xml"/>
  <Override PartName="/ppt/media/image18.svg" ContentType="image/svg+xml"/>
  <Override PartName="/ppt/media/image20.svg" ContentType="image/svg+xml"/>
  <Override PartName="/ppt/media/image4.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4"/>
  </p:notesMasterIdLst>
  <p:handoutMasterIdLst>
    <p:handoutMasterId r:id="rId20"/>
  </p:handoutMasterIdLst>
  <p:sldIdLst>
    <p:sldId id="338" r:id="rId3"/>
    <p:sldId id="355" r:id="rId5"/>
    <p:sldId id="363" r:id="rId6"/>
    <p:sldId id="362" r:id="rId7"/>
    <p:sldId id="361" r:id="rId8"/>
    <p:sldId id="369" r:id="rId9"/>
    <p:sldId id="339" r:id="rId10"/>
    <p:sldId id="359" r:id="rId11"/>
    <p:sldId id="364" r:id="rId12"/>
    <p:sldId id="356" r:id="rId13"/>
    <p:sldId id="370" r:id="rId14"/>
    <p:sldId id="374" r:id="rId15"/>
    <p:sldId id="375" r:id="rId16"/>
    <p:sldId id="376" r:id="rId17"/>
    <p:sldId id="377" r:id="rId18"/>
    <p:sldId id="354" r:id="rId19"/>
  </p:sldIdLst>
  <p:sldSz cx="12192000" cy="6858000"/>
  <p:notesSz cx="6858000" cy="9144000"/>
  <p:custDataLst>
    <p:tags r:id="rId3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10" userDrawn="1">
          <p15:clr>
            <a:srgbClr val="A4A3A4"/>
          </p15:clr>
        </p15:guide>
        <p15:guide id="2" pos="381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 initials="a" lastIdx="1" clrIdx="0"/>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7F7F7"/>
    <a:srgbClr val="878783"/>
    <a:srgbClr val="E0E0E0"/>
    <a:srgbClr val="FDFDFD"/>
    <a:srgbClr val="1C75BC"/>
    <a:srgbClr val="BCBEC0"/>
    <a:srgbClr val="1F6108"/>
    <a:srgbClr val="26700A"/>
    <a:srgbClr val="1A5A0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0694" autoAdjust="0"/>
    <p:restoredTop sz="94660"/>
  </p:normalViewPr>
  <p:slideViewPr>
    <p:cSldViewPr showGuides="1">
      <p:cViewPr>
        <p:scale>
          <a:sx n="60" d="100"/>
          <a:sy n="60" d="100"/>
        </p:scale>
        <p:origin x="330" y="384"/>
      </p:cViewPr>
      <p:guideLst>
        <p:guide orient="horz" pos="1010"/>
        <p:guide pos="3810"/>
      </p:guideLst>
    </p:cSldViewPr>
  </p:slideViewPr>
  <p:notesTextViewPr>
    <p:cViewPr>
      <p:scale>
        <a:sx n="1" d="1"/>
        <a:sy n="1" d="1"/>
      </p:scale>
      <p:origin x="0" y="0"/>
    </p:cViewPr>
  </p:notesTextViewPr>
  <p:sorterViewPr>
    <p:cViewPr>
      <p:scale>
        <a:sx n="66" d="100"/>
        <a:sy n="66" d="100"/>
      </p:scale>
      <p:origin x="0" y="-7908"/>
    </p:cViewPr>
  </p:sorterViewPr>
  <p:notesViewPr>
    <p:cSldViewPr snapToGrid="0">
      <p:cViewPr varScale="1">
        <p:scale>
          <a:sx n="83" d="100"/>
          <a:sy n="83" d="100"/>
        </p:scale>
        <p:origin x="3828" y="66"/>
      </p:cViewPr>
      <p:guideLst/>
    </p:cSldViewPr>
  </p:notesViewPr>
  <p:gridSpacing cx="45000" cy="450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7" Type="http://schemas.openxmlformats.org/officeDocument/2006/relationships/tags" Target="tags/tag39.xml"/><Relationship Id="rId3" Type="http://schemas.openxmlformats.org/officeDocument/2006/relationships/slide" Target="slides/slide1.xml"/><Relationship Id="rId24" Type="http://schemas.openxmlformats.org/officeDocument/2006/relationships/commentAuthors" Target="commentAuthors.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handoutMaster" Target="handoutMasters/handoutMaster1.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3" Type="http://schemas.microsoft.com/office/2011/relationships/chartColorStyle" Target="colors1.xml"/><Relationship Id="rId2" Type="http://schemas.microsoft.com/office/2011/relationships/chartStyle" Target="style1.xml"/><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543473336642508"/>
          <c:y val="0.135827627369307"/>
          <c:w val="0.918747965036599"/>
          <c:h val="0.694309899135799"/>
        </c:manualLayout>
      </c:layout>
      <c:barChart>
        <c:barDir val="col"/>
        <c:grouping val="clustered"/>
        <c:varyColors val="0"/>
        <c:ser>
          <c:idx val="0"/>
          <c:order val="0"/>
          <c:tx>
            <c:strRef>
              <c:f>Sheet1!$B$1</c:f>
              <c:strCache>
                <c:ptCount val="1"/>
                <c:pt idx="0">
                  <c:v>营收</c:v>
                </c:pt>
              </c:strCache>
            </c:strRef>
          </c:tx>
          <c:spPr>
            <a:solidFill>
              <a:schemeClr val="bg1">
                <a:lumMod val="85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Open Sans" panose="020B0606030504020204" charset="0"/>
                    <a:ea typeface="Open Sans" panose="020B0606030504020204" charset="0"/>
                    <a:cs typeface="Open Sans" panose="020B060603050402020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2021</c:v>
                </c:pt>
                <c:pt idx="1">
                  <c:v>2022</c:v>
                </c:pt>
                <c:pt idx="2">
                  <c:v>2023</c:v>
                </c:pt>
                <c:pt idx="3">
                  <c:v>2024</c:v>
                </c:pt>
                <c:pt idx="4">
                  <c:v>2025</c:v>
                </c:pt>
              </c:numCache>
            </c:numRef>
          </c:cat>
          <c:val>
            <c:numRef>
              <c:f>Sheet1!$B$2:$B$6</c:f>
              <c:numCache>
                <c:formatCode>General</c:formatCode>
                <c:ptCount val="5"/>
                <c:pt idx="0">
                  <c:v>157</c:v>
                </c:pt>
                <c:pt idx="1">
                  <c:v>227</c:v>
                </c:pt>
                <c:pt idx="2">
                  <c:v>322</c:v>
                </c:pt>
                <c:pt idx="3">
                  <c:v>380</c:v>
                </c:pt>
                <c:pt idx="4">
                  <c:v>437</c:v>
                </c:pt>
              </c:numCache>
            </c:numRef>
          </c:val>
        </c:ser>
        <c:ser>
          <c:idx val="1"/>
          <c:order val="1"/>
          <c:tx>
            <c:strRef>
              <c:f>Sheet1!$C$1</c:f>
              <c:strCache>
                <c:ptCount val="1"/>
                <c:pt idx="0">
                  <c:v>利润</c:v>
                </c:pt>
              </c:strCache>
            </c:strRef>
          </c:tx>
          <c:spPr>
            <a:solidFill>
              <a:schemeClr val="bg1">
                <a:lumMod val="75000"/>
              </a:schemeClr>
            </a:solidFill>
            <a:ln>
              <a:noFill/>
            </a:ln>
            <a:effectLst/>
          </c:spPr>
          <c:invertIfNegative val="0"/>
          <c:dLbls>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Open Sans" panose="020B0606030504020204" charset="0"/>
                    <a:ea typeface="Open Sans" panose="020B0606030504020204" charset="0"/>
                    <a:cs typeface="Open Sans" panose="020B060603050402020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Sheet1!$A$2:$A$6</c:f>
              <c:numCache>
                <c:formatCode>General</c:formatCode>
                <c:ptCount val="5"/>
                <c:pt idx="0">
                  <c:v>2021</c:v>
                </c:pt>
                <c:pt idx="1">
                  <c:v>2022</c:v>
                </c:pt>
                <c:pt idx="2">
                  <c:v>2023</c:v>
                </c:pt>
                <c:pt idx="3">
                  <c:v>2024</c:v>
                </c:pt>
                <c:pt idx="4">
                  <c:v>2025</c:v>
                </c:pt>
              </c:numCache>
            </c:numRef>
          </c:cat>
          <c:val>
            <c:numRef>
              <c:f>Sheet1!$C$2:$C$6</c:f>
              <c:numCache>
                <c:formatCode>General</c:formatCode>
                <c:ptCount val="5"/>
                <c:pt idx="0">
                  <c:v>11</c:v>
                </c:pt>
                <c:pt idx="1">
                  <c:v>7</c:v>
                </c:pt>
                <c:pt idx="2">
                  <c:v>20</c:v>
                </c:pt>
                <c:pt idx="3">
                  <c:v>10</c:v>
                </c:pt>
                <c:pt idx="4">
                  <c:v>20</c:v>
                </c:pt>
              </c:numCache>
            </c:numRef>
          </c:val>
        </c:ser>
        <c:ser>
          <c:idx val="2"/>
          <c:order val="2"/>
          <c:tx>
            <c:strRef>
              <c:f>Sheet1!$D$1</c:f>
              <c:strCache>
                <c:ptCount val="1"/>
                <c:pt idx="0">
                  <c:v>市值</c:v>
                </c:pt>
              </c:strCache>
            </c:strRef>
          </c:tx>
          <c:spPr>
            <a:solidFill>
              <a:schemeClr val="tx1"/>
            </a:solidFill>
            <a:ln w="25400">
              <a:noFill/>
              <a:headEnd w="lg" len="lg"/>
              <a:tailEnd w="lg" len="lg"/>
            </a:ln>
            <a:effectLst/>
          </c:spPr>
          <c:invertIfNegative val="0"/>
          <c:dLbls>
            <c:spPr>
              <a:noFill/>
              <a:ln>
                <a:noFill/>
              </a:ln>
              <a:effectLst/>
            </c:spPr>
            <c:txPr>
              <a:bodyPr rot="0" spcFirstLastPara="0" vertOverflow="ellipsis" vert="horz" wrap="square" lIns="38100" tIns="19050" rIns="38100" bIns="19050" anchor="ctr" anchorCtr="1"/>
              <a:lstStyle/>
              <a:p>
                <a:pPr>
                  <a:defRPr lang="zh-CN" sz="1200" b="0" i="0" u="none" strike="noStrike" kern="1200" baseline="0">
                    <a:solidFill>
                      <a:schemeClr val="tx1">
                        <a:lumMod val="75000"/>
                        <a:lumOff val="25000"/>
                      </a:schemeClr>
                    </a:solidFill>
                    <a:latin typeface="Open Sans" panose="020B0606030504020204" charset="0"/>
                    <a:ea typeface="Open Sans" panose="020B0606030504020204" charset="0"/>
                    <a:cs typeface="Open Sans" panose="020B060603050402020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trendline>
            <c:spPr>
              <a:ln w="19050" cap="rnd">
                <a:solidFill>
                  <a:schemeClr val="accent3"/>
                </a:solidFill>
                <a:prstDash val="sysDot"/>
              </a:ln>
              <a:effectLst/>
            </c:spPr>
            <c:trendlineType val="linear"/>
            <c:dispRSqr val="0"/>
            <c:dispEq val="0"/>
          </c:trendline>
          <c:cat>
            <c:numRef>
              <c:f>Sheet1!$A$2:$A$6</c:f>
              <c:numCache>
                <c:formatCode>General</c:formatCode>
                <c:ptCount val="5"/>
                <c:pt idx="0">
                  <c:v>2021</c:v>
                </c:pt>
                <c:pt idx="1">
                  <c:v>2022</c:v>
                </c:pt>
                <c:pt idx="2">
                  <c:v>2023</c:v>
                </c:pt>
                <c:pt idx="3">
                  <c:v>2024</c:v>
                </c:pt>
                <c:pt idx="4">
                  <c:v>2025</c:v>
                </c:pt>
              </c:numCache>
            </c:numRef>
          </c:cat>
          <c:val>
            <c:numRef>
              <c:f>Sheet1!$D$2:$D$6</c:f>
              <c:numCache>
                <c:formatCode>General</c:formatCode>
                <c:ptCount val="5"/>
                <c:pt idx="0">
                  <c:v>500</c:v>
                </c:pt>
                <c:pt idx="1">
                  <c:v>1000</c:v>
                </c:pt>
                <c:pt idx="2">
                  <c:v>900</c:v>
                </c:pt>
                <c:pt idx="3">
                  <c:v>600</c:v>
                </c:pt>
                <c:pt idx="4">
                  <c:v>500</c:v>
                </c:pt>
              </c:numCache>
            </c:numRef>
          </c:val>
        </c:ser>
        <c:dLbls>
          <c:showLegendKey val="0"/>
          <c:showVal val="1"/>
          <c:showCatName val="0"/>
          <c:showSerName val="0"/>
          <c:showPercent val="0"/>
          <c:showBubbleSize val="0"/>
        </c:dLbls>
        <c:gapWidth val="150"/>
        <c:axId val="397555472"/>
        <c:axId val="397681248"/>
      </c:barChart>
      <c:catAx>
        <c:axId val="397555472"/>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Open Sans" panose="020B0606030504020204" charset="0"/>
                <a:ea typeface="Open Sans" panose="020B0606030504020204" charset="0"/>
                <a:cs typeface="Open Sans" panose="020B0606030504020204" charset="0"/>
              </a:defRPr>
            </a:pPr>
          </a:p>
        </c:txPr>
        <c:crossAx val="397681248"/>
        <c:crosses val="autoZero"/>
        <c:auto val="1"/>
        <c:lblAlgn val="ctr"/>
        <c:lblOffset val="100"/>
        <c:noMultiLvlLbl val="0"/>
      </c:catAx>
      <c:valAx>
        <c:axId val="3976812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200" b="0" i="0" u="none" strike="noStrike" kern="1200" baseline="0">
                <a:solidFill>
                  <a:schemeClr val="tx1">
                    <a:lumMod val="65000"/>
                    <a:lumOff val="35000"/>
                  </a:schemeClr>
                </a:solidFill>
                <a:latin typeface="Open Sans" panose="020B0606030504020204" charset="0"/>
                <a:ea typeface="Open Sans" panose="020B0606030504020204" charset="0"/>
                <a:cs typeface="Open Sans" panose="020B0606030504020204" charset="0"/>
              </a:defRPr>
            </a:pPr>
          </a:p>
        </c:txPr>
        <c:crossAx val="397555472"/>
        <c:crosses val="autoZero"/>
        <c:crossBetween val="between"/>
      </c:valAx>
      <c:spPr>
        <a:noFill/>
        <a:ln>
          <a:noFill/>
        </a:ln>
        <a:effectLst/>
      </c:spPr>
    </c:plotArea>
    <c:legend>
      <c:legendPos val="b"/>
      <c:layout>
        <c:manualLayout>
          <c:xMode val="edge"/>
          <c:yMode val="edge"/>
          <c:x val="0.254455245797505"/>
          <c:y val="0.0212438126872817"/>
          <c:w val="0.443016787816587"/>
          <c:h val="0.0684629696191851"/>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Open Sans" panose="020B0606030504020204" charset="0"/>
              <a:ea typeface="Open Sans" panose="020B0606030504020204" charset="0"/>
              <a:cs typeface="Open Sans" panose="020B0606030504020204" charset="0"/>
            </a:defRPr>
          </a:pPr>
        </a:p>
      </c:txPr>
    </c:legend>
    <c:plotVisOnly val="1"/>
    <c:dispBlanksAs val="gap"/>
    <c:showDLblsOverMax val="0"/>
    <c:extLst>
      <c:ext uri="{0b15fc19-7d7d-44ad-8c2d-2c3a37ce22c3}">
        <chartProps xmlns="https://web.wps.cn/et/2018/main" chartId="{39b6ebed-d76e-4b27-9ec4-68c874fb3b41}"/>
      </c:ext>
    </c:extLst>
  </c:chart>
  <c:spPr>
    <a:noFill/>
    <a:ln>
      <a:noFill/>
    </a:ln>
    <a:effectLst/>
  </c:spPr>
  <c:txPr>
    <a:bodyPr/>
    <a:lstStyle/>
    <a:p>
      <a:pPr>
        <a:defRPr lang="zh-CN" sz="1200">
          <a:latin typeface="Open Sans" panose="020B0606030504020204" charset="0"/>
          <a:ea typeface="Open Sans" panose="020B0606030504020204" charset="0"/>
          <a:cs typeface="Open Sans" panose="020B0606030504020204" charset="0"/>
        </a:defRPr>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85CF35C-D8B4-40CD-AC4B-EB87F13805C3}" type="datetimeFigureOut">
              <a:rPr lang="en-US" smtClean="0"/>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0DD243B-FFB1-446E-9114-40ACCD7DCCD8}" type="slidenum">
              <a:rPr lang="en-US" smtClean="0"/>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7604B2-0104-47E2-A454-F16A8221FE53}"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549D33-5D85-48A9-B874-2732B52B07D8}"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6BE02D-20C0-F840-AFAC-BEA99C74FDC2}" type="slidenum">
              <a:rPr lang="en-US" smtClean="0"/>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6BE02D-20C0-F840-AFAC-BEA99C74FDC2}"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图片 1" descr="1-01"/>
          <p:cNvPicPr>
            <a:picLocks noChangeAspect="1"/>
          </p:cNvPicPr>
          <p:nvPr userDrawn="1"/>
        </p:nvPicPr>
        <p:blipFill>
          <a:blip r:embed="rId2"/>
          <a:srcRect t="15612"/>
          <a:stretch>
            <a:fillRect/>
          </a:stretch>
        </p:blipFill>
        <p:spPr>
          <a:xfrm>
            <a:off x="-9525" y="-15875"/>
            <a:ext cx="12197080" cy="686498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ndex">
    <p:bg>
      <p:bgPr>
        <a:solidFill>
          <a:srgbClr val="FDFDFD"/>
        </a:solidFill>
        <a:effectLst/>
      </p:bgPr>
    </p:bg>
    <p:spTree>
      <p:nvGrpSpPr>
        <p:cNvPr id="1" name=""/>
        <p:cNvGrpSpPr/>
        <p:nvPr/>
      </p:nvGrpSpPr>
      <p:grpSpPr>
        <a:xfrm>
          <a:off x="0" y="0"/>
          <a:ext cx="0" cy="0"/>
          <a:chOff x="0" y="0"/>
          <a:chExt cx="0" cy="0"/>
        </a:xfrm>
      </p:grpSpPr>
      <p:pic>
        <p:nvPicPr>
          <p:cNvPr id="6" name="图片 5" descr="C:\Users\Administrator\Desktop\2-01.png2-01"/>
          <p:cNvPicPr>
            <a:picLocks noChangeAspect="1"/>
          </p:cNvPicPr>
          <p:nvPr userDrawn="1"/>
        </p:nvPicPr>
        <p:blipFill>
          <a:blip r:embed="rId2"/>
          <a:srcRect/>
          <a:stretch>
            <a:fillRect/>
          </a:stretch>
        </p:blipFill>
        <p:spPr>
          <a:xfrm>
            <a:off x="-6985" y="-15875"/>
            <a:ext cx="10292080" cy="686498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4" name="图片 3" descr="C:\Users\Administrator\Desktop\2-01.png2-01"/>
          <p:cNvPicPr>
            <a:picLocks noChangeAspect="1"/>
          </p:cNvPicPr>
          <p:nvPr userDrawn="1"/>
        </p:nvPicPr>
        <p:blipFill>
          <a:blip r:embed="rId2"/>
          <a:srcRect/>
          <a:stretch>
            <a:fillRect/>
          </a:stretch>
        </p:blipFill>
        <p:spPr>
          <a:xfrm flipH="1">
            <a:off x="1906905" y="-15875"/>
            <a:ext cx="10292080" cy="6864985"/>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s 01">
    <p:spTree>
      <p:nvGrpSpPr>
        <p:cNvPr id="1" name=""/>
        <p:cNvGrpSpPr/>
        <p:nvPr/>
      </p:nvGrpSpPr>
      <p:grpSpPr>
        <a:xfrm>
          <a:off x="0" y="0"/>
          <a:ext cx="0" cy="0"/>
          <a:chOff x="0" y="0"/>
          <a:chExt cx="0" cy="0"/>
        </a:xfrm>
      </p:grpSpPr>
      <p:pic>
        <p:nvPicPr>
          <p:cNvPr id="4" name="图片 3" descr="C:\Users\Administrator\Desktop\2-01.png2-01"/>
          <p:cNvPicPr>
            <a:picLocks noChangeAspect="1"/>
          </p:cNvPicPr>
          <p:nvPr userDrawn="1"/>
        </p:nvPicPr>
        <p:blipFill>
          <a:blip r:embed="rId2"/>
          <a:srcRect l="3118"/>
          <a:stretch>
            <a:fillRect/>
          </a:stretch>
        </p:blipFill>
        <p:spPr>
          <a:xfrm flipH="1">
            <a:off x="5913755" y="-1905"/>
            <a:ext cx="6274435" cy="4319905"/>
          </a:xfrm>
          <a:prstGeom prst="rect">
            <a:avLst/>
          </a:prstGeom>
        </p:spPr>
      </p:pic>
      <p:pic>
        <p:nvPicPr>
          <p:cNvPr id="5" name="图片 4" descr="C:\Users\Administrator\Desktop\2-01.png2-01"/>
          <p:cNvPicPr>
            <a:picLocks noChangeAspect="1"/>
          </p:cNvPicPr>
          <p:nvPr userDrawn="1"/>
        </p:nvPicPr>
        <p:blipFill>
          <a:blip r:embed="rId2"/>
          <a:srcRect l="3118"/>
          <a:stretch>
            <a:fillRect/>
          </a:stretch>
        </p:blipFill>
        <p:spPr>
          <a:xfrm flipV="1">
            <a:off x="-5080" y="2533015"/>
            <a:ext cx="6274435" cy="4319905"/>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4" name="图片 3" descr="C:\Users\Administrator\Desktop\2-01.png2-01"/>
          <p:cNvPicPr>
            <a:picLocks noChangeAspect="1"/>
          </p:cNvPicPr>
          <p:nvPr userDrawn="1"/>
        </p:nvPicPr>
        <p:blipFill>
          <a:blip r:embed="rId2"/>
          <a:srcRect l="3118"/>
          <a:stretch>
            <a:fillRect/>
          </a:stretch>
        </p:blipFill>
        <p:spPr>
          <a:xfrm>
            <a:off x="-5080" y="-635"/>
            <a:ext cx="6274435" cy="4319905"/>
          </a:xfrm>
          <a:prstGeom prst="rect">
            <a:avLst/>
          </a:prstGeom>
        </p:spPr>
      </p:pic>
      <p:pic>
        <p:nvPicPr>
          <p:cNvPr id="5" name="图片 4" descr="C:\Users\Administrator\Desktop\2-01.png2-01"/>
          <p:cNvPicPr>
            <a:picLocks noChangeAspect="1"/>
          </p:cNvPicPr>
          <p:nvPr userDrawn="1"/>
        </p:nvPicPr>
        <p:blipFill>
          <a:blip r:embed="rId2"/>
          <a:srcRect l="3118"/>
          <a:stretch>
            <a:fillRect/>
          </a:stretch>
        </p:blipFill>
        <p:spPr>
          <a:xfrm flipH="1" flipV="1">
            <a:off x="5908040" y="2533650"/>
            <a:ext cx="6274435" cy="4319905"/>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DFDFD"/>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8.xml"/><Relationship Id="rId2" Type="http://schemas.openxmlformats.org/officeDocument/2006/relationships/image" Target="../media/image4.svg"/><Relationship Id="rId1" Type="http://schemas.openxmlformats.org/officeDocument/2006/relationships/image" Target="../media/image3.png"/></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8.png"/><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image" Target="../media/image5.png"/></Relationships>
</file>

<file path=ppt/slides/_rels/slide3.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image" Target="../media/image12.jpeg"/><Relationship Id="rId7" Type="http://schemas.openxmlformats.org/officeDocument/2006/relationships/image" Target="../media/image11.jpeg"/><Relationship Id="rId6" Type="http://schemas.openxmlformats.org/officeDocument/2006/relationships/image" Target="../media/image10.jpeg"/><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9.svg"/><Relationship Id="rId12" Type="http://schemas.openxmlformats.org/officeDocument/2006/relationships/slideLayout" Target="../slideLayouts/slideLayout8.xml"/><Relationship Id="rId11" Type="http://schemas.openxmlformats.org/officeDocument/2006/relationships/tags" Target="../tags/tag5.xml"/><Relationship Id="rId10" Type="http://schemas.openxmlformats.org/officeDocument/2006/relationships/tags" Target="../tags/tag4.xml"/><Relationship Id="rId1" Type="http://schemas.openxmlformats.org/officeDocument/2006/relationships/image" Target="../media/image6.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6.xml"/><Relationship Id="rId2" Type="http://schemas.openxmlformats.org/officeDocument/2006/relationships/image" Target="../media/image14.svg"/><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6.png"/><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0" Type="http://schemas.openxmlformats.org/officeDocument/2006/relationships/slideLayout" Target="../slideLayouts/slideLayout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6" Type="http://schemas.openxmlformats.org/officeDocument/2006/relationships/slideLayout" Target="../slideLayouts/slideLayout8.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image" Target="../media/image9.svg"/><Relationship Id="rId2" Type="http://schemas.openxmlformats.org/officeDocument/2006/relationships/image" Target="../media/image6.png"/><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9" Type="http://schemas.openxmlformats.org/officeDocument/2006/relationships/tags" Target="../tags/tag25.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9" Type="http://schemas.openxmlformats.org/officeDocument/2006/relationships/slideLayout" Target="../slideLayouts/slideLayout8.xml"/><Relationship Id="rId18" Type="http://schemas.openxmlformats.org/officeDocument/2006/relationships/tags" Target="../tags/tag32.xml"/><Relationship Id="rId17" Type="http://schemas.openxmlformats.org/officeDocument/2006/relationships/image" Target="../media/image9.svg"/><Relationship Id="rId16" Type="http://schemas.openxmlformats.org/officeDocument/2006/relationships/image" Target="../media/image6.png"/><Relationship Id="rId15" Type="http://schemas.openxmlformats.org/officeDocument/2006/relationships/tags" Target="../tags/tag31.xml"/><Relationship Id="rId14" Type="http://schemas.openxmlformats.org/officeDocument/2006/relationships/tags" Target="../tags/tag30.xml"/><Relationship Id="rId13" Type="http://schemas.openxmlformats.org/officeDocument/2006/relationships/tags" Target="../tags/tag29.xml"/><Relationship Id="rId12" Type="http://schemas.openxmlformats.org/officeDocument/2006/relationships/tags" Target="../tags/tag28.xml"/><Relationship Id="rId11" Type="http://schemas.openxmlformats.org/officeDocument/2006/relationships/tags" Target="../tags/tag27.xml"/><Relationship Id="rId10" Type="http://schemas.openxmlformats.org/officeDocument/2006/relationships/tags" Target="../tags/tag26.xml"/><Relationship Id="rId1" Type="http://schemas.openxmlformats.org/officeDocument/2006/relationships/tags" Target="../tags/tag1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tags" Target="../tags/tag33.xml"/><Relationship Id="rId1" Type="http://schemas.openxmlformats.org/officeDocument/2006/relationships/image" Target="../media/image15.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chart" Target="../charts/char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tags" Target="../tags/tag34.xml"/><Relationship Id="rId2" Type="http://schemas.openxmlformats.org/officeDocument/2006/relationships/image" Target="../media/image17.svg"/><Relationship Id="rId1" Type="http://schemas.openxmlformats.org/officeDocument/2006/relationships/image" Target="../media/image16.png"/></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image" Target="../media/image17.svg"/><Relationship Id="rId3" Type="http://schemas.openxmlformats.org/officeDocument/2006/relationships/image" Target="../media/image16.png"/><Relationship Id="rId2" Type="http://schemas.openxmlformats.org/officeDocument/2006/relationships/tags" Target="../tags/tag36.xml"/><Relationship Id="rId1" Type="http://schemas.openxmlformats.org/officeDocument/2006/relationships/tags" Target="../tags/tag35.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7.svg"/><Relationship Id="rId2" Type="http://schemas.openxmlformats.org/officeDocument/2006/relationships/image" Target="../media/image16.png"/><Relationship Id="rId1" Type="http://schemas.openxmlformats.org/officeDocument/2006/relationships/tags" Target="../tags/tag37.xml"/></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image" Target="../media/image18.svg"/><Relationship Id="rId2" Type="http://schemas.openxmlformats.org/officeDocument/2006/relationships/image" Target="../media/image16.png"/><Relationship Id="rId1" Type="http://schemas.openxmlformats.org/officeDocument/2006/relationships/tags" Target="../tags/tag38.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8.xml"/><Relationship Id="rId2" Type="http://schemas.openxmlformats.org/officeDocument/2006/relationships/image" Target="../media/image20.svg"/><Relationship Id="rId1"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214947" y="1756297"/>
            <a:ext cx="12896215" cy="2299335"/>
          </a:xfrm>
          <a:prstGeom prst="rect">
            <a:avLst/>
          </a:prstGeom>
          <a:noFill/>
        </p:spPr>
        <p:txBody>
          <a:bodyPr wrap="square" rtlCol="0">
            <a:spAutoFit/>
          </a:bodyPr>
          <a:lstStyle/>
          <a:p>
            <a:pPr algn="ctr"/>
            <a:r>
              <a:rPr lang="en-US" altLang="zh-CN" sz="14350" b="1" spc="600" dirty="0" smtClean="0">
                <a:solidFill>
                  <a:schemeClr val="bg1">
                    <a:lumMod val="95000"/>
                  </a:schemeClr>
                </a:solidFill>
                <a:latin typeface="庞门正道标题体" panose="02010600030101010101" charset="-122"/>
                <a:ea typeface="庞门正道标题体" panose="02010600030101010101" charset="-122"/>
                <a:cs typeface="Montserrat" panose="00000500000000000000" pitchFamily="50" charset="0"/>
              </a:rPr>
              <a:t>URBANIZATION</a:t>
            </a:r>
            <a:endParaRPr lang="en-US" altLang="zh-CN" sz="14350" b="1" spc="600" dirty="0" smtClean="0">
              <a:solidFill>
                <a:schemeClr val="bg1">
                  <a:lumMod val="95000"/>
                </a:schemeClr>
              </a:solidFill>
              <a:latin typeface="庞门正道标题体" panose="02010600030101010101" charset="-122"/>
              <a:ea typeface="庞门正道标题体" panose="02010600030101010101" charset="-122"/>
              <a:cs typeface="Montserrat" panose="00000500000000000000" pitchFamily="50" charset="0"/>
            </a:endParaRPr>
          </a:p>
        </p:txBody>
      </p:sp>
      <p:sp>
        <p:nvSpPr>
          <p:cNvPr id="10" name="TextBox 9"/>
          <p:cNvSpPr txBox="1"/>
          <p:nvPr/>
        </p:nvSpPr>
        <p:spPr>
          <a:xfrm>
            <a:off x="0" y="2790825"/>
            <a:ext cx="12192000" cy="1198880"/>
          </a:xfrm>
          <a:prstGeom prst="rect">
            <a:avLst/>
          </a:prstGeom>
          <a:noFill/>
        </p:spPr>
        <p:txBody>
          <a:bodyPr wrap="square" rtlCol="0">
            <a:spAutoFit/>
          </a:bodyPr>
          <a:lstStyle/>
          <a:p>
            <a:pPr algn="ctr"/>
            <a:r>
              <a:rPr lang="en-US" altLang="zh-CN" sz="72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SHEIN</a:t>
            </a:r>
            <a:r>
              <a:rPr lang="zh-CN" altLang="en-US" sz="72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与</a:t>
            </a:r>
            <a:r>
              <a:rPr lang="zh-CN" altLang="en-US" sz="72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希音</a:t>
            </a:r>
            <a:r>
              <a:rPr lang="zh-CN" altLang="en-US" sz="72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村</a:t>
            </a:r>
            <a:endParaRPr lang="zh-CN" altLang="en-US" sz="72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13" name="TextBox 12"/>
          <p:cNvSpPr txBox="1"/>
          <p:nvPr/>
        </p:nvSpPr>
        <p:spPr>
          <a:xfrm>
            <a:off x="3601546" y="4254511"/>
            <a:ext cx="4988364" cy="495935"/>
          </a:xfrm>
          <a:prstGeom prst="rect">
            <a:avLst/>
          </a:prstGeom>
          <a:noFill/>
        </p:spPr>
        <p:txBody>
          <a:bodyPr wrap="square" rtlCol="0">
            <a:spAutoFit/>
          </a:bodyPr>
          <a:lstStyle/>
          <a:p>
            <a:pPr algn="ctr">
              <a:lnSpc>
                <a:spcPct val="150000"/>
              </a:lnSpc>
            </a:pPr>
            <a:r>
              <a:rPr lang="en-US" sz="2700" b="1" baseline="-25000" dirty="0" smtClean="0">
                <a:latin typeface="方正楷体_GB2312" panose="02000000000000000000" charset="-122"/>
                <a:ea typeface="方正楷体_GB2312" panose="02000000000000000000" charset="-122"/>
                <a:cs typeface="方正楷体_GB2312" panose="02000000000000000000" charset="-122"/>
              </a:rPr>
              <a:t>25368082 </a:t>
            </a:r>
            <a:r>
              <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rPr>
              <a:t>邵鹏翔</a:t>
            </a:r>
            <a:endPar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endParaRPr>
          </a:p>
        </p:txBody>
      </p:sp>
      <p:pic>
        <p:nvPicPr>
          <p:cNvPr id="24"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83225" y="960032"/>
            <a:ext cx="2825913" cy="597347"/>
          </a:xfrm>
          <a:prstGeom prst="rect">
            <a:avLst/>
          </a:prstGeom>
        </p:spPr>
      </p:pic>
      <p:sp>
        <p:nvSpPr>
          <p:cNvPr id="2" name="TextBox 12"/>
          <p:cNvSpPr txBox="1"/>
          <p:nvPr/>
        </p:nvSpPr>
        <p:spPr>
          <a:xfrm>
            <a:off x="3620596" y="4914276"/>
            <a:ext cx="4988364" cy="495935"/>
          </a:xfrm>
          <a:prstGeom prst="rect">
            <a:avLst/>
          </a:prstGeom>
          <a:noFill/>
        </p:spPr>
        <p:txBody>
          <a:bodyPr wrap="square" rtlCol="0">
            <a:spAutoFit/>
          </a:bodyPr>
          <a:lstStyle/>
          <a:p>
            <a:pPr algn="ctr">
              <a:lnSpc>
                <a:spcPct val="150000"/>
              </a:lnSpc>
            </a:pPr>
            <a:r>
              <a:rPr lang="en-US" sz="2700" b="1" baseline="-25000" dirty="0" smtClean="0">
                <a:latin typeface="方正楷体_GB2312" panose="02000000000000000000" charset="-122"/>
                <a:ea typeface="方正楷体_GB2312" panose="02000000000000000000" charset="-122"/>
                <a:cs typeface="方正楷体_GB2312" panose="02000000000000000000" charset="-122"/>
              </a:rPr>
              <a:t>2026</a:t>
            </a:r>
            <a:r>
              <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rPr>
              <a:t>年</a:t>
            </a:r>
            <a:r>
              <a:rPr lang="en-US" altLang="zh-CN" sz="2700" b="1" baseline="-25000" dirty="0" smtClean="0">
                <a:latin typeface="方正楷体_GB2312" panose="02000000000000000000" charset="-122"/>
                <a:ea typeface="方正楷体_GB2312" panose="02000000000000000000" charset="-122"/>
                <a:cs typeface="方正楷体_GB2312" panose="02000000000000000000" charset="-122"/>
              </a:rPr>
              <a:t>6</a:t>
            </a:r>
            <a:r>
              <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rPr>
              <a:t>月</a:t>
            </a:r>
            <a:r>
              <a:rPr lang="en-US" altLang="zh-CN" sz="2700" b="1" baseline="-25000" dirty="0" smtClean="0">
                <a:latin typeface="方正楷体_GB2312" panose="02000000000000000000" charset="-122"/>
                <a:ea typeface="方正楷体_GB2312" panose="02000000000000000000" charset="-122"/>
                <a:cs typeface="方正楷体_GB2312" panose="02000000000000000000" charset="-122"/>
              </a:rPr>
              <a:t>10</a:t>
            </a:r>
            <a:r>
              <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rPr>
              <a:t>日</a:t>
            </a:r>
            <a:endParaRPr lang="zh-CN" altLang="en-US" sz="2700" b="1" baseline="-25000" dirty="0" smtClean="0">
              <a:latin typeface="方正楷体_GB2312" panose="02000000000000000000" charset="-122"/>
              <a:ea typeface="方正楷体_GB2312" panose="02000000000000000000" charset="-122"/>
              <a:cs typeface="方正楷体_GB2312"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 name="TextBox 11"/>
          <p:cNvSpPr txBox="1"/>
          <p:nvPr/>
        </p:nvSpPr>
        <p:spPr>
          <a:xfrm>
            <a:off x="110490" y="1156335"/>
            <a:ext cx="11605260" cy="810260"/>
          </a:xfrm>
          <a:prstGeom prst="rect">
            <a:avLst/>
          </a:prstGeom>
          <a:noFill/>
        </p:spPr>
        <p:txBody>
          <a:bodyPr wrap="square" lIns="0" rIns="0" rtlCol="0">
            <a:spAutoFit/>
          </a:bodyPr>
          <a:p>
            <a:pPr>
              <a:lnSpc>
                <a:spcPct val="130000"/>
              </a:lnSpc>
            </a:pPr>
            <a:r>
              <a:rPr lang="zh-CN" altLang="en-US" b="1" dirty="0">
                <a:solidFill>
                  <a:srgbClr val="FF0000"/>
                </a:solidFill>
                <a:latin typeface="微软雅黑" panose="020B0503020204020204" charset="-122"/>
                <a:ea typeface="微软雅黑" panose="020B0503020204020204" charset="-122"/>
                <a:cs typeface="Open Sans" panose="020B0606030504020204" charset="0"/>
              </a:rPr>
              <a:t>跨境电商平台</a:t>
            </a:r>
            <a:r>
              <a:rPr lang="zh-CN" altLang="en-US" b="1" dirty="0">
                <a:latin typeface="微软雅黑" panose="020B0503020204020204" charset="-122"/>
                <a:ea typeface="微软雅黑" panose="020B0503020204020204" charset="-122"/>
                <a:cs typeface="Open Sans" panose="020B0606030504020204" charset="0"/>
              </a:rPr>
              <a:t>如何</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塑造</a:t>
            </a:r>
            <a:r>
              <a:rPr lang="zh-CN" altLang="en-US" b="1" dirty="0">
                <a:latin typeface="微软雅黑" panose="020B0503020204020204" charset="-122"/>
                <a:ea typeface="微软雅黑" panose="020B0503020204020204" charset="-122"/>
                <a:cs typeface="Open Sans" panose="020B0606030504020204" charset="0"/>
              </a:rPr>
              <a:t>和</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重构地方生产网络</a:t>
            </a:r>
            <a:endParaRPr lang="en-US" dirty="0">
              <a:solidFill>
                <a:srgbClr val="FF0000"/>
              </a:solidFill>
              <a:latin typeface="微软雅黑" panose="020B0503020204020204" charset="-122"/>
              <a:ea typeface="微软雅黑" panose="020B0503020204020204" charset="-122"/>
              <a:cs typeface="Open Sans" panose="020B0606030504020204" charset="0"/>
            </a:endParaRPr>
          </a:p>
          <a:p>
            <a:pPr>
              <a:lnSpc>
                <a:spcPct val="130000"/>
              </a:lnSpc>
            </a:pPr>
            <a:r>
              <a:rPr lang="en-US" altLang="zh-CN" b="1" dirty="0">
                <a:latin typeface="微软雅黑" panose="020B0503020204020204" charset="-122"/>
                <a:ea typeface="微软雅黑" panose="020B0503020204020204" charset="-122"/>
                <a:cs typeface="Open Sans" panose="020B0606030504020204" charset="0"/>
              </a:rPr>
              <a:t>How </a:t>
            </a:r>
            <a:r>
              <a:rPr lang="en-US" altLang="zh-CN" b="1" dirty="0">
                <a:solidFill>
                  <a:srgbClr val="FF0000"/>
                </a:solidFill>
                <a:latin typeface="微软雅黑" panose="020B0503020204020204" charset="-122"/>
                <a:ea typeface="微软雅黑" panose="020B0503020204020204" charset="-122"/>
                <a:cs typeface="Open Sans" panose="020B0606030504020204" charset="0"/>
              </a:rPr>
              <a:t>cross-border e-commerce platforms </a:t>
            </a:r>
            <a:r>
              <a:rPr lang="en-US" altLang="zh-CN" b="1" dirty="0">
                <a:latin typeface="微软雅黑" panose="020B0503020204020204" charset="-122"/>
                <a:ea typeface="微软雅黑" panose="020B0503020204020204" charset="-122"/>
                <a:cs typeface="Open Sans" panose="020B0606030504020204" charset="0"/>
              </a:rPr>
              <a:t>shape and restructure</a:t>
            </a:r>
            <a:r>
              <a:rPr lang="en-US" altLang="zh-CN" b="1" dirty="0">
                <a:solidFill>
                  <a:srgbClr val="FF0000"/>
                </a:solidFill>
                <a:latin typeface="微软雅黑" panose="020B0503020204020204" charset="-122"/>
                <a:ea typeface="微软雅黑" panose="020B0503020204020204" charset="-122"/>
                <a:cs typeface="Open Sans" panose="020B0606030504020204" charset="0"/>
              </a:rPr>
              <a:t> local production networks</a:t>
            </a:r>
            <a:endParaRPr lang="en-US" altLang="zh-CN" b="1" dirty="0">
              <a:solidFill>
                <a:srgbClr val="FF0000"/>
              </a:solidFill>
              <a:latin typeface="微软雅黑" panose="020B0503020204020204" charset="-122"/>
              <a:ea typeface="微软雅黑" panose="020B0503020204020204" charset="-122"/>
              <a:cs typeface="Open Sans" panose="020B0606030504020204" charset="0"/>
            </a:endParaRPr>
          </a:p>
        </p:txBody>
      </p:sp>
      <p:grpSp>
        <p:nvGrpSpPr>
          <p:cNvPr id="3" name="组合 2"/>
          <p:cNvGrpSpPr/>
          <p:nvPr/>
        </p:nvGrpSpPr>
        <p:grpSpPr>
          <a:xfrm>
            <a:off x="-23495" y="99060"/>
            <a:ext cx="6941820" cy="829945"/>
            <a:chOff x="4143" y="653"/>
            <a:chExt cx="10932" cy="1307"/>
          </a:xfrm>
        </p:grpSpPr>
        <p:sp>
          <p:nvSpPr>
            <p:cNvPr id="24" name="TextBox 9"/>
            <p:cNvSpPr txBox="1"/>
            <p:nvPr/>
          </p:nvSpPr>
          <p:spPr>
            <a:xfrm>
              <a:off x="4143" y="653"/>
              <a:ext cx="10932" cy="1307"/>
            </a:xfrm>
            <a:prstGeom prst="rect">
              <a:avLst/>
            </a:prstGeom>
            <a:noFill/>
          </p:spPr>
          <p:txBody>
            <a:bodyPr wrap="square" rtlCol="0">
              <a:spAutoFit/>
            </a:bodyPr>
            <a:p>
              <a:pPr algn="l"/>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选题</a:t>
              </a: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拟</a:t>
              </a: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探讨的问题</a:t>
              </a:r>
              <a:endPar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25" name="TextBox 12"/>
            <p:cNvSpPr txBox="1"/>
            <p:nvPr/>
          </p:nvSpPr>
          <p:spPr>
            <a:xfrm>
              <a:off x="4284" y="1384"/>
              <a:ext cx="7856" cy="569"/>
            </a:xfrm>
            <a:prstGeom prst="rect">
              <a:avLst/>
            </a:prstGeom>
            <a:noFill/>
          </p:spPr>
          <p:txBody>
            <a:bodyPr wrap="square" rtlCol="0">
              <a:spAutoFit/>
            </a:bodyPr>
            <a:p>
              <a:pPr algn="l">
                <a:lnSpc>
                  <a:spcPct val="150000"/>
                </a:lnSpc>
              </a:pPr>
              <a:r>
                <a:rPr lang="en-US" altLang="zh-CN" baseline="-25000" dirty="0" smtClean="0">
                  <a:latin typeface="Dotum" panose="020B0600000101010101" charset="-127"/>
                  <a:ea typeface="Dotum" panose="020B0600000101010101" charset="-127"/>
                  <a:cs typeface="+mj-lt"/>
                </a:rPr>
                <a:t>THE PROBLEM THAT THE SELECTED TOPIC </a:t>
              </a:r>
              <a:r>
                <a:rPr lang="en-US" altLang="zh-CN" b="1" baseline="-25000" dirty="0" smtClean="0">
                  <a:solidFill>
                    <a:srgbClr val="FF0000"/>
                  </a:solidFill>
                  <a:latin typeface="Dotum" panose="020B0600000101010101" charset="-127"/>
                  <a:ea typeface="Dotum" panose="020B0600000101010101" charset="-127"/>
                  <a:cs typeface="+mj-lt"/>
                </a:rPr>
                <a:t>INTENDS TO DISCUSS</a:t>
              </a:r>
              <a:endParaRPr lang="en-US" altLang="zh-CN" b="1" baseline="-25000" dirty="0" smtClean="0">
                <a:solidFill>
                  <a:srgbClr val="FF0000"/>
                </a:solidFill>
                <a:latin typeface="Dotum" panose="020B0600000101010101" charset="-127"/>
                <a:ea typeface="Dotum" panose="020B0600000101010101" charset="-127"/>
                <a:cs typeface="+mj-lt"/>
              </a:endParaRPr>
            </a:p>
          </p:txBody>
        </p:sp>
      </p:grpSp>
      <p:pic>
        <p:nvPicPr>
          <p:cNvPr id="2" name="图片 1"/>
          <p:cNvPicPr>
            <a:picLocks noChangeAspect="1"/>
          </p:cNvPicPr>
          <p:nvPr/>
        </p:nvPicPr>
        <p:blipFill>
          <a:blip r:embed="rId1"/>
          <a:stretch>
            <a:fillRect/>
          </a:stretch>
        </p:blipFill>
        <p:spPr>
          <a:xfrm>
            <a:off x="6635750" y="2303780"/>
            <a:ext cx="5114290" cy="3729990"/>
          </a:xfrm>
          <a:prstGeom prst="rect">
            <a:avLst/>
          </a:prstGeom>
          <a:ln w="12700" cmpd="sng">
            <a:solidFill>
              <a:schemeClr val="tx1"/>
            </a:solidFill>
            <a:prstDash val="solid"/>
          </a:ln>
          <a:effectLst>
            <a:outerShdw blurRad="50800" dist="38100" dir="2700000" sx="101000" sy="101000" algn="tl" rotWithShape="0">
              <a:prstClr val="black">
                <a:alpha val="40000"/>
              </a:prstClr>
            </a:outerShdw>
          </a:effectLst>
        </p:spPr>
      </p:pic>
      <p:sp>
        <p:nvSpPr>
          <p:cNvPr id="5" name="TextBox 11"/>
          <p:cNvSpPr txBox="1"/>
          <p:nvPr/>
        </p:nvSpPr>
        <p:spPr>
          <a:xfrm>
            <a:off x="65405" y="2157095"/>
            <a:ext cx="6531610" cy="1170305"/>
          </a:xfrm>
          <a:prstGeom prst="rect">
            <a:avLst/>
          </a:prstGeom>
          <a:noFill/>
        </p:spPr>
        <p:txBody>
          <a:bodyPr wrap="square" lIns="0" rIns="0" rtlCol="0">
            <a:spAutoFit/>
          </a:bodyPr>
          <a:p>
            <a:pPr>
              <a:lnSpc>
                <a:spcPct val="130000"/>
              </a:lnSpc>
            </a:pPr>
            <a:r>
              <a:rPr lang="zh-CN" altLang="en-US" b="1" dirty="0">
                <a:solidFill>
                  <a:schemeClr val="tx1"/>
                </a:solidFill>
                <a:latin typeface="微软雅黑" panose="020B0503020204020204" charset="-122"/>
                <a:ea typeface="微软雅黑" panose="020B0503020204020204" charset="-122"/>
                <a:cs typeface="Open Sans" panose="020B0606030504020204" charset="0"/>
              </a:rPr>
              <a:t>选题参考文献</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《数字平台、生产网络与地方空间治理</a:t>
            </a:r>
            <a:r>
              <a:rPr lang="en-US" altLang="zh-CN" b="1" dirty="0">
                <a:solidFill>
                  <a:srgbClr val="FF0000"/>
                </a:solidFill>
                <a:latin typeface="微软雅黑" panose="020B0503020204020204" charset="-122"/>
                <a:ea typeface="微软雅黑" panose="020B0503020204020204" charset="-122"/>
                <a:cs typeface="Open Sans" panose="020B0606030504020204" charset="0"/>
              </a:rPr>
              <a:t>——</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广州服装村更新的比较研究》。</a:t>
            </a:r>
            <a:r>
              <a:rPr lang="zh-CN" altLang="en-US" b="1" dirty="0">
                <a:solidFill>
                  <a:schemeClr val="tx1"/>
                </a:solidFill>
                <a:latin typeface="微软雅黑" panose="020B0503020204020204" charset="-122"/>
                <a:ea typeface="微软雅黑" panose="020B0503020204020204" charset="-122"/>
                <a:cs typeface="Open Sans" panose="020B0606030504020204" charset="0"/>
              </a:rPr>
              <a:t>本报告将以</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学术层面</a:t>
            </a:r>
            <a:r>
              <a:rPr lang="zh-CN" altLang="en-US" b="1" dirty="0">
                <a:solidFill>
                  <a:schemeClr val="tx1"/>
                </a:solidFill>
                <a:latin typeface="微软雅黑" panose="020B0503020204020204" charset="-122"/>
                <a:ea typeface="微软雅黑" panose="020B0503020204020204" charset="-122"/>
                <a:cs typeface="Open Sans" panose="020B0606030504020204" charset="0"/>
              </a:rPr>
              <a:t>、</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现实层面</a:t>
            </a:r>
            <a:r>
              <a:rPr lang="zh-CN" altLang="en-US" b="1" dirty="0">
                <a:solidFill>
                  <a:schemeClr val="tx1"/>
                </a:solidFill>
                <a:latin typeface="微软雅黑" panose="020B0503020204020204" charset="-122"/>
                <a:ea typeface="微软雅黑" panose="020B0503020204020204" charset="-122"/>
                <a:cs typeface="Open Sans" panose="020B0606030504020204" charset="0"/>
              </a:rPr>
              <a:t>、</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案例与数据</a:t>
            </a:r>
            <a:r>
              <a:rPr lang="zh-CN" altLang="en-US" b="1" dirty="0">
                <a:solidFill>
                  <a:schemeClr val="tx1"/>
                </a:solidFill>
                <a:latin typeface="微软雅黑" panose="020B0503020204020204" charset="-122"/>
                <a:ea typeface="微软雅黑" panose="020B0503020204020204" charset="-122"/>
                <a:cs typeface="Open Sans" panose="020B0606030504020204" charset="0"/>
              </a:rPr>
              <a:t>、</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趋势分析</a:t>
            </a:r>
            <a:r>
              <a:rPr lang="zh-CN" altLang="en-US" b="1" dirty="0">
                <a:solidFill>
                  <a:schemeClr val="tx1"/>
                </a:solidFill>
                <a:latin typeface="微软雅黑" panose="020B0503020204020204" charset="-122"/>
                <a:ea typeface="微软雅黑" panose="020B0503020204020204" charset="-122"/>
                <a:cs typeface="Open Sans" panose="020B0606030504020204" charset="0"/>
              </a:rPr>
              <a:t>四个层面展开。</a:t>
            </a:r>
            <a:endParaRPr lang="zh-CN" altLang="en-US" b="1" dirty="0">
              <a:solidFill>
                <a:schemeClr val="tx1"/>
              </a:solidFill>
              <a:latin typeface="微软雅黑" panose="020B0503020204020204" charset="-122"/>
              <a:ea typeface="微软雅黑" panose="020B0503020204020204" charset="-122"/>
              <a:cs typeface="Open Sans" panose="020B0606030504020204" charset="0"/>
            </a:endParaRPr>
          </a:p>
        </p:txBody>
      </p:sp>
      <p:pic>
        <p:nvPicPr>
          <p:cNvPr id="6" name="图形 1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90785" y="53887"/>
            <a:ext cx="2825913" cy="597347"/>
          </a:xfrm>
          <a:prstGeom prst="rect">
            <a:avLst/>
          </a:prstGeom>
        </p:spPr>
      </p:pic>
      <p:pic>
        <p:nvPicPr>
          <p:cNvPr id="8" name="图片 7" descr="水彩风广州剪影画生成 (2)"/>
          <p:cNvPicPr>
            <a:picLocks noChangeAspect="1"/>
          </p:cNvPicPr>
          <p:nvPr/>
        </p:nvPicPr>
        <p:blipFill>
          <a:blip r:embed="rId4"/>
          <a:srcRect b="9709"/>
          <a:stretch>
            <a:fillRect/>
          </a:stretch>
        </p:blipFill>
        <p:spPr>
          <a:xfrm>
            <a:off x="3215640" y="3327400"/>
            <a:ext cx="3139440" cy="2834640"/>
          </a:xfrm>
          <a:prstGeom prst="rect">
            <a:avLst/>
          </a:prstGeom>
        </p:spPr>
      </p:pic>
      <p:cxnSp>
        <p:nvCxnSpPr>
          <p:cNvPr id="19" name="直接连接符 18"/>
          <p:cNvCxnSpPr/>
          <p:nvPr/>
        </p:nvCxnSpPr>
        <p:spPr>
          <a:xfrm flipH="1" flipV="1">
            <a:off x="2494915" y="5217160"/>
            <a:ext cx="2956560" cy="443230"/>
          </a:xfrm>
          <a:prstGeom prst="line">
            <a:avLst/>
          </a:prstGeom>
          <a:ln w="12700">
            <a:solidFill>
              <a:srgbClr val="FF0000"/>
            </a:solidFill>
          </a:ln>
        </p:spPr>
        <p:style>
          <a:lnRef idx="2">
            <a:schemeClr val="accent1"/>
          </a:lnRef>
          <a:fillRef idx="0">
            <a:srgbClr val="FFFFFF"/>
          </a:fillRef>
          <a:effectRef idx="0">
            <a:srgbClr val="FFFFFF"/>
          </a:effectRef>
          <a:fontRef idx="minor">
            <a:schemeClr val="tx1"/>
          </a:fontRef>
        </p:style>
      </p:cxnSp>
      <p:sp>
        <p:nvSpPr>
          <p:cNvPr id="20" name="文本框 19"/>
          <p:cNvSpPr txBox="1"/>
          <p:nvPr/>
        </p:nvSpPr>
        <p:spPr>
          <a:xfrm>
            <a:off x="154940" y="4722495"/>
            <a:ext cx="3700145" cy="368300"/>
          </a:xfrm>
          <a:prstGeom prst="rect">
            <a:avLst/>
          </a:prstGeom>
          <a:noFill/>
        </p:spPr>
        <p:txBody>
          <a:bodyPr wrap="square" rtlCol="0">
            <a:spAutoFit/>
          </a:bodyPr>
          <a:p>
            <a:r>
              <a:rPr lang="zh-CN" altLang="en-US" b="1" dirty="0">
                <a:latin typeface="微软雅黑" panose="020B0503020204020204" charset="-122"/>
                <a:ea typeface="微软雅黑" panose="020B0503020204020204" charset="-122"/>
                <a:cs typeface="Open Sans" panose="020B0606030504020204" charset="0"/>
              </a:rPr>
              <a:t>研究对象：</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广州番禺</a:t>
            </a:r>
            <a:r>
              <a:rPr lang="zh-CN" altLang="en-US" b="1" dirty="0">
                <a:solidFill>
                  <a:srgbClr val="FF0000"/>
                </a:solidFill>
                <a:latin typeface="微软雅黑" panose="020B0503020204020204" charset="-122"/>
                <a:ea typeface="微软雅黑" panose="020B0503020204020204" charset="-122"/>
                <a:cs typeface="Open Sans" panose="020B0606030504020204" charset="0"/>
              </a:rPr>
              <a:t>区希音村</a:t>
            </a:r>
            <a:endParaRPr lang="zh-CN" altLang="en-US" b="1" dirty="0">
              <a:solidFill>
                <a:srgbClr val="FF0000"/>
              </a:solidFill>
              <a:latin typeface="微软雅黑" panose="020B0503020204020204" charset="-122"/>
              <a:ea typeface="微软雅黑" panose="020B0503020204020204" charset="-122"/>
              <a:cs typeface="Open Sans" panose="020B0606030504020204" charset="0"/>
            </a:endParaRPr>
          </a:p>
        </p:txBody>
      </p:sp>
      <p:grpSp>
        <p:nvGrpSpPr>
          <p:cNvPr id="50" name="组合 49"/>
          <p:cNvGrpSpPr/>
          <p:nvPr/>
        </p:nvGrpSpPr>
        <p:grpSpPr>
          <a:xfrm>
            <a:off x="-10795" y="6437630"/>
            <a:ext cx="12202160" cy="420370"/>
            <a:chOff x="-17" y="8816"/>
            <a:chExt cx="19251" cy="1984"/>
          </a:xfrm>
        </p:grpSpPr>
        <p:sp>
          <p:nvSpPr>
            <p:cNvPr id="46" name="流程图: 过程 45"/>
            <p:cNvSpPr/>
            <p:nvPr/>
          </p:nvSpPr>
          <p:spPr>
            <a:xfrm>
              <a:off x="-17" y="8816"/>
              <a:ext cx="4731"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流程图: 过程 46"/>
            <p:cNvSpPr/>
            <p:nvPr/>
          </p:nvSpPr>
          <p:spPr>
            <a:xfrm>
              <a:off x="4697"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流程图: 过程 47"/>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流程图: 过程 48"/>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17716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学术层面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7" name="文本框 6"/>
          <p:cNvSpPr txBox="1"/>
          <p:nvPr/>
        </p:nvSpPr>
        <p:spPr>
          <a:xfrm>
            <a:off x="3213735" y="6489065"/>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9" name="文本框 8"/>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0" name="文本框 9"/>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90785" y="53887"/>
            <a:ext cx="2825913" cy="597347"/>
          </a:xfrm>
          <a:prstGeom prst="rect">
            <a:avLst/>
          </a:prstGeom>
        </p:spPr>
      </p:pic>
      <p:grpSp>
        <p:nvGrpSpPr>
          <p:cNvPr id="50" name="组合 49"/>
          <p:cNvGrpSpPr/>
          <p:nvPr/>
        </p:nvGrpSpPr>
        <p:grpSpPr>
          <a:xfrm>
            <a:off x="-10795" y="6437630"/>
            <a:ext cx="12202160" cy="420370"/>
            <a:chOff x="-17" y="8816"/>
            <a:chExt cx="19251" cy="1984"/>
          </a:xfrm>
        </p:grpSpPr>
        <p:sp>
          <p:nvSpPr>
            <p:cNvPr id="46" name="流程图: 过程 45"/>
            <p:cNvSpPr/>
            <p:nvPr/>
          </p:nvSpPr>
          <p:spPr>
            <a:xfrm>
              <a:off x="-17" y="8816"/>
              <a:ext cx="4731"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流程图: 过程 46"/>
            <p:cNvSpPr/>
            <p:nvPr/>
          </p:nvSpPr>
          <p:spPr>
            <a:xfrm>
              <a:off x="4697"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流程图: 过程 47"/>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流程图: 过程 48"/>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17716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学术层面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7" name="文本框 6"/>
          <p:cNvSpPr txBox="1"/>
          <p:nvPr/>
        </p:nvSpPr>
        <p:spPr>
          <a:xfrm>
            <a:off x="3213735" y="6489065"/>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9" name="文本框 8"/>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0" name="文本框 9"/>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
        <p:nvSpPr>
          <p:cNvPr id="11" name="文本框 10"/>
          <p:cNvSpPr txBox="1"/>
          <p:nvPr>
            <p:custDataLst>
              <p:tags r:id="rId3"/>
            </p:custDataLst>
          </p:nvPr>
        </p:nvSpPr>
        <p:spPr>
          <a:xfrm>
            <a:off x="290830" y="1449070"/>
            <a:ext cx="10984865" cy="583565"/>
          </a:xfrm>
          <a:prstGeom prst="rect">
            <a:avLst/>
          </a:prstGeom>
        </p:spPr>
        <p:txBody>
          <a:bodyPr wrap="square">
            <a:spAutoFit/>
          </a:bodyPr>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跨境电商巨头</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SHEIN（</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希音）供应链的发源地和核心，方圆数公里内聚集了上千家制衣厂，形成了以其为核心的服装产业集聚区。</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13" name="文本框 12"/>
          <p:cNvSpPr txBox="1"/>
          <p:nvPr>
            <p:custDataLst>
              <p:tags r:id="rId4"/>
            </p:custDataLst>
          </p:nvPr>
        </p:nvSpPr>
        <p:spPr>
          <a:xfrm>
            <a:off x="2404745" y="812165"/>
            <a:ext cx="6295390" cy="337185"/>
          </a:xfrm>
          <a:prstGeom prst="rect">
            <a:avLst/>
          </a:prstGeom>
          <a:noFill/>
        </p:spPr>
        <p:txBody>
          <a:bodyPr wrap="square" rtlCol="0" anchor="t">
            <a:spAutoFit/>
          </a:bodyPr>
          <a:p>
            <a:r>
              <a:rPr lang="zh-CN" altLang="en-US" sz="1600" b="1">
                <a:solidFill>
                  <a:srgbClr val="FF0000"/>
                </a:solidFill>
                <a:latin typeface="微软雅黑" panose="020B0503020204020204" charset="-122"/>
                <a:ea typeface="微软雅黑" panose="020B0503020204020204" charset="-122"/>
                <a:sym typeface="+mn-ea"/>
              </a:rPr>
              <a:t>番禺区南村镇</a:t>
            </a:r>
            <a:endParaRPr lang="zh-CN" altLang="en-US" sz="1600" b="1">
              <a:solidFill>
                <a:srgbClr val="FF0000"/>
              </a:solidFill>
              <a:latin typeface="微软雅黑" panose="020B0503020204020204" charset="-122"/>
              <a:ea typeface="微软雅黑" panose="020B0503020204020204" charset="-122"/>
              <a:sym typeface="+mn-ea"/>
            </a:endParaRPr>
          </a:p>
        </p:txBody>
      </p:sp>
      <p:sp>
        <p:nvSpPr>
          <p:cNvPr id="17" name="TextBox 9"/>
          <p:cNvSpPr txBox="1"/>
          <p:nvPr>
            <p:custDataLst>
              <p:tags r:id="rId5"/>
            </p:custDataLst>
          </p:nvPr>
        </p:nvSpPr>
        <p:spPr>
          <a:xfrm>
            <a:off x="245745" y="499745"/>
            <a:ext cx="2781935" cy="829945"/>
          </a:xfrm>
          <a:prstGeom prst="rect">
            <a:avLst/>
          </a:prstGeom>
          <a:noFill/>
        </p:spPr>
        <p:txBody>
          <a:bodyPr wrap="square" rtlCol="0">
            <a:spAutoFit/>
          </a:bodyPr>
          <a:p>
            <a:pPr algn="l"/>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希音</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村</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pic>
        <p:nvPicPr>
          <p:cNvPr id="2" name="图片 1"/>
          <p:cNvPicPr>
            <a:picLocks noChangeAspect="1"/>
          </p:cNvPicPr>
          <p:nvPr/>
        </p:nvPicPr>
        <p:blipFill>
          <a:blip r:embed="rId6"/>
          <a:stretch>
            <a:fillRect/>
          </a:stretch>
        </p:blipFill>
        <p:spPr>
          <a:xfrm>
            <a:off x="290830" y="2304415"/>
            <a:ext cx="4227195" cy="3151505"/>
          </a:xfrm>
          <a:prstGeom prst="rect">
            <a:avLst/>
          </a:prstGeom>
        </p:spPr>
      </p:pic>
      <p:pic>
        <p:nvPicPr>
          <p:cNvPr id="5" name="图片 4" descr="f9358cf470693b72259b7f35ae1ef70b"/>
          <p:cNvPicPr>
            <a:picLocks noChangeAspect="1"/>
          </p:cNvPicPr>
          <p:nvPr/>
        </p:nvPicPr>
        <p:blipFill>
          <a:blip r:embed="rId7"/>
          <a:stretch>
            <a:fillRect/>
          </a:stretch>
        </p:blipFill>
        <p:spPr>
          <a:xfrm>
            <a:off x="8075930" y="2324100"/>
            <a:ext cx="3202940" cy="1340485"/>
          </a:xfrm>
          <a:prstGeom prst="rect">
            <a:avLst/>
          </a:prstGeom>
        </p:spPr>
      </p:pic>
      <p:pic>
        <p:nvPicPr>
          <p:cNvPr id="8" name="图片 7" descr="9f440f60f7fed933a21e6d28be826169"/>
          <p:cNvPicPr>
            <a:picLocks noChangeAspect="1"/>
          </p:cNvPicPr>
          <p:nvPr/>
        </p:nvPicPr>
        <p:blipFill>
          <a:blip r:embed="rId8"/>
          <a:stretch>
            <a:fillRect/>
          </a:stretch>
        </p:blipFill>
        <p:spPr>
          <a:xfrm>
            <a:off x="4655820" y="2315210"/>
            <a:ext cx="3225800" cy="1350645"/>
          </a:xfrm>
          <a:prstGeom prst="rect">
            <a:avLst/>
          </a:prstGeom>
        </p:spPr>
      </p:pic>
      <p:pic>
        <p:nvPicPr>
          <p:cNvPr id="12" name="图片 11" descr="c11c7136807898bad126c2eb33229ce6"/>
          <p:cNvPicPr>
            <a:picLocks noChangeAspect="1"/>
          </p:cNvPicPr>
          <p:nvPr/>
        </p:nvPicPr>
        <p:blipFill>
          <a:blip r:embed="rId9"/>
          <a:stretch>
            <a:fillRect/>
          </a:stretch>
        </p:blipFill>
        <p:spPr>
          <a:xfrm>
            <a:off x="4655820" y="3789045"/>
            <a:ext cx="3926840" cy="1643380"/>
          </a:xfrm>
          <a:prstGeom prst="rect">
            <a:avLst/>
          </a:prstGeom>
        </p:spPr>
      </p:pic>
      <p:sp>
        <p:nvSpPr>
          <p:cNvPr id="14" name="文本框 13"/>
          <p:cNvSpPr txBox="1"/>
          <p:nvPr>
            <p:custDataLst>
              <p:tags r:id="rId10"/>
            </p:custDataLst>
          </p:nvPr>
        </p:nvSpPr>
        <p:spPr>
          <a:xfrm>
            <a:off x="8705850" y="5149215"/>
            <a:ext cx="2625725" cy="306705"/>
          </a:xfrm>
          <a:prstGeom prst="rect">
            <a:avLst/>
          </a:prstGeom>
        </p:spPr>
        <p:txBody>
          <a:bodyPr wrap="square">
            <a:spAutoFit/>
          </a:bodyPr>
          <a:p>
            <a:r>
              <a:rPr lang="zh-CN" altLang="en-US" sz="14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韩寒导演电影《四海》截图</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15" name="文本框 14"/>
          <p:cNvSpPr txBox="1"/>
          <p:nvPr>
            <p:custDataLst>
              <p:tags r:id="rId11"/>
            </p:custDataLst>
          </p:nvPr>
        </p:nvSpPr>
        <p:spPr>
          <a:xfrm>
            <a:off x="290830" y="5499100"/>
            <a:ext cx="2625725" cy="306705"/>
          </a:xfrm>
          <a:prstGeom prst="rect">
            <a:avLst/>
          </a:prstGeom>
        </p:spPr>
        <p:txBody>
          <a:bodyPr wrap="square">
            <a:spAutoFit/>
          </a:bodyPr>
          <a:p>
            <a:r>
              <a:rPr lang="zh-CN" altLang="en-US" sz="14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希音村</a:t>
            </a:r>
            <a:r>
              <a:rPr lang="zh-CN" altLang="en-US" sz="14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实拍</a:t>
            </a:r>
            <a:endParaRPr lang="zh-CN" altLang="en-US" sz="14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90785" y="53887"/>
            <a:ext cx="2825913" cy="597347"/>
          </a:xfrm>
          <a:prstGeom prst="rect">
            <a:avLst/>
          </a:prstGeom>
        </p:spPr>
      </p:pic>
      <p:grpSp>
        <p:nvGrpSpPr>
          <p:cNvPr id="50" name="组合 49"/>
          <p:cNvGrpSpPr/>
          <p:nvPr/>
        </p:nvGrpSpPr>
        <p:grpSpPr>
          <a:xfrm>
            <a:off x="-10795" y="6437630"/>
            <a:ext cx="12202160" cy="420370"/>
            <a:chOff x="-17" y="8816"/>
            <a:chExt cx="19251" cy="1984"/>
          </a:xfrm>
        </p:grpSpPr>
        <p:sp>
          <p:nvSpPr>
            <p:cNvPr id="46" name="流程图: 过程 45"/>
            <p:cNvSpPr/>
            <p:nvPr/>
          </p:nvSpPr>
          <p:spPr>
            <a:xfrm>
              <a:off x="-17" y="8816"/>
              <a:ext cx="4731"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流程图: 过程 46"/>
            <p:cNvSpPr/>
            <p:nvPr/>
          </p:nvSpPr>
          <p:spPr>
            <a:xfrm>
              <a:off x="4697"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流程图: 过程 47"/>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流程图: 过程 48"/>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17716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学术层面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7" name="文本框 6"/>
          <p:cNvSpPr txBox="1"/>
          <p:nvPr/>
        </p:nvSpPr>
        <p:spPr>
          <a:xfrm>
            <a:off x="3213735" y="6489065"/>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9" name="文本框 8"/>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0" name="文本框 9"/>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cxnSp>
        <p:nvCxnSpPr>
          <p:cNvPr id="23" name="Straight Connector 22"/>
          <p:cNvCxnSpPr/>
          <p:nvPr/>
        </p:nvCxnSpPr>
        <p:spPr>
          <a:xfrm flipV="1">
            <a:off x="6445687" y="2795628"/>
            <a:ext cx="2462722" cy="1283650"/>
          </a:xfrm>
          <a:prstGeom prst="line">
            <a:avLst/>
          </a:prstGeom>
          <a:ln>
            <a:solidFill>
              <a:schemeClr val="tx1">
                <a:alpha val="3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a:off x="2858193" y="2700956"/>
            <a:ext cx="2757054" cy="1493271"/>
          </a:xfrm>
          <a:prstGeom prst="line">
            <a:avLst/>
          </a:prstGeom>
          <a:ln>
            <a:solidFill>
              <a:schemeClr val="tx1">
                <a:alpha val="30000"/>
              </a:schemeClr>
            </a:solidFill>
            <a:prstDash val="dash"/>
          </a:ln>
        </p:spPr>
        <p:style>
          <a:lnRef idx="1">
            <a:schemeClr val="accent1"/>
          </a:lnRef>
          <a:fillRef idx="0">
            <a:schemeClr val="accent1"/>
          </a:fillRef>
          <a:effectRef idx="0">
            <a:schemeClr val="accent1"/>
          </a:effectRef>
          <a:fontRef idx="minor">
            <a:schemeClr val="tx1"/>
          </a:fontRef>
        </p:style>
      </p:cxnSp>
      <p:sp>
        <p:nvSpPr>
          <p:cNvPr id="11" name="Oval 5"/>
          <p:cNvSpPr/>
          <p:nvPr/>
        </p:nvSpPr>
        <p:spPr>
          <a:xfrm>
            <a:off x="1810590" y="1889006"/>
            <a:ext cx="1424470" cy="142447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en-US" sz="3200" dirty="0" smtClean="0">
                <a:solidFill>
                  <a:schemeClr val="tx1"/>
                </a:solidFill>
                <a:latin typeface="微软雅黑" panose="020B0503020204020204" charset="-122"/>
                <a:ea typeface="微软雅黑" panose="020B0503020204020204" charset="-122"/>
              </a:rPr>
              <a:t>01</a:t>
            </a:r>
            <a:endParaRPr lang="en-US" sz="3200" dirty="0" smtClean="0">
              <a:solidFill>
                <a:schemeClr val="tx1"/>
              </a:solidFill>
              <a:latin typeface="微软雅黑" panose="020B0503020204020204" charset="-122"/>
              <a:ea typeface="微软雅黑" panose="020B0503020204020204" charset="-122"/>
            </a:endParaRPr>
          </a:p>
        </p:txBody>
      </p:sp>
      <p:sp>
        <p:nvSpPr>
          <p:cNvPr id="13" name="TextBox 7"/>
          <p:cNvSpPr txBox="1"/>
          <p:nvPr/>
        </p:nvSpPr>
        <p:spPr>
          <a:xfrm>
            <a:off x="1236345" y="4194227"/>
            <a:ext cx="2621038" cy="491490"/>
          </a:xfrm>
          <a:prstGeom prst="rect">
            <a:avLst/>
          </a:prstGeom>
          <a:noFill/>
        </p:spPr>
        <p:txBody>
          <a:bodyPr wrap="square" lIns="0" rIns="0" rtlCol="0">
            <a:spAutoFit/>
          </a:bodyPr>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社会主义公有制</a:t>
            </a:r>
            <a:r>
              <a:rPr lang="zh-CN" altLang="en-US" sz="1000" dirty="0">
                <a:solidFill>
                  <a:schemeClr val="tx1">
                    <a:alpha val="70000"/>
                  </a:schemeClr>
                </a:solidFill>
                <a:latin typeface="微软雅黑" panose="020B0503020204020204" charset="-122"/>
                <a:ea typeface="微软雅黑" panose="020B0503020204020204" charset="-122"/>
              </a:rPr>
              <a:t>土地制度</a:t>
            </a:r>
            <a:endParaRPr lang="zh-CN" altLang="en-US" sz="1000" dirty="0">
              <a:solidFill>
                <a:schemeClr val="tx1">
                  <a:alpha val="70000"/>
                </a:schemeClr>
              </a:solidFill>
              <a:latin typeface="微软雅黑" panose="020B0503020204020204" charset="-122"/>
              <a:ea typeface="微软雅黑" panose="020B0503020204020204" charset="-122"/>
            </a:endParaRPr>
          </a:p>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国家所有和</a:t>
            </a:r>
            <a:r>
              <a:rPr lang="zh-CN" altLang="en-US" sz="1000" dirty="0">
                <a:solidFill>
                  <a:schemeClr val="tx1">
                    <a:alpha val="70000"/>
                  </a:schemeClr>
                </a:solidFill>
                <a:latin typeface="微软雅黑" panose="020B0503020204020204" charset="-122"/>
                <a:ea typeface="微软雅黑" panose="020B0503020204020204" charset="-122"/>
              </a:rPr>
              <a:t>集体所有</a:t>
            </a:r>
            <a:endParaRPr lang="zh-CN" altLang="en-US" sz="1000" dirty="0">
              <a:solidFill>
                <a:schemeClr val="tx1">
                  <a:alpha val="70000"/>
                </a:schemeClr>
              </a:solidFill>
              <a:latin typeface="微软雅黑" panose="020B0503020204020204" charset="-122"/>
              <a:ea typeface="微软雅黑" panose="020B0503020204020204" charset="-122"/>
            </a:endParaRPr>
          </a:p>
        </p:txBody>
      </p:sp>
      <p:sp>
        <p:nvSpPr>
          <p:cNvPr id="14" name="TextBox 8"/>
          <p:cNvSpPr txBox="1"/>
          <p:nvPr/>
        </p:nvSpPr>
        <p:spPr>
          <a:xfrm>
            <a:off x="2038866" y="3750291"/>
            <a:ext cx="1016000" cy="398780"/>
          </a:xfrm>
          <a:prstGeom prst="rect">
            <a:avLst/>
          </a:prstGeom>
          <a:noFill/>
        </p:spPr>
        <p:txBody>
          <a:bodyPr wrap="none" lIns="0" rIns="0" rtlCol="0">
            <a:spAutoFit/>
          </a:bodyPr>
          <a:p>
            <a:pPr algn="ctr"/>
            <a:r>
              <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sym typeface="+mn-ea"/>
              </a:rPr>
              <a:t>土地制度</a:t>
            </a:r>
            <a:endPar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sym typeface="+mn-ea"/>
            </a:endParaRPr>
          </a:p>
        </p:txBody>
      </p:sp>
      <p:cxnSp>
        <p:nvCxnSpPr>
          <p:cNvPr id="15" name="Straight Connector 9"/>
          <p:cNvCxnSpPr/>
          <p:nvPr/>
        </p:nvCxnSpPr>
        <p:spPr>
          <a:xfrm>
            <a:off x="2496321" y="3096092"/>
            <a:ext cx="0" cy="477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TextBox 10"/>
          <p:cNvSpPr txBox="1"/>
          <p:nvPr/>
        </p:nvSpPr>
        <p:spPr>
          <a:xfrm>
            <a:off x="4678801" y="2335454"/>
            <a:ext cx="2621038" cy="491490"/>
          </a:xfrm>
          <a:prstGeom prst="rect">
            <a:avLst/>
          </a:prstGeom>
          <a:noFill/>
        </p:spPr>
        <p:txBody>
          <a:bodyPr wrap="square" lIns="0" rIns="0" rtlCol="0">
            <a:spAutoFit/>
          </a:bodyPr>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中央和地方的税收</a:t>
            </a:r>
            <a:r>
              <a:rPr lang="zh-CN" altLang="en-US" sz="1000" dirty="0">
                <a:solidFill>
                  <a:schemeClr val="tx1">
                    <a:alpha val="70000"/>
                  </a:schemeClr>
                </a:solidFill>
                <a:latin typeface="微软雅黑" panose="020B0503020204020204" charset="-122"/>
                <a:ea typeface="微软雅黑" panose="020B0503020204020204" charset="-122"/>
              </a:rPr>
              <a:t>再分配</a:t>
            </a:r>
            <a:endParaRPr lang="zh-CN" altLang="en-US" sz="1000" dirty="0">
              <a:solidFill>
                <a:schemeClr val="tx1">
                  <a:alpha val="70000"/>
                </a:schemeClr>
              </a:solidFill>
              <a:latin typeface="微软雅黑" panose="020B0503020204020204" charset="-122"/>
              <a:ea typeface="微软雅黑" panose="020B0503020204020204" charset="-122"/>
            </a:endParaRPr>
          </a:p>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平衡事权和</a:t>
            </a:r>
            <a:r>
              <a:rPr lang="zh-CN" altLang="en-US" sz="1000" dirty="0">
                <a:solidFill>
                  <a:schemeClr val="tx1">
                    <a:alpha val="70000"/>
                  </a:schemeClr>
                </a:solidFill>
                <a:latin typeface="微软雅黑" panose="020B0503020204020204" charset="-122"/>
                <a:ea typeface="微软雅黑" panose="020B0503020204020204" charset="-122"/>
              </a:rPr>
              <a:t>财权</a:t>
            </a:r>
            <a:endParaRPr lang="zh-CN" altLang="en-US" sz="1000" dirty="0">
              <a:solidFill>
                <a:schemeClr val="tx1">
                  <a:alpha val="70000"/>
                </a:schemeClr>
              </a:solidFill>
              <a:latin typeface="微软雅黑" panose="020B0503020204020204" charset="-122"/>
              <a:ea typeface="微软雅黑" panose="020B0503020204020204" charset="-122"/>
            </a:endParaRPr>
          </a:p>
        </p:txBody>
      </p:sp>
      <p:sp>
        <p:nvSpPr>
          <p:cNvPr id="17" name="TextBox 11"/>
          <p:cNvSpPr txBox="1"/>
          <p:nvPr/>
        </p:nvSpPr>
        <p:spPr>
          <a:xfrm>
            <a:off x="5040631" y="2886783"/>
            <a:ext cx="1897380" cy="398780"/>
          </a:xfrm>
          <a:prstGeom prst="rect">
            <a:avLst/>
          </a:prstGeom>
          <a:noFill/>
        </p:spPr>
        <p:txBody>
          <a:bodyPr wrap="none" lIns="0" rIns="0" rtlCol="0">
            <a:spAutoFit/>
          </a:bodyPr>
          <a:p>
            <a:pPr algn="ctr"/>
            <a:r>
              <a:rPr lang="en-US" altLang="zh-CN" sz="2000" b="1" dirty="0" smtClean="0">
                <a:solidFill>
                  <a:srgbClr val="FF0000"/>
                </a:solidFill>
                <a:latin typeface="微软雅黑" panose="020B0503020204020204" charset="-122"/>
                <a:ea typeface="微软雅黑" panose="020B0503020204020204" charset="-122"/>
                <a:cs typeface="Open Sans" panose="020B0606030504020204" charset="0"/>
              </a:rPr>
              <a:t>1994</a:t>
            </a:r>
            <a:r>
              <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rPr>
              <a:t>分税制改革</a:t>
            </a:r>
            <a:endPar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endParaRPr>
          </a:p>
        </p:txBody>
      </p:sp>
      <p:sp>
        <p:nvSpPr>
          <p:cNvPr id="18" name="Oval 13"/>
          <p:cNvSpPr/>
          <p:nvPr/>
        </p:nvSpPr>
        <p:spPr>
          <a:xfrm>
            <a:off x="5277085" y="3593034"/>
            <a:ext cx="1424470" cy="142447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en-US" sz="3200" dirty="0" smtClean="0">
                <a:solidFill>
                  <a:schemeClr val="tx1"/>
                </a:solidFill>
                <a:latin typeface="微软雅黑" panose="020B0503020204020204" charset="-122"/>
                <a:ea typeface="微软雅黑" panose="020B0503020204020204" charset="-122"/>
              </a:rPr>
              <a:t>02</a:t>
            </a:r>
            <a:endParaRPr lang="en-US" sz="3200" dirty="0" smtClean="0">
              <a:solidFill>
                <a:schemeClr val="tx1"/>
              </a:solidFill>
              <a:latin typeface="微软雅黑" panose="020B0503020204020204" charset="-122"/>
              <a:ea typeface="微软雅黑" panose="020B0503020204020204" charset="-122"/>
            </a:endParaRPr>
          </a:p>
        </p:txBody>
      </p:sp>
      <p:cxnSp>
        <p:nvCxnSpPr>
          <p:cNvPr id="21" name="Straight Connector 14"/>
          <p:cNvCxnSpPr/>
          <p:nvPr/>
        </p:nvCxnSpPr>
        <p:spPr>
          <a:xfrm>
            <a:off x="5987666" y="3345463"/>
            <a:ext cx="0" cy="477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Oval 16"/>
          <p:cNvSpPr/>
          <p:nvPr/>
        </p:nvSpPr>
        <p:spPr>
          <a:xfrm>
            <a:off x="8584665" y="1889006"/>
            <a:ext cx="1424470" cy="1424470"/>
          </a:xfrm>
          <a:prstGeom prst="ellipse">
            <a:avLst/>
          </a:prstGeom>
          <a:solidFill>
            <a:schemeClr val="bg1"/>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noAutofit/>
          </a:bodyPr>
          <a:p>
            <a:pPr algn="ctr"/>
            <a:r>
              <a:rPr lang="en-US" sz="3200" dirty="0" smtClean="0">
                <a:solidFill>
                  <a:schemeClr val="tx1"/>
                </a:solidFill>
                <a:latin typeface="微软雅黑" panose="020B0503020204020204" charset="-122"/>
                <a:ea typeface="微软雅黑" panose="020B0503020204020204" charset="-122"/>
              </a:rPr>
              <a:t>03</a:t>
            </a:r>
            <a:endParaRPr lang="en-US" sz="3200" dirty="0" smtClean="0">
              <a:solidFill>
                <a:schemeClr val="tx1"/>
              </a:solidFill>
              <a:latin typeface="微软雅黑" panose="020B0503020204020204" charset="-122"/>
              <a:ea typeface="微软雅黑" panose="020B0503020204020204" charset="-122"/>
            </a:endParaRPr>
          </a:p>
        </p:txBody>
      </p:sp>
      <p:sp>
        <p:nvSpPr>
          <p:cNvPr id="27" name="TextBox 17"/>
          <p:cNvSpPr txBox="1"/>
          <p:nvPr/>
        </p:nvSpPr>
        <p:spPr>
          <a:xfrm>
            <a:off x="8010420" y="4194227"/>
            <a:ext cx="2621038" cy="491490"/>
          </a:xfrm>
          <a:prstGeom prst="rect">
            <a:avLst/>
          </a:prstGeom>
          <a:noFill/>
        </p:spPr>
        <p:txBody>
          <a:bodyPr wrap="square" lIns="0" rIns="0" rtlCol="0">
            <a:spAutoFit/>
          </a:bodyPr>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外贸顺差</a:t>
            </a:r>
            <a:endParaRPr lang="zh-CN" altLang="en-US" sz="1000" dirty="0">
              <a:solidFill>
                <a:schemeClr val="tx1">
                  <a:alpha val="70000"/>
                </a:schemeClr>
              </a:solidFill>
              <a:latin typeface="微软雅黑" panose="020B0503020204020204" charset="-122"/>
              <a:ea typeface="微软雅黑" panose="020B0503020204020204" charset="-122"/>
            </a:endParaRPr>
          </a:p>
          <a:p>
            <a:pPr algn="ctr">
              <a:lnSpc>
                <a:spcPct val="130000"/>
              </a:lnSpc>
            </a:pPr>
            <a:r>
              <a:rPr lang="zh-CN" altLang="en-US" sz="1000" dirty="0">
                <a:solidFill>
                  <a:schemeClr val="tx1">
                    <a:alpha val="70000"/>
                  </a:schemeClr>
                </a:solidFill>
                <a:latin typeface="微软雅黑" panose="020B0503020204020204" charset="-122"/>
                <a:ea typeface="微软雅黑" panose="020B0503020204020204" charset="-122"/>
              </a:rPr>
              <a:t>带来产业</a:t>
            </a:r>
            <a:r>
              <a:rPr lang="zh-CN" altLang="en-US" sz="1000" dirty="0">
                <a:solidFill>
                  <a:schemeClr val="tx1">
                    <a:alpha val="70000"/>
                  </a:schemeClr>
                </a:solidFill>
                <a:latin typeface="微软雅黑" panose="020B0503020204020204" charset="-122"/>
                <a:ea typeface="微软雅黑" panose="020B0503020204020204" charset="-122"/>
              </a:rPr>
              <a:t>订单与</a:t>
            </a:r>
            <a:r>
              <a:rPr lang="zh-CN" altLang="en-US" sz="1000" dirty="0">
                <a:solidFill>
                  <a:schemeClr val="tx1">
                    <a:alpha val="70000"/>
                  </a:schemeClr>
                </a:solidFill>
                <a:latin typeface="微软雅黑" panose="020B0503020204020204" charset="-122"/>
                <a:ea typeface="微软雅黑" panose="020B0503020204020204" charset="-122"/>
              </a:rPr>
              <a:t>外汇</a:t>
            </a:r>
            <a:endParaRPr lang="zh-CN" altLang="en-US" sz="1000" dirty="0">
              <a:solidFill>
                <a:schemeClr val="tx1">
                  <a:alpha val="70000"/>
                </a:schemeClr>
              </a:solidFill>
              <a:latin typeface="微软雅黑" panose="020B0503020204020204" charset="-122"/>
              <a:ea typeface="微软雅黑" panose="020B0503020204020204" charset="-122"/>
            </a:endParaRPr>
          </a:p>
        </p:txBody>
      </p:sp>
      <p:sp>
        <p:nvSpPr>
          <p:cNvPr id="28" name="TextBox 18"/>
          <p:cNvSpPr txBox="1"/>
          <p:nvPr/>
        </p:nvSpPr>
        <p:spPr>
          <a:xfrm>
            <a:off x="8812941" y="3750291"/>
            <a:ext cx="1016000" cy="398780"/>
          </a:xfrm>
          <a:prstGeom prst="rect">
            <a:avLst/>
          </a:prstGeom>
          <a:noFill/>
        </p:spPr>
        <p:txBody>
          <a:bodyPr wrap="none" lIns="0" rIns="0" rtlCol="0">
            <a:spAutoFit/>
          </a:bodyPr>
          <a:p>
            <a:pPr algn="ctr"/>
            <a:r>
              <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rPr>
              <a:t>开放外贸</a:t>
            </a:r>
            <a:endParaRPr lang="zh-CN" altLang="en-US" sz="2000" b="1" dirty="0" smtClean="0">
              <a:solidFill>
                <a:srgbClr val="FF0000"/>
              </a:solidFill>
              <a:latin typeface="微软雅黑" panose="020B0503020204020204" charset="-122"/>
              <a:ea typeface="微软雅黑" panose="020B0503020204020204" charset="-122"/>
              <a:cs typeface="Open Sans" panose="020B0606030504020204" charset="0"/>
            </a:endParaRPr>
          </a:p>
        </p:txBody>
      </p:sp>
      <p:cxnSp>
        <p:nvCxnSpPr>
          <p:cNvPr id="29" name="Straight Connector 19"/>
          <p:cNvCxnSpPr/>
          <p:nvPr/>
        </p:nvCxnSpPr>
        <p:spPr>
          <a:xfrm>
            <a:off x="9270396" y="3096092"/>
            <a:ext cx="0" cy="4770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9"/>
          <p:cNvSpPr txBox="1"/>
          <p:nvPr>
            <p:custDataLst>
              <p:tags r:id="rId3"/>
            </p:custDataLst>
          </p:nvPr>
        </p:nvSpPr>
        <p:spPr>
          <a:xfrm>
            <a:off x="335915" y="324485"/>
            <a:ext cx="6382385" cy="829945"/>
          </a:xfrm>
          <a:prstGeom prst="rect">
            <a:avLst/>
          </a:prstGeom>
          <a:noFill/>
        </p:spPr>
        <p:txBody>
          <a:bodyPr wrap="square" rtlCol="0">
            <a:spAutoFit/>
          </a:bodyPr>
          <a:p>
            <a:pPr algn="l"/>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历史与制度</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背景</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0" name="组合 49"/>
          <p:cNvGrpSpPr/>
          <p:nvPr/>
        </p:nvGrpSpPr>
        <p:grpSpPr>
          <a:xfrm>
            <a:off x="-10795" y="6437630"/>
            <a:ext cx="12202160" cy="420370"/>
            <a:chOff x="-17" y="8816"/>
            <a:chExt cx="19251" cy="1984"/>
          </a:xfrm>
        </p:grpSpPr>
        <p:sp>
          <p:nvSpPr>
            <p:cNvPr id="46" name="流程图: 过程 45"/>
            <p:cNvSpPr/>
            <p:nvPr/>
          </p:nvSpPr>
          <p:spPr>
            <a:xfrm>
              <a:off x="-17" y="8816"/>
              <a:ext cx="4731"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流程图: 过程 46"/>
            <p:cNvSpPr/>
            <p:nvPr/>
          </p:nvSpPr>
          <p:spPr>
            <a:xfrm>
              <a:off x="4697"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流程图: 过程 47"/>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流程图: 过程 48"/>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17716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学术层面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7" name="文本框 6"/>
          <p:cNvSpPr txBox="1"/>
          <p:nvPr/>
        </p:nvSpPr>
        <p:spPr>
          <a:xfrm>
            <a:off x="3213735" y="6489065"/>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9" name="文本框 8"/>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0" name="文本框 9"/>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
        <p:nvSpPr>
          <p:cNvPr id="11" name="文本框 10"/>
          <p:cNvSpPr txBox="1"/>
          <p:nvPr>
            <p:custDataLst>
              <p:tags r:id="rId1"/>
            </p:custDataLst>
          </p:nvPr>
        </p:nvSpPr>
        <p:spPr>
          <a:xfrm>
            <a:off x="415290" y="2844165"/>
            <a:ext cx="10636250" cy="829945"/>
          </a:xfrm>
          <a:prstGeom prst="rect">
            <a:avLst/>
          </a:prstGeom>
        </p:spPr>
        <p:txBody>
          <a:bodyPr wrap="square">
            <a:spAutoFit/>
          </a:bodyPr>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由</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约翰·R.洛根与哈维·L.莫洛奇</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提出，核心观点是城市本质是一部追求增长的机器，其发展动力源于围绕空间开发的</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利益共同体——“增长联盟”</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，该联盟以</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政府和房地产商</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为核心，通过土地开发与房地产建设推动城市增长，但这一过程可能加剧社会不平等与空间分层。</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13" name="文本框 12"/>
          <p:cNvSpPr txBox="1"/>
          <p:nvPr>
            <p:custDataLst>
              <p:tags r:id="rId2"/>
            </p:custDataLst>
          </p:nvPr>
        </p:nvSpPr>
        <p:spPr>
          <a:xfrm>
            <a:off x="3115310" y="2299970"/>
            <a:ext cx="6096000" cy="368300"/>
          </a:xfrm>
          <a:prstGeom prst="rect">
            <a:avLst/>
          </a:prstGeom>
          <a:noFill/>
        </p:spPr>
        <p:txBody>
          <a:bodyPr wrap="square" rtlCol="0" anchor="t">
            <a:spAutoFit/>
          </a:bodyPr>
          <a:p>
            <a:r>
              <a:rPr lang="zh-CN" altLang="en-US" sz="1800" b="1" dirty="0">
                <a:solidFill>
                  <a:srgbClr val="FF0000"/>
                </a:solidFill>
                <a:latin typeface="微软雅黑" panose="020B0503020204020204" charset="-122"/>
                <a:ea typeface="微软雅黑" panose="020B0503020204020204" charset="-122"/>
                <a:cs typeface="Open Sans" panose="020B0606030504020204" charset="0"/>
                <a:sym typeface="+mn-ea"/>
              </a:rPr>
              <a:t>城市增长机器理论</a:t>
            </a:r>
            <a:endParaRPr lang="zh-CN" altLang="en-US" sz="1600">
              <a:sym typeface="+mn-ea"/>
            </a:endParaRPr>
          </a:p>
        </p:txBody>
      </p:sp>
      <p:sp>
        <p:nvSpPr>
          <p:cNvPr id="14" name="文本框 13"/>
          <p:cNvSpPr txBox="1"/>
          <p:nvPr>
            <p:custDataLst>
              <p:tags r:id="rId3"/>
            </p:custDataLst>
          </p:nvPr>
        </p:nvSpPr>
        <p:spPr>
          <a:xfrm>
            <a:off x="3115310" y="4473575"/>
            <a:ext cx="6096000" cy="368300"/>
          </a:xfrm>
          <a:prstGeom prst="rect">
            <a:avLst/>
          </a:prstGeom>
          <a:noFill/>
        </p:spPr>
        <p:txBody>
          <a:bodyPr wrap="square" rtlCol="0" anchor="t">
            <a:spAutoFit/>
          </a:bodyPr>
          <a:p>
            <a:pPr algn="l">
              <a:buClrTx/>
              <a:buSzTx/>
              <a:buFontTx/>
            </a:pPr>
            <a:r>
              <a:rPr lang="zh-CN" altLang="en-US" sz="1800" b="1" dirty="0">
                <a:solidFill>
                  <a:srgbClr val="FF0000"/>
                </a:solidFill>
                <a:latin typeface="微软雅黑" panose="020B0503020204020204" charset="-122"/>
                <a:ea typeface="微软雅黑" panose="020B0503020204020204" charset="-122"/>
                <a:cs typeface="Open Sans" panose="020B0606030504020204" charset="0"/>
                <a:sym typeface="+mn-ea"/>
              </a:rPr>
              <a:t>资本积累—权力嵌入—空间治理</a:t>
            </a:r>
            <a:endParaRPr lang="zh-CN" altLang="en-US" sz="1800" b="1" dirty="0">
              <a:solidFill>
                <a:srgbClr val="FF0000"/>
              </a:solidFill>
              <a:latin typeface="微软雅黑" panose="020B0503020204020204" charset="-122"/>
              <a:ea typeface="微软雅黑" panose="020B0503020204020204" charset="-122"/>
              <a:cs typeface="Open Sans" panose="020B0606030504020204" charset="0"/>
              <a:sym typeface="+mn-ea"/>
            </a:endParaRPr>
          </a:p>
        </p:txBody>
      </p:sp>
      <p:sp>
        <p:nvSpPr>
          <p:cNvPr id="17" name="TextBox 9"/>
          <p:cNvSpPr txBox="1"/>
          <p:nvPr>
            <p:custDataLst>
              <p:tags r:id="rId4"/>
            </p:custDataLst>
          </p:nvPr>
        </p:nvSpPr>
        <p:spPr>
          <a:xfrm>
            <a:off x="370205" y="1988820"/>
            <a:ext cx="3853180" cy="829945"/>
          </a:xfrm>
          <a:prstGeom prst="rect">
            <a:avLst/>
          </a:prstGeom>
          <a:noFill/>
        </p:spPr>
        <p:txBody>
          <a:bodyPr wrap="square" rtlCol="0">
            <a:spAutoFit/>
          </a:bodyPr>
          <a:p>
            <a:pPr algn="l"/>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理论</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依据</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18" name="TextBox 9"/>
          <p:cNvSpPr txBox="1"/>
          <p:nvPr>
            <p:custDataLst>
              <p:tags r:id="rId5"/>
            </p:custDataLst>
          </p:nvPr>
        </p:nvSpPr>
        <p:spPr>
          <a:xfrm>
            <a:off x="370205" y="4124325"/>
            <a:ext cx="3300095" cy="733425"/>
          </a:xfrm>
          <a:prstGeom prst="rect">
            <a:avLst/>
          </a:prstGeom>
          <a:noFill/>
        </p:spPr>
        <p:txBody>
          <a:bodyPr wrap="square" rtlCol="0">
            <a:noAutofit/>
          </a:bodyPr>
          <a:p>
            <a:pPr algn="l"/>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分析框架</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22" name="文本框 21"/>
          <p:cNvSpPr txBox="1"/>
          <p:nvPr>
            <p:custDataLst>
              <p:tags r:id="rId6"/>
            </p:custDataLst>
          </p:nvPr>
        </p:nvSpPr>
        <p:spPr>
          <a:xfrm>
            <a:off x="415290" y="5003800"/>
            <a:ext cx="10601960" cy="583565"/>
          </a:xfrm>
          <a:prstGeom prst="rect">
            <a:avLst/>
          </a:prstGeom>
        </p:spPr>
        <p:txBody>
          <a:bodyPr wrap="square">
            <a:spAutoFit/>
          </a:bodyPr>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平台的介入推动形成了正规工厂与家庭作坊共存且相互依赖的生产体系，塑造了</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“半科层—半市场”</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的混合制度框架，最终对服装村的空间治理产生非均衡影响。</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2" name="TextBox 9"/>
          <p:cNvSpPr txBox="1"/>
          <p:nvPr>
            <p:custDataLst>
              <p:tags r:id="rId7"/>
            </p:custDataLst>
          </p:nvPr>
        </p:nvSpPr>
        <p:spPr>
          <a:xfrm>
            <a:off x="290830" y="1143000"/>
            <a:ext cx="11463020" cy="506730"/>
          </a:xfrm>
          <a:prstGeom prst="rect">
            <a:avLst/>
          </a:prstGeom>
          <a:noFill/>
        </p:spPr>
        <p:txBody>
          <a:bodyPr wrap="square" rtlCol="0">
            <a:noAutofit/>
          </a:bodyPr>
          <a:p>
            <a:pPr algn="l"/>
            <a:r>
              <a:rPr lang="zh-CN" altLang="zh-CN" sz="2000" b="1" spc="600" dirty="0" smtClean="0">
                <a:latin typeface="方正明尚简体" panose="02000000000000000000" charset="-122"/>
                <a:ea typeface="方正明尚简体" panose="02000000000000000000" charset="-122"/>
                <a:cs typeface="Montserrat" panose="00000500000000000000" pitchFamily="50" charset="0"/>
                <a:sym typeface="+mn-ea"/>
              </a:rPr>
              <a:t>《数字平台、生产网络与地方空间治理——广州服装村更新的比较研究》</a:t>
            </a:r>
            <a:endParaRPr lang="zh-CN" altLang="zh-CN" sz="20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mn-ea"/>
            </a:endParaRPr>
          </a:p>
        </p:txBody>
      </p:sp>
      <p:pic>
        <p:nvPicPr>
          <p:cNvPr id="3" name="图形 17"/>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290785" y="53887"/>
            <a:ext cx="2825913" cy="5973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0" name="组合 49"/>
          <p:cNvGrpSpPr/>
          <p:nvPr/>
        </p:nvGrpSpPr>
        <p:grpSpPr>
          <a:xfrm>
            <a:off x="-10795" y="6437630"/>
            <a:ext cx="12202160" cy="420370"/>
            <a:chOff x="-17" y="8816"/>
            <a:chExt cx="19251" cy="1984"/>
          </a:xfrm>
        </p:grpSpPr>
        <p:sp>
          <p:nvSpPr>
            <p:cNvPr id="46" name="流程图: 过程 45"/>
            <p:cNvSpPr/>
            <p:nvPr/>
          </p:nvSpPr>
          <p:spPr>
            <a:xfrm>
              <a:off x="-17" y="8816"/>
              <a:ext cx="4731"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7" name="流程图: 过程 46"/>
            <p:cNvSpPr/>
            <p:nvPr/>
          </p:nvSpPr>
          <p:spPr>
            <a:xfrm>
              <a:off x="4697"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8" name="流程图: 过程 47"/>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9" name="流程图: 过程 48"/>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4" name="文本框 3"/>
          <p:cNvSpPr txBox="1"/>
          <p:nvPr/>
        </p:nvSpPr>
        <p:spPr>
          <a:xfrm>
            <a:off x="17716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学术层面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7" name="文本框 6"/>
          <p:cNvSpPr txBox="1"/>
          <p:nvPr/>
        </p:nvSpPr>
        <p:spPr>
          <a:xfrm>
            <a:off x="3213735" y="6489065"/>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9" name="文本框 8"/>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0" name="文本框 9"/>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
        <p:nvSpPr>
          <p:cNvPr id="2" name="TextBox 9"/>
          <p:cNvSpPr txBox="1"/>
          <p:nvPr>
            <p:custDataLst>
              <p:tags r:id="rId1"/>
            </p:custDataLst>
          </p:nvPr>
        </p:nvSpPr>
        <p:spPr>
          <a:xfrm>
            <a:off x="290830" y="1143000"/>
            <a:ext cx="11463020" cy="506730"/>
          </a:xfrm>
          <a:prstGeom prst="rect">
            <a:avLst/>
          </a:prstGeom>
          <a:noFill/>
        </p:spPr>
        <p:txBody>
          <a:bodyPr wrap="square" rtlCol="0">
            <a:noAutofit/>
          </a:bodyPr>
          <a:p>
            <a:pPr algn="l"/>
            <a:r>
              <a:rPr lang="zh-CN" altLang="zh-CN" sz="2000" b="1" spc="600" dirty="0" smtClean="0">
                <a:latin typeface="方正明尚简体" panose="02000000000000000000" charset="-122"/>
                <a:ea typeface="方正明尚简体" panose="02000000000000000000" charset="-122"/>
                <a:cs typeface="Montserrat" panose="00000500000000000000" pitchFamily="50" charset="0"/>
                <a:sym typeface="+mn-ea"/>
              </a:rPr>
              <a:t>《数字平台、生产网络与地方空间治理——广州服装村更新的比较研究》</a:t>
            </a:r>
            <a:endParaRPr lang="zh-CN" altLang="zh-CN" sz="20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mn-ea"/>
            </a:endParaRPr>
          </a:p>
        </p:txBody>
      </p:sp>
      <p:pic>
        <p:nvPicPr>
          <p:cNvPr id="3" name="图形 1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90785" y="53887"/>
            <a:ext cx="2825913" cy="597347"/>
          </a:xfrm>
          <a:prstGeom prst="rect">
            <a:avLst/>
          </a:prstGeom>
        </p:spPr>
      </p:pic>
      <p:sp>
        <p:nvSpPr>
          <p:cNvPr id="6" name="文本框 5"/>
          <p:cNvSpPr txBox="1"/>
          <p:nvPr>
            <p:custDataLst>
              <p:tags r:id="rId4"/>
            </p:custDataLst>
          </p:nvPr>
        </p:nvSpPr>
        <p:spPr>
          <a:xfrm>
            <a:off x="415290" y="2169160"/>
            <a:ext cx="10791825" cy="1322070"/>
          </a:xfrm>
          <a:prstGeom prst="rect">
            <a:avLst/>
          </a:prstGeom>
        </p:spPr>
        <p:txBody>
          <a:bodyPr wrap="square">
            <a:spAutoFit/>
          </a:bodyPr>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过去：</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城中村生产集群本地人和外地依靠亲缘的商业团队，村委会既担任管理也参与分红，资本和权力的合谋，</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治理难度大。</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治理方案：</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政府提供补贴，疏解</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空间</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     </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8" name="文本框 7"/>
          <p:cNvSpPr txBox="1"/>
          <p:nvPr/>
        </p:nvSpPr>
        <p:spPr>
          <a:xfrm>
            <a:off x="426085" y="3810635"/>
            <a:ext cx="10954385" cy="1076325"/>
          </a:xfrm>
          <a:prstGeom prst="rect">
            <a:avLst/>
          </a:prstGeom>
          <a:noFill/>
        </p:spPr>
        <p:txBody>
          <a:bodyPr wrap="square" rtlCol="0" anchor="t">
            <a:spAutoFit/>
          </a:bodyPr>
          <a:p>
            <a:r>
              <a:rPr lang="zh-CN" altLang="en-US" sz="1600" b="1" dirty="0">
                <a:solidFill>
                  <a:srgbClr val="FF0000"/>
                </a:solidFill>
                <a:latin typeface="微软雅黑" panose="020B0503020204020204" charset="-122"/>
                <a:ea typeface="微软雅黑" panose="020B0503020204020204" charset="-122"/>
                <a:cs typeface="Open Sans" panose="020B0606030504020204" charset="0"/>
                <a:sym typeface="+mn-ea"/>
              </a:rPr>
              <a:t>现在：</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SHEIN</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提供订单与数字转型，</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 </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将希音村改造成</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 </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半科层</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半市场</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 </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的平台，将生产线扩大至外延，并且修正打板、样衣流程，将希音村规范化</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sym typeface="+mn-ea"/>
              </a:rPr>
              <a:t>治理方案：</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由平台参与监视、平台的分级治理与标准化规制推动局部的产业转型与空间优化             </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p:txBody>
      </p:sp>
      <p:sp>
        <p:nvSpPr>
          <p:cNvPr id="5" name="文本框 4"/>
          <p:cNvSpPr txBox="1"/>
          <p:nvPr>
            <p:custDataLst>
              <p:tags r:id="rId5"/>
            </p:custDataLst>
          </p:nvPr>
        </p:nvSpPr>
        <p:spPr>
          <a:xfrm>
            <a:off x="5106035" y="5229225"/>
            <a:ext cx="10791825" cy="583565"/>
          </a:xfrm>
          <a:prstGeom prst="rect">
            <a:avLst/>
          </a:prstGeom>
        </p:spPr>
        <p:txBody>
          <a:bodyPr wrap="square">
            <a:spAutoFit/>
          </a:bodyPr>
          <a:p>
            <a:r>
              <a:rPr lang="zh-CN" altLang="en-US" sz="3200" b="1" dirty="0">
                <a:solidFill>
                  <a:srgbClr val="FF0000"/>
                </a:solidFill>
                <a:latin typeface="微软雅黑" panose="020B0503020204020204" charset="-122"/>
                <a:ea typeface="微软雅黑" panose="020B0503020204020204" charset="-122"/>
                <a:cs typeface="Open Sans" panose="020B0606030504020204" charset="0"/>
              </a:rPr>
              <a:t>三赢</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   </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27070"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现实层面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18" name="文本框 17"/>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9" name="文本框 18"/>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
        <p:nvSpPr>
          <p:cNvPr id="4" name="TextBox 9"/>
          <p:cNvSpPr txBox="1"/>
          <p:nvPr>
            <p:custDataLst>
              <p:tags r:id="rId1"/>
            </p:custDataLst>
          </p:nvPr>
        </p:nvSpPr>
        <p:spPr>
          <a:xfrm>
            <a:off x="335915" y="368935"/>
            <a:ext cx="6382385" cy="829945"/>
          </a:xfrm>
          <a:prstGeom prst="rect">
            <a:avLst/>
          </a:prstGeom>
          <a:noFill/>
        </p:spPr>
        <p:txBody>
          <a:bodyPr wrap="square" rtlCol="0">
            <a:spAutoFit/>
          </a:bodyPr>
          <a:p>
            <a:pPr algn="l"/>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希音</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的</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发展史</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cxnSp>
        <p:nvCxnSpPr>
          <p:cNvPr id="2" name="直接箭头连接符 1"/>
          <p:cNvCxnSpPr/>
          <p:nvPr/>
        </p:nvCxnSpPr>
        <p:spPr>
          <a:xfrm flipV="1">
            <a:off x="-6350" y="3563620"/>
            <a:ext cx="12087225" cy="20955"/>
          </a:xfrm>
          <a:prstGeom prst="straightConnector1">
            <a:avLst/>
          </a:prstGeom>
          <a:ln w="28575" cmpd="sng">
            <a:solidFill>
              <a:srgbClr val="FF0000"/>
            </a:solidFill>
            <a:prstDash val="solid"/>
            <a:tailEnd type="arrow"/>
          </a:ln>
        </p:spPr>
        <p:style>
          <a:lnRef idx="2">
            <a:schemeClr val="accent1"/>
          </a:lnRef>
          <a:fillRef idx="0">
            <a:srgbClr val="FFFFFF"/>
          </a:fillRef>
          <a:effectRef idx="0">
            <a:srgbClr val="FFFFFF"/>
          </a:effectRef>
          <a:fontRef idx="minor">
            <a:schemeClr val="tx1"/>
          </a:fontRef>
        </p:style>
      </p:cxnSp>
      <p:cxnSp>
        <p:nvCxnSpPr>
          <p:cNvPr id="3" name="直接箭头连接符 2"/>
          <p:cNvCxnSpPr/>
          <p:nvPr>
            <p:custDataLst>
              <p:tags r:id="rId2"/>
            </p:custDataLst>
          </p:nvPr>
        </p:nvCxnSpPr>
        <p:spPr>
          <a:xfrm flipH="1" flipV="1">
            <a:off x="1101090" y="2708910"/>
            <a:ext cx="9525" cy="8578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5" name="直接箭头连接符 4"/>
          <p:cNvCxnSpPr/>
          <p:nvPr>
            <p:custDataLst>
              <p:tags r:id="rId3"/>
            </p:custDataLst>
          </p:nvPr>
        </p:nvCxnSpPr>
        <p:spPr>
          <a:xfrm flipH="1" flipV="1">
            <a:off x="2766060" y="2726690"/>
            <a:ext cx="9525" cy="8578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8" name="直接箭头连接符 7"/>
          <p:cNvCxnSpPr/>
          <p:nvPr/>
        </p:nvCxnSpPr>
        <p:spPr>
          <a:xfrm flipH="1">
            <a:off x="4025900" y="3576955"/>
            <a:ext cx="6985" cy="10668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p:nvPr/>
        </p:nvCxnSpPr>
        <p:spPr>
          <a:xfrm flipH="1" flipV="1">
            <a:off x="5690870" y="2726690"/>
            <a:ext cx="9525" cy="857885"/>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10" name="文本框 9"/>
          <p:cNvSpPr txBox="1"/>
          <p:nvPr>
            <p:custDataLst>
              <p:tags r:id="rId4"/>
            </p:custDataLst>
          </p:nvPr>
        </p:nvSpPr>
        <p:spPr>
          <a:xfrm>
            <a:off x="335915" y="2258695"/>
            <a:ext cx="2578100" cy="560705"/>
          </a:xfrm>
          <a:prstGeom prst="rect">
            <a:avLst/>
          </a:prstGeom>
          <a:noFill/>
        </p:spPr>
        <p:txBody>
          <a:bodyPr wrap="square" rtlCol="0">
            <a:noAutofit/>
          </a:bodyPr>
          <a:p>
            <a:pPr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创始人许仰天</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买下SHEINside的域名</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20" name="文本框 19"/>
          <p:cNvSpPr txBox="1"/>
          <p:nvPr>
            <p:custDataLst>
              <p:tags r:id="rId5"/>
            </p:custDataLst>
          </p:nvPr>
        </p:nvSpPr>
        <p:spPr>
          <a:xfrm>
            <a:off x="2091055" y="2259330"/>
            <a:ext cx="2129790" cy="560705"/>
          </a:xfrm>
          <a:prstGeom prst="rect">
            <a:avLst/>
          </a:prstGeom>
          <a:noFill/>
        </p:spPr>
        <p:txBody>
          <a:bodyPr wrap="square" rtlCol="0">
            <a:noAutofit/>
          </a:bodyPr>
          <a:p>
            <a:pPr lvl="0"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搬迁至</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广州</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lvl="0"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搭建</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柔性生产</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供应链</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p:txBody>
      </p:sp>
      <p:sp>
        <p:nvSpPr>
          <p:cNvPr id="6" name="文本框 5"/>
          <p:cNvSpPr txBox="1"/>
          <p:nvPr>
            <p:custDataLst>
              <p:tags r:id="rId6"/>
            </p:custDataLst>
          </p:nvPr>
        </p:nvSpPr>
        <p:spPr>
          <a:xfrm>
            <a:off x="605790" y="3599815"/>
            <a:ext cx="990600" cy="231775"/>
          </a:xfrm>
          <a:prstGeom prst="rect">
            <a:avLst/>
          </a:prstGeom>
          <a:noFill/>
        </p:spPr>
        <p:txBody>
          <a:bodyPr wrap="square" rtlCol="0">
            <a:noAutofit/>
          </a:bodyPr>
          <a:p>
            <a:pPr algn="ctr"/>
            <a:r>
              <a:rPr lang="en-US" sz="1400"/>
              <a:t>2012</a:t>
            </a:r>
            <a:endParaRPr lang="en-US" sz="1400"/>
          </a:p>
        </p:txBody>
      </p:sp>
      <p:sp>
        <p:nvSpPr>
          <p:cNvPr id="7" name="文本框 6"/>
          <p:cNvSpPr txBox="1"/>
          <p:nvPr>
            <p:custDataLst>
              <p:tags r:id="rId7"/>
            </p:custDataLst>
          </p:nvPr>
        </p:nvSpPr>
        <p:spPr>
          <a:xfrm>
            <a:off x="2270760" y="3608705"/>
            <a:ext cx="990600" cy="231775"/>
          </a:xfrm>
          <a:prstGeom prst="rect">
            <a:avLst/>
          </a:prstGeom>
          <a:noFill/>
        </p:spPr>
        <p:txBody>
          <a:bodyPr wrap="square" rtlCol="0">
            <a:noAutofit/>
          </a:bodyPr>
          <a:p>
            <a:pPr algn="ctr"/>
            <a:r>
              <a:rPr lang="en-US" sz="1400"/>
              <a:t>2014</a:t>
            </a:r>
            <a:endParaRPr lang="en-US" sz="1400"/>
          </a:p>
        </p:txBody>
      </p:sp>
      <p:sp>
        <p:nvSpPr>
          <p:cNvPr id="21" name="文本框 20"/>
          <p:cNvSpPr txBox="1"/>
          <p:nvPr>
            <p:custDataLst>
              <p:tags r:id="rId8"/>
            </p:custDataLst>
          </p:nvPr>
        </p:nvSpPr>
        <p:spPr>
          <a:xfrm>
            <a:off x="2976880" y="4730750"/>
            <a:ext cx="2579370" cy="560705"/>
          </a:xfrm>
          <a:prstGeom prst="rect">
            <a:avLst/>
          </a:prstGeom>
          <a:noFill/>
        </p:spPr>
        <p:txBody>
          <a:bodyPr wrap="square" rtlCol="0">
            <a:noAutofit/>
          </a:bodyPr>
          <a:p>
            <a:pPr lvl="0"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SHEIN</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开始推广应用数码热转印技术，这是一种零水耗的环保印花工艺</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p:txBody>
      </p:sp>
      <p:sp>
        <p:nvSpPr>
          <p:cNvPr id="22" name="文本框 21"/>
          <p:cNvSpPr txBox="1"/>
          <p:nvPr>
            <p:custDataLst>
              <p:tags r:id="rId9"/>
            </p:custDataLst>
          </p:nvPr>
        </p:nvSpPr>
        <p:spPr>
          <a:xfrm>
            <a:off x="3530600" y="3258185"/>
            <a:ext cx="990600" cy="231775"/>
          </a:xfrm>
          <a:prstGeom prst="rect">
            <a:avLst/>
          </a:prstGeom>
          <a:noFill/>
        </p:spPr>
        <p:txBody>
          <a:bodyPr wrap="square" rtlCol="0">
            <a:noAutofit/>
          </a:bodyPr>
          <a:p>
            <a:pPr algn="ctr"/>
            <a:r>
              <a:rPr lang="en-US" sz="1400"/>
              <a:t>2018</a:t>
            </a:r>
            <a:endParaRPr lang="en-US" sz="1400"/>
          </a:p>
        </p:txBody>
      </p:sp>
      <p:sp>
        <p:nvSpPr>
          <p:cNvPr id="23" name="文本框 22"/>
          <p:cNvSpPr txBox="1"/>
          <p:nvPr>
            <p:custDataLst>
              <p:tags r:id="rId10"/>
            </p:custDataLst>
          </p:nvPr>
        </p:nvSpPr>
        <p:spPr>
          <a:xfrm>
            <a:off x="5199380" y="3653790"/>
            <a:ext cx="990600" cy="231775"/>
          </a:xfrm>
          <a:prstGeom prst="rect">
            <a:avLst/>
          </a:prstGeom>
          <a:noFill/>
        </p:spPr>
        <p:txBody>
          <a:bodyPr wrap="square" rtlCol="0">
            <a:noAutofit/>
          </a:bodyPr>
          <a:p>
            <a:pPr algn="ctr"/>
            <a:r>
              <a:rPr lang="en-US" sz="1400"/>
              <a:t>2022</a:t>
            </a:r>
            <a:endParaRPr lang="en-US" sz="1400"/>
          </a:p>
        </p:txBody>
      </p:sp>
      <p:sp>
        <p:nvSpPr>
          <p:cNvPr id="24" name="文本框 23"/>
          <p:cNvSpPr txBox="1"/>
          <p:nvPr>
            <p:custDataLst>
              <p:tags r:id="rId11"/>
            </p:custDataLst>
          </p:nvPr>
        </p:nvSpPr>
        <p:spPr>
          <a:xfrm>
            <a:off x="6456045" y="3258185"/>
            <a:ext cx="990600" cy="231775"/>
          </a:xfrm>
          <a:prstGeom prst="rect">
            <a:avLst/>
          </a:prstGeom>
          <a:noFill/>
        </p:spPr>
        <p:txBody>
          <a:bodyPr wrap="square" rtlCol="0">
            <a:noAutofit/>
          </a:bodyPr>
          <a:p>
            <a:pPr algn="ctr"/>
            <a:r>
              <a:rPr lang="en-US" sz="1400"/>
              <a:t>2023</a:t>
            </a:r>
            <a:endParaRPr lang="en-US" sz="1400"/>
          </a:p>
        </p:txBody>
      </p:sp>
      <p:cxnSp>
        <p:nvCxnSpPr>
          <p:cNvPr id="25" name="直接箭头连接符 24"/>
          <p:cNvCxnSpPr/>
          <p:nvPr/>
        </p:nvCxnSpPr>
        <p:spPr>
          <a:xfrm flipH="1">
            <a:off x="6950710" y="3584575"/>
            <a:ext cx="6985" cy="10668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6" name="文本框 25"/>
          <p:cNvSpPr txBox="1"/>
          <p:nvPr>
            <p:custDataLst>
              <p:tags r:id="rId12"/>
            </p:custDataLst>
          </p:nvPr>
        </p:nvSpPr>
        <p:spPr>
          <a:xfrm>
            <a:off x="8390890" y="3293745"/>
            <a:ext cx="990600" cy="231775"/>
          </a:xfrm>
          <a:prstGeom prst="rect">
            <a:avLst/>
          </a:prstGeom>
          <a:noFill/>
        </p:spPr>
        <p:txBody>
          <a:bodyPr wrap="square" rtlCol="0">
            <a:noAutofit/>
          </a:bodyPr>
          <a:p>
            <a:pPr algn="ctr"/>
            <a:r>
              <a:rPr lang="en-US" sz="1400"/>
              <a:t>2024</a:t>
            </a:r>
            <a:endParaRPr lang="en-US" sz="1400"/>
          </a:p>
        </p:txBody>
      </p:sp>
      <p:cxnSp>
        <p:nvCxnSpPr>
          <p:cNvPr id="27" name="直接箭头连接符 26"/>
          <p:cNvCxnSpPr/>
          <p:nvPr/>
        </p:nvCxnSpPr>
        <p:spPr>
          <a:xfrm flipH="1">
            <a:off x="8885555" y="3563620"/>
            <a:ext cx="6985" cy="1066800"/>
          </a:xfrm>
          <a:prstGeom prst="straightConnector1">
            <a:avLst/>
          </a:prstGeom>
          <a:ln>
            <a:solidFill>
              <a:srgbClr val="FF0000"/>
            </a:solidFill>
            <a:tailEnd type="arrow"/>
          </a:ln>
        </p:spPr>
        <p:style>
          <a:lnRef idx="2">
            <a:schemeClr val="accent1"/>
          </a:lnRef>
          <a:fillRef idx="0">
            <a:srgbClr val="FFFFFF"/>
          </a:fillRef>
          <a:effectRef idx="0">
            <a:srgbClr val="FFFFFF"/>
          </a:effectRef>
          <a:fontRef idx="minor">
            <a:schemeClr val="tx1"/>
          </a:fontRef>
        </p:style>
      </p:cxnSp>
      <p:sp>
        <p:nvSpPr>
          <p:cNvPr id="28" name="文本框 27"/>
          <p:cNvSpPr txBox="1"/>
          <p:nvPr>
            <p:custDataLst>
              <p:tags r:id="rId13"/>
            </p:custDataLst>
          </p:nvPr>
        </p:nvSpPr>
        <p:spPr>
          <a:xfrm>
            <a:off x="4486910" y="2247900"/>
            <a:ext cx="2579370" cy="560705"/>
          </a:xfrm>
          <a:prstGeom prst="rect">
            <a:avLst/>
          </a:prstGeom>
          <a:noFill/>
        </p:spPr>
        <p:txBody>
          <a:bodyPr wrap="square" rtlCol="0">
            <a:noAutofit/>
          </a:bodyPr>
          <a:p>
            <a:pPr lvl="0" algn="l">
              <a:buClrTx/>
              <a:buSzTx/>
              <a:buFontTx/>
            </a:pP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启动了供应链全球本地化的战略，在土耳其等地开始布局</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p:txBody>
      </p:sp>
      <p:sp>
        <p:nvSpPr>
          <p:cNvPr id="29" name="文本框 28"/>
          <p:cNvSpPr txBox="1"/>
          <p:nvPr>
            <p:custDataLst>
              <p:tags r:id="rId14"/>
            </p:custDataLst>
          </p:nvPr>
        </p:nvSpPr>
        <p:spPr>
          <a:xfrm>
            <a:off x="6033770" y="4683125"/>
            <a:ext cx="1678940" cy="560705"/>
          </a:xfrm>
          <a:prstGeom prst="rect">
            <a:avLst/>
          </a:prstGeom>
          <a:noFill/>
        </p:spPr>
        <p:txBody>
          <a:bodyPr wrap="square" rtlCol="0">
            <a:noAutofit/>
          </a:bodyPr>
          <a:p>
            <a:pPr lvl="0" algn="l">
              <a:buClrTx/>
              <a:buSzTx/>
              <a:buFontTx/>
            </a:pPr>
            <a:r>
              <a:rPr lang="en-US" altLang="zh-CN"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SHEIN</a:t>
            </a:r>
            <a:r>
              <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开启了对供应链改造的3.0阶段</a:t>
            </a:r>
            <a:endParaRPr lang="zh-CN" altLang="en-US" sz="12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p:txBody>
      </p:sp>
      <p:sp>
        <p:nvSpPr>
          <p:cNvPr id="30" name="文本框 29"/>
          <p:cNvSpPr txBox="1"/>
          <p:nvPr>
            <p:custDataLst>
              <p:tags r:id="rId15"/>
            </p:custDataLst>
          </p:nvPr>
        </p:nvSpPr>
        <p:spPr>
          <a:xfrm>
            <a:off x="8225155" y="4710430"/>
            <a:ext cx="2579370" cy="560705"/>
          </a:xfrm>
          <a:prstGeom prst="rect">
            <a:avLst/>
          </a:prstGeom>
          <a:noFill/>
        </p:spPr>
        <p:txBody>
          <a:bodyPr wrap="square" rtlCol="0">
            <a:noAutofit/>
          </a:bodyPr>
          <a:p>
            <a:pPr lvl="0" algn="l">
              <a:buClrTx/>
              <a:buSzTx/>
              <a:buFontTx/>
            </a:pPr>
            <a:r>
              <a:rPr lang="zh-CN" altLang="en-US" sz="1200" b="1" dirty="0">
                <a:solidFill>
                  <a:srgbClr val="FF0000"/>
                </a:solidFill>
                <a:latin typeface="微软雅黑" panose="020B0503020204020204" charset="-122"/>
                <a:ea typeface="微软雅黑" panose="020B0503020204020204" charset="-122"/>
                <a:cs typeface="Open Sans" panose="020B0606030504020204" charset="0"/>
                <a:sym typeface="+mn-ea"/>
              </a:rPr>
              <a:t>预估市值下降、上市受阻</a:t>
            </a:r>
            <a:endParaRPr lang="zh-CN" altLang="en-US" sz="1200" b="1" dirty="0">
              <a:solidFill>
                <a:srgbClr val="FF0000"/>
              </a:solidFill>
              <a:latin typeface="微软雅黑" panose="020B0503020204020204" charset="-122"/>
              <a:ea typeface="微软雅黑" panose="020B0503020204020204" charset="-122"/>
              <a:cs typeface="Open Sans" panose="020B0606030504020204" charset="0"/>
              <a:sym typeface="+mn-ea"/>
            </a:endParaRPr>
          </a:p>
          <a:p>
            <a:pPr lvl="0" algn="l">
              <a:buClrTx/>
              <a:buSzTx/>
              <a:buFontTx/>
            </a:pPr>
            <a:r>
              <a:rPr lang="zh-CN" altLang="en-US" sz="1200" b="1" dirty="0">
                <a:solidFill>
                  <a:srgbClr val="FF0000"/>
                </a:solidFill>
                <a:latin typeface="微软雅黑" panose="020B0503020204020204" charset="-122"/>
                <a:ea typeface="微软雅黑" panose="020B0503020204020204" charset="-122"/>
                <a:cs typeface="Open Sans" panose="020B0606030504020204" charset="0"/>
                <a:sym typeface="+mn-ea"/>
              </a:rPr>
              <a:t>仍然在推进全球化进程</a:t>
            </a:r>
            <a:endParaRPr lang="zh-CN" altLang="en-US" sz="1200" b="1" dirty="0">
              <a:solidFill>
                <a:srgbClr val="FF0000"/>
              </a:solidFill>
              <a:latin typeface="微软雅黑" panose="020B0503020204020204" charset="-122"/>
              <a:ea typeface="微软雅黑" panose="020B0503020204020204" charset="-122"/>
              <a:cs typeface="Open Sans" panose="020B0606030504020204" charset="0"/>
              <a:sym typeface="+mn-ea"/>
            </a:endParaRPr>
          </a:p>
        </p:txBody>
      </p:sp>
      <p:pic>
        <p:nvPicPr>
          <p:cNvPr id="31" name="图形 17"/>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335870" y="65317"/>
            <a:ext cx="2825913" cy="597347"/>
          </a:xfrm>
          <a:prstGeom prst="rect">
            <a:avLst/>
          </a:prstGeom>
        </p:spPr>
      </p:pic>
      <p:sp>
        <p:nvSpPr>
          <p:cNvPr id="32" name="文本框 31"/>
          <p:cNvSpPr txBox="1"/>
          <p:nvPr>
            <p:custDataLst>
              <p:tags r:id="rId18"/>
            </p:custDataLst>
          </p:nvPr>
        </p:nvSpPr>
        <p:spPr>
          <a:xfrm>
            <a:off x="335915" y="1043940"/>
            <a:ext cx="10791825" cy="337185"/>
          </a:xfrm>
          <a:prstGeom prst="rect">
            <a:avLst/>
          </a:prstGeom>
        </p:spPr>
        <p:txBody>
          <a:bodyPr wrap="square">
            <a:spAutoFit/>
          </a:bodyPr>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一个关于如何运用和数字化重构</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番禺区南村镇</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的</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故事   </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27070"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现实层面</a:t>
            </a:r>
            <a:endParaRPr lang="zh-CN" altLang="en-US" sz="2400">
              <a:solidFill>
                <a:schemeClr val="bg1"/>
              </a:solidFill>
              <a:latin typeface="汉仪力量黑简" panose="00020600040101010101" charset="-122"/>
              <a:ea typeface="汉仪力量黑简" panose="00020600040101010101" charset="-122"/>
            </a:endParaRPr>
          </a:p>
        </p:txBody>
      </p:sp>
      <p:sp>
        <p:nvSpPr>
          <p:cNvPr id="18" name="文本框 17"/>
          <p:cNvSpPr txBox="1"/>
          <p:nvPr/>
        </p:nvSpPr>
        <p:spPr>
          <a:xfrm>
            <a:off x="6326505" y="6482080"/>
            <a:ext cx="2515870" cy="368300"/>
          </a:xfrm>
          <a:prstGeom prst="rect">
            <a:avLst/>
          </a:prstGeom>
          <a:noFill/>
        </p:spPr>
        <p:txBody>
          <a:bodyPr wrap="square" rtlCol="0">
            <a:spAutoFit/>
          </a:bodyPr>
          <a:p>
            <a:pPr algn="ctr"/>
            <a:r>
              <a:rPr lang="zh-CN" altLang="en-US">
                <a:latin typeface="汉仪力量黑简" panose="00020600040101010101" charset="-122"/>
                <a:ea typeface="汉仪力量黑简" panose="00020600040101010101" charset="-122"/>
              </a:rPr>
              <a:t>案例与数据</a:t>
            </a:r>
            <a:endParaRPr lang="zh-CN" altLang="en-US">
              <a:latin typeface="汉仪力量黑简" panose="00020600040101010101" charset="-122"/>
              <a:ea typeface="汉仪力量黑简" panose="00020600040101010101" charset="-122"/>
            </a:endParaRPr>
          </a:p>
        </p:txBody>
      </p:sp>
      <p:sp>
        <p:nvSpPr>
          <p:cNvPr id="19" name="文本框 18"/>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pic>
        <p:nvPicPr>
          <p:cNvPr id="2" name="图片 1"/>
          <p:cNvPicPr>
            <a:picLocks noChangeAspect="1"/>
          </p:cNvPicPr>
          <p:nvPr/>
        </p:nvPicPr>
        <p:blipFill>
          <a:blip r:embed="rId1"/>
          <a:srcRect t="13078" b="19558"/>
          <a:stretch>
            <a:fillRect/>
          </a:stretch>
        </p:blipFill>
        <p:spPr>
          <a:xfrm>
            <a:off x="1370965" y="638810"/>
            <a:ext cx="10688320" cy="5400040"/>
          </a:xfrm>
          <a:prstGeom prst="rect">
            <a:avLst/>
          </a:prstGeom>
        </p:spPr>
      </p:pic>
      <p:sp>
        <p:nvSpPr>
          <p:cNvPr id="3" name="椭圆 2"/>
          <p:cNvSpPr/>
          <p:nvPr/>
        </p:nvSpPr>
        <p:spPr>
          <a:xfrm>
            <a:off x="8695055" y="261874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4" name="椭圆 3"/>
          <p:cNvSpPr/>
          <p:nvPr/>
        </p:nvSpPr>
        <p:spPr>
          <a:xfrm>
            <a:off x="8919845" y="324929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5" name="五角星 4"/>
          <p:cNvSpPr/>
          <p:nvPr/>
        </p:nvSpPr>
        <p:spPr>
          <a:xfrm>
            <a:off x="8515350" y="3114040"/>
            <a:ext cx="224790" cy="269875"/>
          </a:xfrm>
          <a:prstGeom prst="star5">
            <a:avLst/>
          </a:prstGeom>
          <a:solidFill>
            <a:schemeClr val="accent2"/>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6" name="椭圆 5"/>
          <p:cNvSpPr/>
          <p:nvPr/>
        </p:nvSpPr>
        <p:spPr>
          <a:xfrm>
            <a:off x="4959985" y="405892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7" name="椭圆 6"/>
          <p:cNvSpPr/>
          <p:nvPr/>
        </p:nvSpPr>
        <p:spPr>
          <a:xfrm>
            <a:off x="7390130" y="270891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p:nvSpPr>
        <p:spPr>
          <a:xfrm>
            <a:off x="6286500" y="180911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p:nvSpPr>
        <p:spPr>
          <a:xfrm>
            <a:off x="6400165" y="170497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椭圆 9"/>
          <p:cNvSpPr/>
          <p:nvPr/>
        </p:nvSpPr>
        <p:spPr>
          <a:xfrm>
            <a:off x="6129655" y="162941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椭圆 19"/>
          <p:cNvSpPr/>
          <p:nvPr/>
        </p:nvSpPr>
        <p:spPr>
          <a:xfrm>
            <a:off x="3655060" y="203390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椭圆 20"/>
          <p:cNvSpPr/>
          <p:nvPr/>
        </p:nvSpPr>
        <p:spPr>
          <a:xfrm>
            <a:off x="6534785" y="176403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2" name="椭圆 21"/>
          <p:cNvSpPr/>
          <p:nvPr/>
        </p:nvSpPr>
        <p:spPr>
          <a:xfrm>
            <a:off x="9594850" y="428434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椭圆 22"/>
          <p:cNvSpPr/>
          <p:nvPr/>
        </p:nvSpPr>
        <p:spPr>
          <a:xfrm>
            <a:off x="8649970" y="288925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4" name="椭圆 23"/>
          <p:cNvSpPr/>
          <p:nvPr/>
        </p:nvSpPr>
        <p:spPr>
          <a:xfrm>
            <a:off x="3879850" y="194437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5" name="椭圆 24"/>
          <p:cNvSpPr/>
          <p:nvPr/>
        </p:nvSpPr>
        <p:spPr>
          <a:xfrm>
            <a:off x="4015105" y="2169160"/>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6" name="椭圆 25"/>
          <p:cNvSpPr/>
          <p:nvPr/>
        </p:nvSpPr>
        <p:spPr>
          <a:xfrm>
            <a:off x="5222240" y="3789045"/>
            <a:ext cx="75565" cy="75565"/>
          </a:xfrm>
          <a:prstGeom prst="ellipse">
            <a:avLst/>
          </a:prstGeom>
          <a:solidFill>
            <a:srgbClr val="FF0000"/>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7" name="TextBox 9"/>
          <p:cNvSpPr txBox="1"/>
          <p:nvPr>
            <p:custDataLst>
              <p:tags r:id="rId2"/>
            </p:custDataLst>
          </p:nvPr>
        </p:nvSpPr>
        <p:spPr>
          <a:xfrm>
            <a:off x="107315" y="144145"/>
            <a:ext cx="6382385" cy="645160"/>
          </a:xfrm>
          <a:prstGeom prst="rect">
            <a:avLst/>
          </a:prstGeom>
          <a:noFill/>
        </p:spPr>
        <p:txBody>
          <a:bodyPr wrap="square" rtlCol="0">
            <a:spAutoFit/>
          </a:bodyPr>
          <a:p>
            <a:pPr algn="l"/>
            <a:r>
              <a:rPr lang="zh-CN" altLang="zh-CN" sz="36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希音</a:t>
            </a:r>
            <a:r>
              <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全球供应链</a:t>
            </a:r>
            <a:endPar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28" name="文本框 27"/>
          <p:cNvSpPr txBox="1"/>
          <p:nvPr/>
        </p:nvSpPr>
        <p:spPr>
          <a:xfrm>
            <a:off x="9881870" y="389255"/>
            <a:ext cx="2199005" cy="1014730"/>
          </a:xfrm>
          <a:prstGeom prst="rect">
            <a:avLst/>
          </a:prstGeom>
          <a:noFill/>
        </p:spPr>
        <p:txBody>
          <a:bodyPr wrap="square" rtlCol="0">
            <a:spAutoFit/>
          </a:bodyPr>
          <a:p>
            <a:r>
              <a:rPr lang="en-US" altLang="zh-CN" sz="6000">
                <a:solidFill>
                  <a:srgbClr val="FF0000"/>
                </a:solidFill>
                <a:latin typeface="汉仪力量黑简" panose="00020600040101010101" charset="-122"/>
                <a:ea typeface="汉仪力量黑简" panose="00020600040101010101" charset="-122"/>
              </a:rPr>
              <a:t>90%</a:t>
            </a:r>
            <a:endParaRPr lang="en-US" altLang="zh-CN" sz="6000">
              <a:solidFill>
                <a:srgbClr val="FF0000"/>
              </a:solidFill>
              <a:latin typeface="汉仪力量黑简" panose="00020600040101010101" charset="-122"/>
              <a:ea typeface="汉仪力量黑简" panose="00020600040101010101" charset="-122"/>
            </a:endParaRPr>
          </a:p>
        </p:txBody>
      </p:sp>
      <p:cxnSp>
        <p:nvCxnSpPr>
          <p:cNvPr id="29" name="曲线连接符 28"/>
          <p:cNvCxnSpPr>
            <a:endCxn id="3" idx="6"/>
          </p:cNvCxnSpPr>
          <p:nvPr/>
        </p:nvCxnSpPr>
        <p:spPr>
          <a:xfrm rot="10800000" flipV="1">
            <a:off x="8769985" y="1280160"/>
            <a:ext cx="1730375" cy="1376680"/>
          </a:xfrm>
          <a:prstGeom prst="curvedConnector3">
            <a:avLst>
              <a:gd name="adj1" fmla="val 49982"/>
            </a:avLst>
          </a:prstGeom>
          <a:ln>
            <a:solidFill>
              <a:srgbClr val="FF0000"/>
            </a:solidFill>
          </a:ln>
        </p:spPr>
        <p:style>
          <a:lnRef idx="2">
            <a:schemeClr val="accent1"/>
          </a:lnRef>
          <a:fillRef idx="0">
            <a:srgbClr val="FFFFFF"/>
          </a:fillRef>
          <a:effectRef idx="0">
            <a:srgbClr val="FFFFFF"/>
          </a:effectRef>
          <a:fontRef idx="minor">
            <a:schemeClr val="tx1"/>
          </a:fontRef>
        </p:style>
      </p:cxnSp>
      <p:sp>
        <p:nvSpPr>
          <p:cNvPr id="30" name="椭圆 29"/>
          <p:cNvSpPr/>
          <p:nvPr/>
        </p:nvSpPr>
        <p:spPr>
          <a:xfrm>
            <a:off x="5915660" y="1403985"/>
            <a:ext cx="900430" cy="810260"/>
          </a:xfrm>
          <a:prstGeom prst="ellipse">
            <a:avLst/>
          </a:prstGeom>
          <a:noFill/>
          <a:ln>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案例与数据</a:t>
            </a:r>
            <a:endParaRPr lang="zh-CN" altLang="en-US" sz="2400">
              <a:solidFill>
                <a:schemeClr val="bg1"/>
              </a:solidFill>
              <a:latin typeface="汉仪力量黑简" panose="00020600040101010101" charset="-122"/>
              <a:ea typeface="汉仪力量黑简" panose="00020600040101010101" charset="-122"/>
            </a:endParaRPr>
          </a:p>
        </p:txBody>
      </p:sp>
      <p:sp>
        <p:nvSpPr>
          <p:cNvPr id="19" name="文本框 18"/>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graphicFrame>
        <p:nvGraphicFramePr>
          <p:cNvPr id="4" name="Chart 3"/>
          <p:cNvGraphicFramePr/>
          <p:nvPr/>
        </p:nvGraphicFramePr>
        <p:xfrm>
          <a:off x="1694180" y="1723390"/>
          <a:ext cx="8804910" cy="4594860"/>
        </p:xfrm>
        <a:graphic>
          <a:graphicData uri="http://schemas.openxmlformats.org/drawingml/2006/chart">
            <c:chart xmlns:c="http://schemas.openxmlformats.org/drawingml/2006/chart" xmlns:r="http://schemas.openxmlformats.org/officeDocument/2006/relationships" r:id="rId1"/>
          </a:graphicData>
        </a:graphic>
      </p:graphicFrame>
      <p:grpSp>
        <p:nvGrpSpPr>
          <p:cNvPr id="3" name="组合 2"/>
          <p:cNvGrpSpPr/>
          <p:nvPr/>
        </p:nvGrpSpPr>
        <p:grpSpPr>
          <a:xfrm>
            <a:off x="2675890" y="593725"/>
            <a:ext cx="6941820" cy="829945"/>
            <a:chOff x="4143" y="653"/>
            <a:chExt cx="10932" cy="1307"/>
          </a:xfrm>
        </p:grpSpPr>
        <p:sp>
          <p:nvSpPr>
            <p:cNvPr id="5" name="TextBox 9"/>
            <p:cNvSpPr txBox="1"/>
            <p:nvPr/>
          </p:nvSpPr>
          <p:spPr>
            <a:xfrm>
              <a:off x="4143" y="653"/>
              <a:ext cx="10932" cy="1307"/>
            </a:xfrm>
            <a:prstGeom prst="rect">
              <a:avLst/>
            </a:prstGeom>
            <a:noFill/>
          </p:spPr>
          <p:txBody>
            <a:bodyPr wrap="square" rtlCol="0">
              <a:spAutoFit/>
            </a:bodyPr>
            <a:p>
              <a:pPr algn="ct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财务数据</a:t>
              </a: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变化</a:t>
              </a:r>
              <a:endPar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10" name="TextBox 12"/>
            <p:cNvSpPr txBox="1"/>
            <p:nvPr/>
          </p:nvSpPr>
          <p:spPr>
            <a:xfrm>
              <a:off x="5702" y="1391"/>
              <a:ext cx="7856" cy="569"/>
            </a:xfrm>
            <a:prstGeom prst="rect">
              <a:avLst/>
            </a:prstGeom>
            <a:noFill/>
          </p:spPr>
          <p:txBody>
            <a:bodyPr wrap="square" rtlCol="0">
              <a:spAutoFit/>
            </a:bodyPr>
            <a:p>
              <a:pPr algn="ctr">
                <a:lnSpc>
                  <a:spcPct val="150000"/>
                </a:lnSpc>
              </a:pPr>
              <a:r>
                <a:rPr lang="en-US" baseline="-25000" dirty="0" smtClean="0">
                  <a:latin typeface="Dotum" panose="020B0600000101010101" charset="-127"/>
                  <a:ea typeface="Dotum" panose="020B0600000101010101" charset="-127"/>
                  <a:cs typeface="+mj-lt"/>
                </a:rPr>
                <a:t>minimal presentation </a:t>
              </a:r>
              <a:endParaRPr lang="en-US" baseline="-25000" dirty="0" smtClean="0">
                <a:latin typeface="Dotum" panose="020B0600000101010101" charset="-127"/>
                <a:ea typeface="Dotum" panose="020B0600000101010101" charset="-127"/>
                <a:cs typeface="+mj-lt"/>
              </a:endParaRPr>
            </a:p>
          </p:txBody>
        </p:sp>
      </p:grpSp>
      <p:sp>
        <p:nvSpPr>
          <p:cNvPr id="6" name="文本框 5"/>
          <p:cNvSpPr txBox="1"/>
          <p:nvPr/>
        </p:nvSpPr>
        <p:spPr>
          <a:xfrm>
            <a:off x="8300720" y="6069330"/>
            <a:ext cx="3850005" cy="368300"/>
          </a:xfrm>
          <a:prstGeom prst="rect">
            <a:avLst/>
          </a:prstGeom>
          <a:noFill/>
        </p:spPr>
        <p:txBody>
          <a:bodyPr wrap="square" rtlCol="0">
            <a:spAutoFit/>
          </a:bodyPr>
          <a:p>
            <a:r>
              <a:rPr lang="zh-CN" altLang="en-US"/>
              <a:t>数据来源：新加坡披露、投资者</a:t>
            </a:r>
            <a:r>
              <a:rPr lang="zh-CN" altLang="en-US"/>
              <a:t>披露</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案例与数据</a:t>
            </a:r>
            <a:endParaRPr lang="zh-CN" altLang="en-US" sz="2400">
              <a:solidFill>
                <a:schemeClr val="bg1"/>
              </a:solidFill>
              <a:latin typeface="汉仪力量黑简" panose="00020600040101010101" charset="-122"/>
              <a:ea typeface="汉仪力量黑简" panose="00020600040101010101" charset="-122"/>
            </a:endParaRPr>
          </a:p>
        </p:txBody>
      </p:sp>
      <p:sp>
        <p:nvSpPr>
          <p:cNvPr id="19" name="文本框 18"/>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sp>
        <p:nvSpPr>
          <p:cNvPr id="134" name="Oval 133"/>
          <p:cNvSpPr/>
          <p:nvPr/>
        </p:nvSpPr>
        <p:spPr>
          <a:xfrm>
            <a:off x="8102600" y="2172970"/>
            <a:ext cx="377190" cy="382270"/>
          </a:xfrm>
          <a:prstGeom prst="ellipse">
            <a:avLst/>
          </a:prstGeom>
          <a:solidFill>
            <a:srgbClr val="FF00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1000" b="1" dirty="0" smtClean="0">
                <a:solidFill>
                  <a:srgbClr val="FFFFFF"/>
                </a:solidFill>
                <a:latin typeface="微软雅黑" panose="020B0503020204020204" charset="-122"/>
                <a:ea typeface="微软雅黑" panose="020B0503020204020204" charset="-122"/>
                <a:cs typeface="Open Sans SemiBold" panose="020B0706030804020204" charset="0"/>
              </a:rPr>
              <a:t>2</a:t>
            </a:r>
            <a:endParaRPr lang="en-US" sz="1000" b="1" dirty="0" smtClean="0">
              <a:solidFill>
                <a:srgbClr val="FFFFFF"/>
              </a:solidFill>
              <a:latin typeface="微软雅黑" panose="020B0503020204020204" charset="-122"/>
              <a:ea typeface="微软雅黑" panose="020B0503020204020204" charset="-122"/>
              <a:cs typeface="Open Sans SemiBold" panose="020B0706030804020204" charset="0"/>
            </a:endParaRPr>
          </a:p>
        </p:txBody>
      </p:sp>
      <p:sp>
        <p:nvSpPr>
          <p:cNvPr id="49" name="Freeform 51"/>
          <p:cNvSpPr>
            <a:spLocks noEditPoints="1"/>
          </p:cNvSpPr>
          <p:nvPr/>
        </p:nvSpPr>
        <p:spPr bwMode="auto">
          <a:xfrm>
            <a:off x="4285758" y="2221612"/>
            <a:ext cx="3670300" cy="3648075"/>
          </a:xfrm>
          <a:custGeom>
            <a:avLst/>
            <a:gdLst>
              <a:gd name="T0" fmla="*/ 2311 w 2312"/>
              <a:gd name="T1" fmla="*/ 1217 h 2298"/>
              <a:gd name="T2" fmla="*/ 2176 w 2312"/>
              <a:gd name="T3" fmla="*/ 665 h 2298"/>
              <a:gd name="T4" fmla="*/ 2077 w 2312"/>
              <a:gd name="T5" fmla="*/ 502 h 2298"/>
              <a:gd name="T6" fmla="*/ 1763 w 2312"/>
              <a:gd name="T7" fmla="*/ 187 h 2298"/>
              <a:gd name="T8" fmla="*/ 1386 w 2312"/>
              <a:gd name="T9" fmla="*/ 42 h 2298"/>
              <a:gd name="T10" fmla="*/ 1378 w 2312"/>
              <a:gd name="T11" fmla="*/ 41 h 2298"/>
              <a:gd name="T12" fmla="*/ 645 w 2312"/>
              <a:gd name="T13" fmla="*/ 93 h 2298"/>
              <a:gd name="T14" fmla="*/ 124 w 2312"/>
              <a:gd name="T15" fmla="*/ 696 h 2298"/>
              <a:gd name="T16" fmla="*/ 4 w 2312"/>
              <a:gd name="T17" fmla="*/ 1189 h 2298"/>
              <a:gd name="T18" fmla="*/ 168 w 2312"/>
              <a:gd name="T19" fmla="*/ 1703 h 2298"/>
              <a:gd name="T20" fmla="*/ 306 w 2312"/>
              <a:gd name="T21" fmla="*/ 1876 h 2298"/>
              <a:gd name="T22" fmla="*/ 947 w 2312"/>
              <a:gd name="T23" fmla="*/ 2269 h 2298"/>
              <a:gd name="T24" fmla="*/ 958 w 2312"/>
              <a:gd name="T25" fmla="*/ 2272 h 2298"/>
              <a:gd name="T26" fmla="*/ 1149 w 2312"/>
              <a:gd name="T27" fmla="*/ 2298 h 2298"/>
              <a:gd name="T28" fmla="*/ 1652 w 2312"/>
              <a:gd name="T29" fmla="*/ 2210 h 2298"/>
              <a:gd name="T30" fmla="*/ 2078 w 2312"/>
              <a:gd name="T31" fmla="*/ 1797 h 2298"/>
              <a:gd name="T32" fmla="*/ 1149 w 2312"/>
              <a:gd name="T33" fmla="*/ 2288 h 2298"/>
              <a:gd name="T34" fmla="*/ 346 w 2312"/>
              <a:gd name="T35" fmla="*/ 1898 h 2298"/>
              <a:gd name="T36" fmla="*/ 2157 w 2312"/>
              <a:gd name="T37" fmla="*/ 654 h 2298"/>
              <a:gd name="T38" fmla="*/ 2010 w 2312"/>
              <a:gd name="T39" fmla="*/ 1213 h 2298"/>
              <a:gd name="T40" fmla="*/ 1637 w 2312"/>
              <a:gd name="T41" fmla="*/ 2205 h 2298"/>
              <a:gd name="T42" fmla="*/ 1637 w 2312"/>
              <a:gd name="T43" fmla="*/ 2205 h 2298"/>
              <a:gd name="T44" fmla="*/ 961 w 2312"/>
              <a:gd name="T45" fmla="*/ 2258 h 2298"/>
              <a:gd name="T46" fmla="*/ 961 w 2312"/>
              <a:gd name="T47" fmla="*/ 2258 h 2298"/>
              <a:gd name="T48" fmla="*/ 1153 w 2312"/>
              <a:gd name="T49" fmla="*/ 474 h 2298"/>
              <a:gd name="T50" fmla="*/ 1175 w 2312"/>
              <a:gd name="T51" fmla="*/ 1202 h 2298"/>
              <a:gd name="T52" fmla="*/ 1481 w 2312"/>
              <a:gd name="T53" fmla="*/ 693 h 2298"/>
              <a:gd name="T54" fmla="*/ 796 w 2312"/>
              <a:gd name="T55" fmla="*/ 1839 h 2298"/>
              <a:gd name="T56" fmla="*/ 523 w 2312"/>
              <a:gd name="T57" fmla="*/ 1200 h 2298"/>
              <a:gd name="T58" fmla="*/ 523 w 2312"/>
              <a:gd name="T59" fmla="*/ 1200 h 2298"/>
              <a:gd name="T60" fmla="*/ 1090 w 2312"/>
              <a:gd name="T61" fmla="*/ 478 h 2298"/>
              <a:gd name="T62" fmla="*/ 631 w 2312"/>
              <a:gd name="T63" fmla="*/ 756 h 2298"/>
              <a:gd name="T64" fmla="*/ 1585 w 2312"/>
              <a:gd name="T65" fmla="*/ 533 h 2298"/>
              <a:gd name="T66" fmla="*/ 1396 w 2312"/>
              <a:gd name="T67" fmla="*/ 66 h 2298"/>
              <a:gd name="T68" fmla="*/ 370 w 2312"/>
              <a:gd name="T69" fmla="*/ 1181 h 2298"/>
              <a:gd name="T70" fmla="*/ 360 w 2312"/>
              <a:gd name="T71" fmla="*/ 1200 h 2298"/>
              <a:gd name="T72" fmla="*/ 360 w 2312"/>
              <a:gd name="T73" fmla="*/ 1200 h 2298"/>
              <a:gd name="T74" fmla="*/ 2009 w 2312"/>
              <a:gd name="T75" fmla="*/ 1203 h 2298"/>
              <a:gd name="T76" fmla="*/ 2009 w 2312"/>
              <a:gd name="T77" fmla="*/ 1203 h 2298"/>
              <a:gd name="T78" fmla="*/ 809 w 2312"/>
              <a:gd name="T79" fmla="*/ 430 h 2298"/>
              <a:gd name="T80" fmla="*/ 643 w 2312"/>
              <a:gd name="T81" fmla="*/ 111 h 2298"/>
              <a:gd name="T82" fmla="*/ 545 w 2312"/>
              <a:gd name="T83" fmla="*/ 225 h 2298"/>
              <a:gd name="T84" fmla="*/ 91 w 2312"/>
              <a:gd name="T85" fmla="*/ 971 h 2298"/>
              <a:gd name="T86" fmla="*/ 1930 w 2312"/>
              <a:gd name="T87" fmla="*/ 526 h 2298"/>
              <a:gd name="T88" fmla="*/ 1962 w 2312"/>
              <a:gd name="T89" fmla="*/ 563 h 2298"/>
              <a:gd name="T90" fmla="*/ 1957 w 2312"/>
              <a:gd name="T91" fmla="*/ 543 h 2298"/>
              <a:gd name="T92" fmla="*/ 534 w 2312"/>
              <a:gd name="T93" fmla="*/ 223 h 2298"/>
              <a:gd name="T94" fmla="*/ 206 w 2312"/>
              <a:gd name="T95" fmla="*/ 606 h 2298"/>
              <a:gd name="T96" fmla="*/ 199 w 2312"/>
              <a:gd name="T97" fmla="*/ 630 h 2298"/>
              <a:gd name="T98" fmla="*/ 288 w 2312"/>
              <a:gd name="T99" fmla="*/ 1836 h 2298"/>
              <a:gd name="T100" fmla="*/ 1522 w 2312"/>
              <a:gd name="T101" fmla="*/ 1955 h 2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12" h="2298">
                <a:moveTo>
                  <a:pt x="2079" y="1794"/>
                </a:moveTo>
                <a:lnTo>
                  <a:pt x="2309" y="1221"/>
                </a:lnTo>
                <a:lnTo>
                  <a:pt x="2312" y="1221"/>
                </a:lnTo>
                <a:lnTo>
                  <a:pt x="2311" y="1220"/>
                </a:lnTo>
                <a:lnTo>
                  <a:pt x="2311" y="1217"/>
                </a:lnTo>
                <a:lnTo>
                  <a:pt x="2311" y="1217"/>
                </a:lnTo>
                <a:lnTo>
                  <a:pt x="2310" y="1215"/>
                </a:lnTo>
                <a:lnTo>
                  <a:pt x="2179" y="677"/>
                </a:lnTo>
                <a:lnTo>
                  <a:pt x="2186" y="680"/>
                </a:lnTo>
                <a:lnTo>
                  <a:pt x="2176" y="665"/>
                </a:lnTo>
                <a:lnTo>
                  <a:pt x="2176" y="663"/>
                </a:lnTo>
                <a:lnTo>
                  <a:pt x="2175" y="663"/>
                </a:lnTo>
                <a:lnTo>
                  <a:pt x="2081" y="508"/>
                </a:lnTo>
                <a:lnTo>
                  <a:pt x="2082" y="507"/>
                </a:lnTo>
                <a:lnTo>
                  <a:pt x="2077" y="502"/>
                </a:lnTo>
                <a:lnTo>
                  <a:pt x="2075" y="499"/>
                </a:lnTo>
                <a:lnTo>
                  <a:pt x="2074" y="499"/>
                </a:lnTo>
                <a:lnTo>
                  <a:pt x="1764" y="188"/>
                </a:lnTo>
                <a:lnTo>
                  <a:pt x="1763" y="187"/>
                </a:lnTo>
                <a:lnTo>
                  <a:pt x="1763" y="187"/>
                </a:lnTo>
                <a:lnTo>
                  <a:pt x="1758" y="182"/>
                </a:lnTo>
                <a:lnTo>
                  <a:pt x="1755" y="184"/>
                </a:lnTo>
                <a:lnTo>
                  <a:pt x="1394" y="46"/>
                </a:lnTo>
                <a:lnTo>
                  <a:pt x="1401" y="41"/>
                </a:lnTo>
                <a:lnTo>
                  <a:pt x="1386" y="42"/>
                </a:lnTo>
                <a:lnTo>
                  <a:pt x="1385" y="40"/>
                </a:lnTo>
                <a:lnTo>
                  <a:pt x="1383" y="41"/>
                </a:lnTo>
                <a:lnTo>
                  <a:pt x="1382" y="41"/>
                </a:lnTo>
                <a:lnTo>
                  <a:pt x="1381" y="42"/>
                </a:lnTo>
                <a:lnTo>
                  <a:pt x="1378" y="41"/>
                </a:lnTo>
                <a:lnTo>
                  <a:pt x="1378" y="42"/>
                </a:lnTo>
                <a:lnTo>
                  <a:pt x="1150" y="0"/>
                </a:lnTo>
                <a:lnTo>
                  <a:pt x="1149" y="0"/>
                </a:lnTo>
                <a:lnTo>
                  <a:pt x="647" y="96"/>
                </a:lnTo>
                <a:lnTo>
                  <a:pt x="645" y="93"/>
                </a:lnTo>
                <a:lnTo>
                  <a:pt x="641" y="97"/>
                </a:lnTo>
                <a:lnTo>
                  <a:pt x="636" y="97"/>
                </a:lnTo>
                <a:lnTo>
                  <a:pt x="638" y="101"/>
                </a:lnTo>
                <a:lnTo>
                  <a:pt x="184" y="569"/>
                </a:lnTo>
                <a:lnTo>
                  <a:pt x="124" y="696"/>
                </a:lnTo>
                <a:lnTo>
                  <a:pt x="124" y="697"/>
                </a:lnTo>
                <a:lnTo>
                  <a:pt x="124" y="697"/>
                </a:lnTo>
                <a:lnTo>
                  <a:pt x="120" y="704"/>
                </a:lnTo>
                <a:lnTo>
                  <a:pt x="122" y="705"/>
                </a:lnTo>
                <a:lnTo>
                  <a:pt x="4" y="1189"/>
                </a:lnTo>
                <a:lnTo>
                  <a:pt x="0" y="1189"/>
                </a:lnTo>
                <a:lnTo>
                  <a:pt x="3" y="1195"/>
                </a:lnTo>
                <a:lnTo>
                  <a:pt x="1" y="1200"/>
                </a:lnTo>
                <a:lnTo>
                  <a:pt x="5" y="1200"/>
                </a:lnTo>
                <a:lnTo>
                  <a:pt x="168" y="1703"/>
                </a:lnTo>
                <a:lnTo>
                  <a:pt x="299" y="1866"/>
                </a:lnTo>
                <a:lnTo>
                  <a:pt x="293" y="1866"/>
                </a:lnTo>
                <a:lnTo>
                  <a:pt x="304" y="1873"/>
                </a:lnTo>
                <a:lnTo>
                  <a:pt x="304" y="1876"/>
                </a:lnTo>
                <a:lnTo>
                  <a:pt x="306" y="1876"/>
                </a:lnTo>
                <a:lnTo>
                  <a:pt x="313" y="1890"/>
                </a:lnTo>
                <a:lnTo>
                  <a:pt x="314" y="1881"/>
                </a:lnTo>
                <a:lnTo>
                  <a:pt x="598" y="2157"/>
                </a:lnTo>
                <a:lnTo>
                  <a:pt x="947" y="2268"/>
                </a:lnTo>
                <a:lnTo>
                  <a:pt x="947" y="2269"/>
                </a:lnTo>
                <a:lnTo>
                  <a:pt x="953" y="2270"/>
                </a:lnTo>
                <a:lnTo>
                  <a:pt x="954" y="2271"/>
                </a:lnTo>
                <a:lnTo>
                  <a:pt x="955" y="2271"/>
                </a:lnTo>
                <a:lnTo>
                  <a:pt x="956" y="2273"/>
                </a:lnTo>
                <a:lnTo>
                  <a:pt x="958" y="2272"/>
                </a:lnTo>
                <a:lnTo>
                  <a:pt x="969" y="2278"/>
                </a:lnTo>
                <a:lnTo>
                  <a:pt x="967" y="2272"/>
                </a:lnTo>
                <a:lnTo>
                  <a:pt x="967" y="2272"/>
                </a:lnTo>
                <a:lnTo>
                  <a:pt x="1148" y="2298"/>
                </a:lnTo>
                <a:lnTo>
                  <a:pt x="1149" y="2298"/>
                </a:lnTo>
                <a:lnTo>
                  <a:pt x="1642" y="2215"/>
                </a:lnTo>
                <a:lnTo>
                  <a:pt x="1644" y="2218"/>
                </a:lnTo>
                <a:lnTo>
                  <a:pt x="1648" y="2214"/>
                </a:lnTo>
                <a:lnTo>
                  <a:pt x="1653" y="2214"/>
                </a:lnTo>
                <a:lnTo>
                  <a:pt x="1652" y="2210"/>
                </a:lnTo>
                <a:lnTo>
                  <a:pt x="2074" y="1801"/>
                </a:lnTo>
                <a:lnTo>
                  <a:pt x="2076" y="1801"/>
                </a:lnTo>
                <a:lnTo>
                  <a:pt x="2077" y="1799"/>
                </a:lnTo>
                <a:lnTo>
                  <a:pt x="2079" y="1799"/>
                </a:lnTo>
                <a:lnTo>
                  <a:pt x="2078" y="1797"/>
                </a:lnTo>
                <a:lnTo>
                  <a:pt x="2080" y="1795"/>
                </a:lnTo>
                <a:lnTo>
                  <a:pt x="2079" y="1794"/>
                </a:lnTo>
                <a:close/>
                <a:moveTo>
                  <a:pt x="1421" y="2233"/>
                </a:moveTo>
                <a:lnTo>
                  <a:pt x="1524" y="2225"/>
                </a:lnTo>
                <a:lnTo>
                  <a:pt x="1149" y="2288"/>
                </a:lnTo>
                <a:lnTo>
                  <a:pt x="1005" y="2267"/>
                </a:lnTo>
                <a:lnTo>
                  <a:pt x="1421" y="2233"/>
                </a:lnTo>
                <a:close/>
                <a:moveTo>
                  <a:pt x="920" y="2248"/>
                </a:moveTo>
                <a:lnTo>
                  <a:pt x="604" y="2148"/>
                </a:lnTo>
                <a:lnTo>
                  <a:pt x="346" y="1898"/>
                </a:lnTo>
                <a:lnTo>
                  <a:pt x="920" y="2248"/>
                </a:lnTo>
                <a:close/>
                <a:moveTo>
                  <a:pt x="2082" y="614"/>
                </a:moveTo>
                <a:lnTo>
                  <a:pt x="1962" y="552"/>
                </a:lnTo>
                <a:lnTo>
                  <a:pt x="2071" y="512"/>
                </a:lnTo>
                <a:lnTo>
                  <a:pt x="2157" y="654"/>
                </a:lnTo>
                <a:lnTo>
                  <a:pt x="2082" y="614"/>
                </a:lnTo>
                <a:close/>
                <a:moveTo>
                  <a:pt x="2298" y="1221"/>
                </a:moveTo>
                <a:lnTo>
                  <a:pt x="2076" y="1774"/>
                </a:lnTo>
                <a:lnTo>
                  <a:pt x="2076" y="1772"/>
                </a:lnTo>
                <a:lnTo>
                  <a:pt x="2010" y="1213"/>
                </a:lnTo>
                <a:lnTo>
                  <a:pt x="2014" y="1214"/>
                </a:lnTo>
                <a:lnTo>
                  <a:pt x="2014" y="1213"/>
                </a:lnTo>
                <a:lnTo>
                  <a:pt x="2172" y="1218"/>
                </a:lnTo>
                <a:lnTo>
                  <a:pt x="2298" y="1221"/>
                </a:lnTo>
                <a:close/>
                <a:moveTo>
                  <a:pt x="1637" y="2205"/>
                </a:moveTo>
                <a:lnTo>
                  <a:pt x="982" y="2259"/>
                </a:lnTo>
                <a:lnTo>
                  <a:pt x="1470" y="1982"/>
                </a:lnTo>
                <a:lnTo>
                  <a:pt x="1512" y="1958"/>
                </a:lnTo>
                <a:lnTo>
                  <a:pt x="1631" y="2193"/>
                </a:lnTo>
                <a:lnTo>
                  <a:pt x="1637" y="2205"/>
                </a:lnTo>
                <a:close/>
                <a:moveTo>
                  <a:pt x="2001" y="1225"/>
                </a:moveTo>
                <a:lnTo>
                  <a:pt x="2067" y="1791"/>
                </a:lnTo>
                <a:lnTo>
                  <a:pt x="1526" y="1942"/>
                </a:lnTo>
                <a:lnTo>
                  <a:pt x="2001" y="1225"/>
                </a:lnTo>
                <a:close/>
                <a:moveTo>
                  <a:pt x="961" y="2258"/>
                </a:moveTo>
                <a:lnTo>
                  <a:pt x="867" y="2025"/>
                </a:lnTo>
                <a:lnTo>
                  <a:pt x="795" y="1850"/>
                </a:lnTo>
                <a:lnTo>
                  <a:pt x="1499" y="1954"/>
                </a:lnTo>
                <a:lnTo>
                  <a:pt x="1256" y="2091"/>
                </a:lnTo>
                <a:lnTo>
                  <a:pt x="961" y="2258"/>
                </a:lnTo>
                <a:close/>
                <a:moveTo>
                  <a:pt x="839" y="427"/>
                </a:moveTo>
                <a:lnTo>
                  <a:pt x="1380" y="56"/>
                </a:lnTo>
                <a:lnTo>
                  <a:pt x="1452" y="234"/>
                </a:lnTo>
                <a:lnTo>
                  <a:pt x="1567" y="521"/>
                </a:lnTo>
                <a:lnTo>
                  <a:pt x="1153" y="474"/>
                </a:lnTo>
                <a:lnTo>
                  <a:pt x="823" y="437"/>
                </a:lnTo>
                <a:lnTo>
                  <a:pt x="839" y="427"/>
                </a:lnTo>
                <a:close/>
                <a:moveTo>
                  <a:pt x="1995" y="1213"/>
                </a:moveTo>
                <a:lnTo>
                  <a:pt x="1515" y="1940"/>
                </a:lnTo>
                <a:lnTo>
                  <a:pt x="1175" y="1202"/>
                </a:lnTo>
                <a:lnTo>
                  <a:pt x="1995" y="1213"/>
                </a:lnTo>
                <a:close/>
                <a:moveTo>
                  <a:pt x="1993" y="1202"/>
                </a:moveTo>
                <a:lnTo>
                  <a:pt x="1468" y="1196"/>
                </a:lnTo>
                <a:lnTo>
                  <a:pt x="1177" y="1192"/>
                </a:lnTo>
                <a:lnTo>
                  <a:pt x="1481" y="693"/>
                </a:lnTo>
                <a:lnTo>
                  <a:pt x="1575" y="537"/>
                </a:lnTo>
                <a:lnTo>
                  <a:pt x="1576" y="537"/>
                </a:lnTo>
                <a:lnTo>
                  <a:pt x="1993" y="1202"/>
                </a:lnTo>
                <a:close/>
                <a:moveTo>
                  <a:pt x="1506" y="1944"/>
                </a:moveTo>
                <a:lnTo>
                  <a:pt x="796" y="1839"/>
                </a:lnTo>
                <a:lnTo>
                  <a:pt x="945" y="1586"/>
                </a:lnTo>
                <a:lnTo>
                  <a:pt x="1167" y="1209"/>
                </a:lnTo>
                <a:lnTo>
                  <a:pt x="1498" y="1928"/>
                </a:lnTo>
                <a:lnTo>
                  <a:pt x="1506" y="1944"/>
                </a:lnTo>
                <a:close/>
                <a:moveTo>
                  <a:pt x="523" y="1200"/>
                </a:moveTo>
                <a:lnTo>
                  <a:pt x="1158" y="1203"/>
                </a:lnTo>
                <a:lnTo>
                  <a:pt x="1028" y="1424"/>
                </a:lnTo>
                <a:lnTo>
                  <a:pt x="788" y="1833"/>
                </a:lnTo>
                <a:lnTo>
                  <a:pt x="378" y="1200"/>
                </a:lnTo>
                <a:lnTo>
                  <a:pt x="523" y="1200"/>
                </a:lnTo>
                <a:close/>
                <a:moveTo>
                  <a:pt x="1567" y="531"/>
                </a:moveTo>
                <a:lnTo>
                  <a:pt x="1282" y="999"/>
                </a:lnTo>
                <a:lnTo>
                  <a:pt x="1168" y="1186"/>
                </a:lnTo>
                <a:lnTo>
                  <a:pt x="817" y="447"/>
                </a:lnTo>
                <a:lnTo>
                  <a:pt x="1090" y="478"/>
                </a:lnTo>
                <a:lnTo>
                  <a:pt x="1567" y="531"/>
                </a:lnTo>
                <a:close/>
                <a:moveTo>
                  <a:pt x="808" y="452"/>
                </a:moveTo>
                <a:lnTo>
                  <a:pt x="1159" y="1192"/>
                </a:lnTo>
                <a:lnTo>
                  <a:pt x="378" y="1189"/>
                </a:lnTo>
                <a:lnTo>
                  <a:pt x="631" y="756"/>
                </a:lnTo>
                <a:lnTo>
                  <a:pt x="808" y="452"/>
                </a:lnTo>
                <a:close/>
                <a:moveTo>
                  <a:pt x="1585" y="533"/>
                </a:moveTo>
                <a:lnTo>
                  <a:pt x="1945" y="556"/>
                </a:lnTo>
                <a:lnTo>
                  <a:pt x="1997" y="1187"/>
                </a:lnTo>
                <a:lnTo>
                  <a:pt x="1585" y="533"/>
                </a:lnTo>
                <a:close/>
                <a:moveTo>
                  <a:pt x="779" y="1839"/>
                </a:moveTo>
                <a:lnTo>
                  <a:pt x="315" y="1865"/>
                </a:lnTo>
                <a:lnTo>
                  <a:pt x="373" y="1210"/>
                </a:lnTo>
                <a:lnTo>
                  <a:pt x="779" y="1839"/>
                </a:lnTo>
                <a:close/>
                <a:moveTo>
                  <a:pt x="1396" y="66"/>
                </a:moveTo>
                <a:lnTo>
                  <a:pt x="1934" y="545"/>
                </a:lnTo>
                <a:lnTo>
                  <a:pt x="1579" y="522"/>
                </a:lnTo>
                <a:lnTo>
                  <a:pt x="1396" y="66"/>
                </a:lnTo>
                <a:close/>
                <a:moveTo>
                  <a:pt x="798" y="449"/>
                </a:moveTo>
                <a:lnTo>
                  <a:pt x="370" y="1181"/>
                </a:lnTo>
                <a:lnTo>
                  <a:pt x="246" y="713"/>
                </a:lnTo>
                <a:lnTo>
                  <a:pt x="218" y="611"/>
                </a:lnTo>
                <a:lnTo>
                  <a:pt x="334" y="579"/>
                </a:lnTo>
                <a:lnTo>
                  <a:pt x="798" y="449"/>
                </a:lnTo>
                <a:close/>
                <a:moveTo>
                  <a:pt x="360" y="1200"/>
                </a:moveTo>
                <a:lnTo>
                  <a:pt x="360" y="1200"/>
                </a:lnTo>
                <a:lnTo>
                  <a:pt x="363" y="1200"/>
                </a:lnTo>
                <a:lnTo>
                  <a:pt x="306" y="1850"/>
                </a:lnTo>
                <a:lnTo>
                  <a:pt x="16" y="1200"/>
                </a:lnTo>
                <a:lnTo>
                  <a:pt x="360" y="1200"/>
                </a:lnTo>
                <a:close/>
                <a:moveTo>
                  <a:pt x="785" y="1849"/>
                </a:moveTo>
                <a:lnTo>
                  <a:pt x="948" y="2253"/>
                </a:lnTo>
                <a:lnTo>
                  <a:pt x="326" y="1874"/>
                </a:lnTo>
                <a:lnTo>
                  <a:pt x="785" y="1849"/>
                </a:lnTo>
                <a:close/>
                <a:moveTo>
                  <a:pt x="2009" y="1203"/>
                </a:moveTo>
                <a:lnTo>
                  <a:pt x="1960" y="612"/>
                </a:lnTo>
                <a:lnTo>
                  <a:pt x="1956" y="576"/>
                </a:lnTo>
                <a:lnTo>
                  <a:pt x="2296" y="1211"/>
                </a:lnTo>
                <a:lnTo>
                  <a:pt x="2140" y="1206"/>
                </a:lnTo>
                <a:lnTo>
                  <a:pt x="2009" y="1203"/>
                </a:lnTo>
                <a:close/>
                <a:moveTo>
                  <a:pt x="1364" y="54"/>
                </a:moveTo>
                <a:lnTo>
                  <a:pt x="1319" y="85"/>
                </a:lnTo>
                <a:lnTo>
                  <a:pt x="811" y="433"/>
                </a:lnTo>
                <a:lnTo>
                  <a:pt x="809" y="430"/>
                </a:lnTo>
                <a:lnTo>
                  <a:pt x="809" y="430"/>
                </a:lnTo>
                <a:lnTo>
                  <a:pt x="752" y="312"/>
                </a:lnTo>
                <a:lnTo>
                  <a:pt x="652" y="107"/>
                </a:lnTo>
                <a:lnTo>
                  <a:pt x="870" y="91"/>
                </a:lnTo>
                <a:lnTo>
                  <a:pt x="1364" y="54"/>
                </a:lnTo>
                <a:close/>
                <a:moveTo>
                  <a:pt x="643" y="111"/>
                </a:moveTo>
                <a:lnTo>
                  <a:pt x="776" y="384"/>
                </a:lnTo>
                <a:lnTo>
                  <a:pt x="801" y="437"/>
                </a:lnTo>
                <a:lnTo>
                  <a:pt x="301" y="577"/>
                </a:lnTo>
                <a:lnTo>
                  <a:pt x="227" y="598"/>
                </a:lnTo>
                <a:lnTo>
                  <a:pt x="545" y="225"/>
                </a:lnTo>
                <a:lnTo>
                  <a:pt x="643" y="111"/>
                </a:lnTo>
                <a:close/>
                <a:moveTo>
                  <a:pt x="211" y="625"/>
                </a:moveTo>
                <a:lnTo>
                  <a:pt x="362" y="1189"/>
                </a:lnTo>
                <a:lnTo>
                  <a:pt x="16" y="1189"/>
                </a:lnTo>
                <a:lnTo>
                  <a:pt x="91" y="971"/>
                </a:lnTo>
                <a:lnTo>
                  <a:pt x="211" y="625"/>
                </a:lnTo>
                <a:close/>
                <a:moveTo>
                  <a:pt x="1930" y="526"/>
                </a:moveTo>
                <a:lnTo>
                  <a:pt x="1407" y="63"/>
                </a:lnTo>
                <a:lnTo>
                  <a:pt x="1756" y="195"/>
                </a:lnTo>
                <a:lnTo>
                  <a:pt x="1930" y="526"/>
                </a:lnTo>
                <a:close/>
                <a:moveTo>
                  <a:pt x="1962" y="563"/>
                </a:moveTo>
                <a:lnTo>
                  <a:pt x="2035" y="602"/>
                </a:lnTo>
                <a:lnTo>
                  <a:pt x="2167" y="670"/>
                </a:lnTo>
                <a:lnTo>
                  <a:pt x="2291" y="1178"/>
                </a:lnTo>
                <a:lnTo>
                  <a:pt x="1962" y="563"/>
                </a:lnTo>
                <a:close/>
                <a:moveTo>
                  <a:pt x="1957" y="543"/>
                </a:moveTo>
                <a:lnTo>
                  <a:pt x="1953" y="545"/>
                </a:lnTo>
                <a:lnTo>
                  <a:pt x="1780" y="219"/>
                </a:lnTo>
                <a:lnTo>
                  <a:pt x="2064" y="503"/>
                </a:lnTo>
                <a:lnTo>
                  <a:pt x="1957" y="543"/>
                </a:lnTo>
                <a:close/>
                <a:moveTo>
                  <a:pt x="731" y="90"/>
                </a:moveTo>
                <a:lnTo>
                  <a:pt x="1149" y="10"/>
                </a:lnTo>
                <a:lnTo>
                  <a:pt x="1342" y="46"/>
                </a:lnTo>
                <a:lnTo>
                  <a:pt x="731" y="90"/>
                </a:lnTo>
                <a:close/>
                <a:moveTo>
                  <a:pt x="534" y="223"/>
                </a:moveTo>
                <a:lnTo>
                  <a:pt x="214" y="597"/>
                </a:lnTo>
                <a:lnTo>
                  <a:pt x="212" y="590"/>
                </a:lnTo>
                <a:lnTo>
                  <a:pt x="208" y="603"/>
                </a:lnTo>
                <a:lnTo>
                  <a:pt x="205" y="604"/>
                </a:lnTo>
                <a:lnTo>
                  <a:pt x="206" y="606"/>
                </a:lnTo>
                <a:lnTo>
                  <a:pt x="189" y="625"/>
                </a:lnTo>
                <a:lnTo>
                  <a:pt x="147" y="671"/>
                </a:lnTo>
                <a:lnTo>
                  <a:pt x="192" y="575"/>
                </a:lnTo>
                <a:lnTo>
                  <a:pt x="534" y="223"/>
                </a:lnTo>
                <a:close/>
                <a:moveTo>
                  <a:pt x="199" y="630"/>
                </a:moveTo>
                <a:lnTo>
                  <a:pt x="38" y="1092"/>
                </a:lnTo>
                <a:lnTo>
                  <a:pt x="133" y="702"/>
                </a:lnTo>
                <a:lnTo>
                  <a:pt x="199" y="630"/>
                </a:lnTo>
                <a:close/>
                <a:moveTo>
                  <a:pt x="235" y="1715"/>
                </a:moveTo>
                <a:lnTo>
                  <a:pt x="288" y="1836"/>
                </a:lnTo>
                <a:lnTo>
                  <a:pt x="178" y="1698"/>
                </a:lnTo>
                <a:lnTo>
                  <a:pt x="43" y="1287"/>
                </a:lnTo>
                <a:lnTo>
                  <a:pt x="235" y="1715"/>
                </a:lnTo>
                <a:close/>
                <a:moveTo>
                  <a:pt x="1647" y="2201"/>
                </a:moveTo>
                <a:lnTo>
                  <a:pt x="1522" y="1955"/>
                </a:lnTo>
                <a:lnTo>
                  <a:pt x="2055" y="1805"/>
                </a:lnTo>
                <a:lnTo>
                  <a:pt x="1647" y="2201"/>
                </a:lnTo>
                <a:close/>
              </a:path>
            </a:pathLst>
          </a:custGeom>
          <a:solidFill>
            <a:schemeClr val="tx1">
              <a:alpha val="25000"/>
            </a:schemeClr>
          </a:solidFill>
          <a:ln>
            <a:noFill/>
          </a:ln>
        </p:spPr>
        <p:txBody>
          <a:bodyPr vert="horz" wrap="square" lIns="91440" tIns="45720" rIns="91440" bIns="45720" numCol="1" anchor="t" anchorCtr="0" compatLnSpc="1"/>
          <a:p>
            <a:endParaRPr lang="en-US"/>
          </a:p>
        </p:txBody>
      </p:sp>
      <p:grpSp>
        <p:nvGrpSpPr>
          <p:cNvPr id="50" name="Group 49"/>
          <p:cNvGrpSpPr/>
          <p:nvPr/>
        </p:nvGrpSpPr>
        <p:grpSpPr>
          <a:xfrm>
            <a:off x="4250833" y="2170812"/>
            <a:ext cx="3746501" cy="3740151"/>
            <a:chOff x="2144713" y="1752600"/>
            <a:chExt cx="3746501" cy="3740151"/>
          </a:xfrm>
          <a:solidFill>
            <a:schemeClr val="tx1"/>
          </a:solidFill>
        </p:grpSpPr>
        <p:sp>
          <p:nvSpPr>
            <p:cNvPr id="51" name="Oval 52"/>
            <p:cNvSpPr>
              <a:spLocks noChangeArrowheads="1"/>
            </p:cNvSpPr>
            <p:nvPr/>
          </p:nvSpPr>
          <p:spPr bwMode="auto">
            <a:xfrm>
              <a:off x="5778501" y="3678238"/>
              <a:ext cx="112713" cy="1127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2" name="Oval 53"/>
            <p:cNvSpPr>
              <a:spLocks noChangeArrowheads="1"/>
            </p:cNvSpPr>
            <p:nvPr/>
          </p:nvSpPr>
          <p:spPr bwMode="auto">
            <a:xfrm>
              <a:off x="5297488" y="3657600"/>
              <a:ext cx="123825"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2" name="Oval 54"/>
            <p:cNvSpPr>
              <a:spLocks noChangeArrowheads="1"/>
            </p:cNvSpPr>
            <p:nvPr/>
          </p:nvSpPr>
          <p:spPr bwMode="auto">
            <a:xfrm>
              <a:off x="4518026" y="4841875"/>
              <a:ext cx="122238"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4" name="Oval 55"/>
            <p:cNvSpPr>
              <a:spLocks noChangeArrowheads="1"/>
            </p:cNvSpPr>
            <p:nvPr/>
          </p:nvSpPr>
          <p:spPr bwMode="auto">
            <a:xfrm>
              <a:off x="5410201" y="4583113"/>
              <a:ext cx="122238"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5" name="Oval 56"/>
            <p:cNvSpPr>
              <a:spLocks noChangeArrowheads="1"/>
            </p:cNvSpPr>
            <p:nvPr/>
          </p:nvSpPr>
          <p:spPr bwMode="auto">
            <a:xfrm>
              <a:off x="4738688" y="5259388"/>
              <a:ext cx="106363" cy="10795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6" name="Oval 57"/>
            <p:cNvSpPr>
              <a:spLocks noChangeArrowheads="1"/>
            </p:cNvSpPr>
            <p:nvPr/>
          </p:nvSpPr>
          <p:spPr bwMode="auto">
            <a:xfrm>
              <a:off x="3951288" y="5395913"/>
              <a:ext cx="96838" cy="968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7" name="Oval 58"/>
            <p:cNvSpPr>
              <a:spLocks noChangeArrowheads="1"/>
            </p:cNvSpPr>
            <p:nvPr/>
          </p:nvSpPr>
          <p:spPr bwMode="auto">
            <a:xfrm>
              <a:off x="3635376" y="5341938"/>
              <a:ext cx="122238"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8" name="Oval 59"/>
            <p:cNvSpPr>
              <a:spLocks noChangeArrowheads="1"/>
            </p:cNvSpPr>
            <p:nvPr/>
          </p:nvSpPr>
          <p:spPr bwMode="auto">
            <a:xfrm>
              <a:off x="3074988" y="5172075"/>
              <a:ext cx="101600" cy="1016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59" name="Oval 60"/>
            <p:cNvSpPr>
              <a:spLocks noChangeArrowheads="1"/>
            </p:cNvSpPr>
            <p:nvPr/>
          </p:nvSpPr>
          <p:spPr bwMode="auto">
            <a:xfrm>
              <a:off x="3367088" y="4672013"/>
              <a:ext cx="120650"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60" name="Oval 61"/>
            <p:cNvSpPr>
              <a:spLocks noChangeArrowheads="1"/>
            </p:cNvSpPr>
            <p:nvPr/>
          </p:nvSpPr>
          <p:spPr bwMode="auto">
            <a:xfrm>
              <a:off x="2606676" y="4711700"/>
              <a:ext cx="122238"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61" name="Oval 62"/>
            <p:cNvSpPr>
              <a:spLocks noChangeArrowheads="1"/>
            </p:cNvSpPr>
            <p:nvPr/>
          </p:nvSpPr>
          <p:spPr bwMode="auto">
            <a:xfrm>
              <a:off x="3973513" y="3640138"/>
              <a:ext cx="122238"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62" name="Oval 63"/>
            <p:cNvSpPr>
              <a:spLocks noChangeArrowheads="1"/>
            </p:cNvSpPr>
            <p:nvPr/>
          </p:nvSpPr>
          <p:spPr bwMode="auto">
            <a:xfrm>
              <a:off x="2705101" y="3643313"/>
              <a:ext cx="122238"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85" name="Oval 64"/>
            <p:cNvSpPr>
              <a:spLocks noChangeArrowheads="1"/>
            </p:cNvSpPr>
            <p:nvPr/>
          </p:nvSpPr>
          <p:spPr bwMode="auto">
            <a:xfrm>
              <a:off x="2144713" y="3649663"/>
              <a:ext cx="98425" cy="984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86" name="Freeform 65"/>
            <p:cNvSpPr/>
            <p:nvPr/>
          </p:nvSpPr>
          <p:spPr bwMode="auto">
            <a:xfrm>
              <a:off x="2425701" y="2651125"/>
              <a:ext cx="155575" cy="182563"/>
            </a:xfrm>
            <a:custGeom>
              <a:avLst/>
              <a:gdLst>
                <a:gd name="T0" fmla="*/ 66 w 98"/>
                <a:gd name="T1" fmla="*/ 38 h 115"/>
                <a:gd name="T2" fmla="*/ 66 w 98"/>
                <a:gd name="T3" fmla="*/ 33 h 115"/>
                <a:gd name="T4" fmla="*/ 33 w 98"/>
                <a:gd name="T5" fmla="*/ 0 h 115"/>
                <a:gd name="T6" fmla="*/ 0 w 98"/>
                <a:gd name="T7" fmla="*/ 33 h 115"/>
                <a:gd name="T8" fmla="*/ 22 w 98"/>
                <a:gd name="T9" fmla="*/ 64 h 115"/>
                <a:gd name="T10" fmla="*/ 20 w 98"/>
                <a:gd name="T11" fmla="*/ 76 h 115"/>
                <a:gd name="T12" fmla="*/ 59 w 98"/>
                <a:gd name="T13" fmla="*/ 115 h 115"/>
                <a:gd name="T14" fmla="*/ 98 w 98"/>
                <a:gd name="T15" fmla="*/ 76 h 115"/>
                <a:gd name="T16" fmla="*/ 66 w 98"/>
                <a:gd name="T17" fmla="*/ 38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8" h="115">
                  <a:moveTo>
                    <a:pt x="66" y="38"/>
                  </a:moveTo>
                  <a:cubicBezTo>
                    <a:pt x="66" y="36"/>
                    <a:pt x="66" y="35"/>
                    <a:pt x="66" y="33"/>
                  </a:cubicBezTo>
                  <a:cubicBezTo>
                    <a:pt x="66" y="15"/>
                    <a:pt x="51" y="0"/>
                    <a:pt x="33" y="0"/>
                  </a:cubicBezTo>
                  <a:cubicBezTo>
                    <a:pt x="15" y="0"/>
                    <a:pt x="0" y="15"/>
                    <a:pt x="0" y="33"/>
                  </a:cubicBezTo>
                  <a:cubicBezTo>
                    <a:pt x="0" y="48"/>
                    <a:pt x="9" y="60"/>
                    <a:pt x="22" y="64"/>
                  </a:cubicBezTo>
                  <a:cubicBezTo>
                    <a:pt x="20" y="68"/>
                    <a:pt x="20" y="72"/>
                    <a:pt x="20" y="76"/>
                  </a:cubicBezTo>
                  <a:cubicBezTo>
                    <a:pt x="20" y="97"/>
                    <a:pt x="37" y="115"/>
                    <a:pt x="59" y="115"/>
                  </a:cubicBezTo>
                  <a:cubicBezTo>
                    <a:pt x="80" y="115"/>
                    <a:pt x="98" y="97"/>
                    <a:pt x="98" y="76"/>
                  </a:cubicBezTo>
                  <a:cubicBezTo>
                    <a:pt x="98" y="57"/>
                    <a:pt x="84" y="41"/>
                    <a:pt x="66" y="38"/>
                  </a:cubicBezTo>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87" name="Oval 66"/>
            <p:cNvSpPr>
              <a:spLocks noChangeArrowheads="1"/>
            </p:cNvSpPr>
            <p:nvPr/>
          </p:nvSpPr>
          <p:spPr bwMode="auto">
            <a:xfrm>
              <a:off x="3406776" y="2444750"/>
              <a:ext cx="120650"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88" name="Oval 67"/>
            <p:cNvSpPr>
              <a:spLocks noChangeArrowheads="1"/>
            </p:cNvSpPr>
            <p:nvPr/>
          </p:nvSpPr>
          <p:spPr bwMode="auto">
            <a:xfrm>
              <a:off x="3141663" y="1908175"/>
              <a:ext cx="122238"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89" name="Oval 68"/>
            <p:cNvSpPr>
              <a:spLocks noChangeArrowheads="1"/>
            </p:cNvSpPr>
            <p:nvPr/>
          </p:nvSpPr>
          <p:spPr bwMode="auto">
            <a:xfrm>
              <a:off x="3956051" y="1752600"/>
              <a:ext cx="104775" cy="10636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0" name="Oval 69"/>
            <p:cNvSpPr>
              <a:spLocks noChangeArrowheads="1"/>
            </p:cNvSpPr>
            <p:nvPr/>
          </p:nvSpPr>
          <p:spPr bwMode="auto">
            <a:xfrm>
              <a:off x="4314826" y="1824038"/>
              <a:ext cx="123825" cy="12382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1" name="Oval 70"/>
            <p:cNvSpPr>
              <a:spLocks noChangeArrowheads="1"/>
            </p:cNvSpPr>
            <p:nvPr/>
          </p:nvSpPr>
          <p:spPr bwMode="auto">
            <a:xfrm>
              <a:off x="4908551" y="2039938"/>
              <a:ext cx="114300" cy="114300"/>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2" name="Oval 71"/>
            <p:cNvSpPr>
              <a:spLocks noChangeArrowheads="1"/>
            </p:cNvSpPr>
            <p:nvPr/>
          </p:nvSpPr>
          <p:spPr bwMode="auto">
            <a:xfrm>
              <a:off x="5211763" y="2619375"/>
              <a:ext cx="122238"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3" name="Oval 72"/>
            <p:cNvSpPr>
              <a:spLocks noChangeArrowheads="1"/>
            </p:cNvSpPr>
            <p:nvPr/>
          </p:nvSpPr>
          <p:spPr bwMode="auto">
            <a:xfrm>
              <a:off x="5421313" y="2554288"/>
              <a:ext cx="103188" cy="104775"/>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7" name="Oval 73"/>
            <p:cNvSpPr>
              <a:spLocks noChangeArrowheads="1"/>
            </p:cNvSpPr>
            <p:nvPr/>
          </p:nvSpPr>
          <p:spPr bwMode="auto">
            <a:xfrm>
              <a:off x="5570538" y="2800350"/>
              <a:ext cx="122238" cy="12223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sp>
          <p:nvSpPr>
            <p:cNvPr id="98" name="Oval 74"/>
            <p:cNvSpPr>
              <a:spLocks noChangeArrowheads="1"/>
            </p:cNvSpPr>
            <p:nvPr/>
          </p:nvSpPr>
          <p:spPr bwMode="auto">
            <a:xfrm>
              <a:off x="2327276" y="2867025"/>
              <a:ext cx="96838" cy="100013"/>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endParaRPr lang="en-US"/>
            </a:p>
          </p:txBody>
        </p:sp>
      </p:grpSp>
      <p:sp>
        <p:nvSpPr>
          <p:cNvPr id="99" name="Oval 75"/>
          <p:cNvSpPr>
            <a:spLocks noChangeArrowheads="1"/>
          </p:cNvSpPr>
          <p:nvPr/>
        </p:nvSpPr>
        <p:spPr bwMode="auto">
          <a:xfrm>
            <a:off x="6693996" y="2961387"/>
            <a:ext cx="184150" cy="187325"/>
          </a:xfrm>
          <a:prstGeom prst="ellipse">
            <a:avLst/>
          </a:prstGeom>
          <a:solidFill>
            <a:srgbClr val="FF0000"/>
          </a:solidFill>
          <a:ln>
            <a:noFill/>
          </a:ln>
        </p:spPr>
        <p:txBody>
          <a:bodyPr vert="horz" wrap="square" lIns="91440" tIns="45720" rIns="91440" bIns="45720" numCol="1" anchor="t" anchorCtr="0" compatLnSpc="1"/>
          <a:p>
            <a:endParaRPr lang="en-US"/>
          </a:p>
        </p:txBody>
      </p:sp>
      <p:sp>
        <p:nvSpPr>
          <p:cNvPr id="104" name="Freeform 76"/>
          <p:cNvSpPr/>
          <p:nvPr/>
        </p:nvSpPr>
        <p:spPr bwMode="auto">
          <a:xfrm>
            <a:off x="6792421" y="2361312"/>
            <a:ext cx="1411288" cy="688975"/>
          </a:xfrm>
          <a:custGeom>
            <a:avLst/>
            <a:gdLst>
              <a:gd name="T0" fmla="*/ 0 w 889"/>
              <a:gd name="T1" fmla="*/ 434 h 434"/>
              <a:gd name="T2" fmla="*/ 430 w 889"/>
              <a:gd name="T3" fmla="*/ 0 h 434"/>
              <a:gd name="T4" fmla="*/ 889 w 889"/>
              <a:gd name="T5" fmla="*/ 0 h 434"/>
            </a:gdLst>
            <a:ahLst/>
            <a:cxnLst>
              <a:cxn ang="0">
                <a:pos x="T0" y="T1"/>
              </a:cxn>
              <a:cxn ang="0">
                <a:pos x="T2" y="T3"/>
              </a:cxn>
              <a:cxn ang="0">
                <a:pos x="T4" y="T5"/>
              </a:cxn>
            </a:cxnLst>
            <a:rect l="0" t="0" r="r" b="b"/>
            <a:pathLst>
              <a:path w="889" h="434">
                <a:moveTo>
                  <a:pt x="0" y="434"/>
                </a:moveTo>
                <a:lnTo>
                  <a:pt x="430" y="0"/>
                </a:lnTo>
                <a:lnTo>
                  <a:pt x="889" y="0"/>
                </a:lnTo>
              </a:path>
            </a:pathLst>
          </a:custGeom>
          <a:noFill/>
          <a:ln w="12700" cap="flat">
            <a:solidFill>
              <a:srgbClr val="FF0000"/>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
            <a:endParaRPr lang="en-US"/>
          </a:p>
        </p:txBody>
      </p:sp>
      <p:sp>
        <p:nvSpPr>
          <p:cNvPr id="111" name="Oval 78"/>
          <p:cNvSpPr>
            <a:spLocks noChangeArrowheads="1"/>
          </p:cNvSpPr>
          <p:nvPr/>
        </p:nvSpPr>
        <p:spPr bwMode="auto">
          <a:xfrm>
            <a:off x="4485783" y="4844162"/>
            <a:ext cx="160338" cy="163513"/>
          </a:xfrm>
          <a:prstGeom prst="ellipse">
            <a:avLst/>
          </a:prstGeom>
          <a:solidFill>
            <a:schemeClr val="accent3"/>
          </a:solidFill>
          <a:ln>
            <a:noFill/>
          </a:ln>
        </p:spPr>
        <p:txBody>
          <a:bodyPr vert="horz" wrap="square" lIns="91440" tIns="45720" rIns="91440" bIns="45720" numCol="1" anchor="t" anchorCtr="0" compatLnSpc="1"/>
          <a:p>
            <a:endParaRPr lang="en-US"/>
          </a:p>
        </p:txBody>
      </p:sp>
      <p:sp>
        <p:nvSpPr>
          <p:cNvPr id="112" name="Freeform 79"/>
          <p:cNvSpPr/>
          <p:nvPr/>
        </p:nvSpPr>
        <p:spPr bwMode="auto">
          <a:xfrm>
            <a:off x="3985721" y="4917187"/>
            <a:ext cx="582613" cy="296863"/>
          </a:xfrm>
          <a:custGeom>
            <a:avLst/>
            <a:gdLst>
              <a:gd name="T0" fmla="*/ 367 w 367"/>
              <a:gd name="T1" fmla="*/ 0 h 187"/>
              <a:gd name="T2" fmla="*/ 181 w 367"/>
              <a:gd name="T3" fmla="*/ 187 h 187"/>
              <a:gd name="T4" fmla="*/ 0 w 367"/>
              <a:gd name="T5" fmla="*/ 187 h 187"/>
            </a:gdLst>
            <a:ahLst/>
            <a:cxnLst>
              <a:cxn ang="0">
                <a:pos x="T0" y="T1"/>
              </a:cxn>
              <a:cxn ang="0">
                <a:pos x="T2" y="T3"/>
              </a:cxn>
              <a:cxn ang="0">
                <a:pos x="T4" y="T5"/>
              </a:cxn>
            </a:cxnLst>
            <a:rect l="0" t="0" r="r" b="b"/>
            <a:pathLst>
              <a:path w="367" h="187">
                <a:moveTo>
                  <a:pt x="367" y="0"/>
                </a:moveTo>
                <a:lnTo>
                  <a:pt x="181" y="187"/>
                </a:lnTo>
                <a:lnTo>
                  <a:pt x="0" y="187"/>
                </a:lnTo>
              </a:path>
            </a:pathLst>
          </a:custGeom>
          <a:noFill/>
          <a:ln w="12700" cap="flat">
            <a:solidFill>
              <a:schemeClr val="accent3"/>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
            <a:endParaRPr lang="en-US"/>
          </a:p>
        </p:txBody>
      </p:sp>
      <p:sp>
        <p:nvSpPr>
          <p:cNvPr id="126" name="Oval 81"/>
          <p:cNvSpPr>
            <a:spLocks noChangeArrowheads="1"/>
          </p:cNvSpPr>
          <p:nvPr/>
        </p:nvSpPr>
        <p:spPr bwMode="auto">
          <a:xfrm>
            <a:off x="5216033" y="2294637"/>
            <a:ext cx="185738" cy="185738"/>
          </a:xfrm>
          <a:prstGeom prst="ellipse">
            <a:avLst/>
          </a:prstGeom>
          <a:solidFill>
            <a:schemeClr val="tx1"/>
          </a:solidFill>
          <a:ln>
            <a:noFill/>
          </a:ln>
        </p:spPr>
        <p:txBody>
          <a:bodyPr vert="horz" wrap="square" lIns="91440" tIns="45720" rIns="91440" bIns="45720" numCol="1" anchor="t" anchorCtr="0" compatLnSpc="1"/>
          <a:p>
            <a:endParaRPr lang="en-US"/>
          </a:p>
        </p:txBody>
      </p:sp>
      <p:sp>
        <p:nvSpPr>
          <p:cNvPr id="127" name="Freeform 82"/>
          <p:cNvSpPr/>
          <p:nvPr/>
        </p:nvSpPr>
        <p:spPr bwMode="auto">
          <a:xfrm>
            <a:off x="4303221" y="1829500"/>
            <a:ext cx="1017588" cy="561975"/>
          </a:xfrm>
          <a:custGeom>
            <a:avLst/>
            <a:gdLst>
              <a:gd name="T0" fmla="*/ 641 w 641"/>
              <a:gd name="T1" fmla="*/ 354 h 354"/>
              <a:gd name="T2" fmla="*/ 290 w 641"/>
              <a:gd name="T3" fmla="*/ 0 h 354"/>
              <a:gd name="T4" fmla="*/ 0 w 641"/>
              <a:gd name="T5" fmla="*/ 0 h 354"/>
            </a:gdLst>
            <a:ahLst/>
            <a:cxnLst>
              <a:cxn ang="0">
                <a:pos x="T0" y="T1"/>
              </a:cxn>
              <a:cxn ang="0">
                <a:pos x="T2" y="T3"/>
              </a:cxn>
              <a:cxn ang="0">
                <a:pos x="T4" y="T5"/>
              </a:cxn>
            </a:cxnLst>
            <a:rect l="0" t="0" r="r" b="b"/>
            <a:pathLst>
              <a:path w="641" h="354">
                <a:moveTo>
                  <a:pt x="641" y="354"/>
                </a:moveTo>
                <a:lnTo>
                  <a:pt x="290" y="0"/>
                </a:lnTo>
                <a:lnTo>
                  <a:pt x="0" y="0"/>
                </a:lnTo>
              </a:path>
            </a:pathLst>
          </a:custGeom>
          <a:noFill/>
          <a:ln w="12700" cap="flat">
            <a:solidFill>
              <a:schemeClr val="tx1"/>
            </a:solidFill>
            <a:prstDash val="solid"/>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
            <a:endParaRPr lang="en-US"/>
          </a:p>
        </p:txBody>
      </p:sp>
      <p:sp>
        <p:nvSpPr>
          <p:cNvPr id="137" name="Oval 136"/>
          <p:cNvSpPr/>
          <p:nvPr/>
        </p:nvSpPr>
        <p:spPr>
          <a:xfrm>
            <a:off x="3943350" y="1619885"/>
            <a:ext cx="377190" cy="382270"/>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1000" b="1" dirty="0" smtClean="0">
                <a:solidFill>
                  <a:srgbClr val="FFFFFF"/>
                </a:solidFill>
                <a:latin typeface="微软雅黑" panose="020B0503020204020204" charset="-122"/>
                <a:ea typeface="微软雅黑" panose="020B0503020204020204" charset="-122"/>
                <a:cs typeface="Open Sans SemiBold" panose="020B0706030804020204" charset="0"/>
              </a:rPr>
              <a:t>1</a:t>
            </a:r>
            <a:endParaRPr lang="en-US" sz="1000" b="1" dirty="0" smtClean="0">
              <a:solidFill>
                <a:srgbClr val="FFFFFF"/>
              </a:solidFill>
              <a:latin typeface="微软雅黑" panose="020B0503020204020204" charset="-122"/>
              <a:ea typeface="微软雅黑" panose="020B0503020204020204" charset="-122"/>
              <a:cs typeface="Open Sans SemiBold" panose="020B0706030804020204" charset="0"/>
            </a:endParaRPr>
          </a:p>
        </p:txBody>
      </p:sp>
      <p:sp>
        <p:nvSpPr>
          <p:cNvPr id="140" name="Oval 139"/>
          <p:cNvSpPr/>
          <p:nvPr/>
        </p:nvSpPr>
        <p:spPr>
          <a:xfrm>
            <a:off x="3624580" y="5010150"/>
            <a:ext cx="377190" cy="382270"/>
          </a:xfrm>
          <a:prstGeom prst="ellipse">
            <a:avLst/>
          </a:prstGeom>
          <a:solidFill>
            <a:schemeClr val="accent3"/>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r>
              <a:rPr lang="en-US" sz="1000" b="1" dirty="0" smtClean="0">
                <a:solidFill>
                  <a:srgbClr val="FFFFFF"/>
                </a:solidFill>
                <a:latin typeface="微软雅黑" panose="020B0503020204020204" charset="-122"/>
                <a:ea typeface="微软雅黑" panose="020B0503020204020204" charset="-122"/>
                <a:cs typeface="Open Sans SemiBold" panose="020B0706030804020204" charset="0"/>
              </a:rPr>
              <a:t>3</a:t>
            </a:r>
            <a:endParaRPr lang="en-US" sz="1000" b="1" dirty="0" smtClean="0">
              <a:solidFill>
                <a:srgbClr val="FFFFFF"/>
              </a:solidFill>
              <a:latin typeface="微软雅黑" panose="020B0503020204020204" charset="-122"/>
              <a:ea typeface="微软雅黑" panose="020B0503020204020204" charset="-122"/>
              <a:cs typeface="Open Sans SemiBold" panose="020B0706030804020204" charset="0"/>
            </a:endParaRPr>
          </a:p>
        </p:txBody>
      </p:sp>
      <p:grpSp>
        <p:nvGrpSpPr>
          <p:cNvPr id="3" name="组合 2"/>
          <p:cNvGrpSpPr/>
          <p:nvPr/>
        </p:nvGrpSpPr>
        <p:grpSpPr>
          <a:xfrm>
            <a:off x="2653030" y="499745"/>
            <a:ext cx="6941820" cy="974090"/>
            <a:chOff x="4143" y="653"/>
            <a:chExt cx="10932" cy="1534"/>
          </a:xfrm>
        </p:grpSpPr>
        <p:sp>
          <p:nvSpPr>
            <p:cNvPr id="5" name="TextBox 9"/>
            <p:cNvSpPr txBox="1"/>
            <p:nvPr/>
          </p:nvSpPr>
          <p:spPr>
            <a:xfrm>
              <a:off x="4143" y="653"/>
              <a:ext cx="10932" cy="1307"/>
            </a:xfrm>
            <a:prstGeom prst="rect">
              <a:avLst/>
            </a:prstGeom>
            <a:noFill/>
          </p:spPr>
          <p:txBody>
            <a:bodyPr wrap="square" rtlCol="0">
              <a:spAutoFit/>
            </a:bodyPr>
            <a:p>
              <a:pPr algn="ct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上市受阻</a:t>
              </a:r>
              <a:endPar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10" name="TextBox 12"/>
            <p:cNvSpPr txBox="1"/>
            <p:nvPr/>
          </p:nvSpPr>
          <p:spPr>
            <a:xfrm>
              <a:off x="5681" y="1618"/>
              <a:ext cx="7856" cy="569"/>
            </a:xfrm>
            <a:prstGeom prst="rect">
              <a:avLst/>
            </a:prstGeom>
            <a:noFill/>
          </p:spPr>
          <p:txBody>
            <a:bodyPr wrap="square" rtlCol="0">
              <a:spAutoFit/>
            </a:bodyPr>
            <a:p>
              <a:pPr algn="ctr">
                <a:lnSpc>
                  <a:spcPct val="150000"/>
                </a:lnSpc>
              </a:pPr>
              <a:r>
                <a:rPr lang="en-US" baseline="-25000" dirty="0" smtClean="0">
                  <a:latin typeface="Dotum" panose="020B0600000101010101" charset="-127"/>
                  <a:ea typeface="Dotum" panose="020B0600000101010101" charset="-127"/>
                  <a:cs typeface="+mj-lt"/>
                </a:rPr>
                <a:t>minimal presentation template</a:t>
              </a:r>
              <a:endParaRPr lang="en-US" baseline="-25000" dirty="0" smtClean="0">
                <a:latin typeface="Dotum" panose="020B0600000101010101" charset="-127"/>
                <a:ea typeface="Dotum" panose="020B0600000101010101" charset="-127"/>
                <a:cs typeface="+mj-lt"/>
              </a:endParaRPr>
            </a:p>
          </p:txBody>
        </p:sp>
      </p:grpSp>
      <p:grpSp>
        <p:nvGrpSpPr>
          <p:cNvPr id="63" name="Group 62"/>
          <p:cNvGrpSpPr/>
          <p:nvPr/>
        </p:nvGrpSpPr>
        <p:grpSpPr>
          <a:xfrm>
            <a:off x="1363507" y="1936746"/>
            <a:ext cx="2266315" cy="1049020"/>
            <a:chOff x="10070640" y="846552"/>
            <a:chExt cx="2266315" cy="1049020"/>
          </a:xfrm>
        </p:grpSpPr>
        <p:sp>
          <p:nvSpPr>
            <p:cNvPr id="65" name="TextBox 64"/>
            <p:cNvSpPr txBox="1"/>
            <p:nvPr/>
          </p:nvSpPr>
          <p:spPr>
            <a:xfrm>
              <a:off x="10070640" y="1204057"/>
              <a:ext cx="2266315" cy="691515"/>
            </a:xfrm>
            <a:prstGeom prst="rect">
              <a:avLst/>
            </a:prstGeom>
            <a:noFill/>
          </p:spPr>
          <p:txBody>
            <a:bodyPr wrap="square" lIns="0" rIns="0" rtlCol="0">
              <a:spAutoFit/>
            </a:bodyPr>
            <a:p>
              <a:pPr algn="r">
                <a:lnSpc>
                  <a:spcPct val="130000"/>
                </a:lnSpc>
              </a:pPr>
              <a:r>
                <a:rPr lang="en-US" sz="1000" dirty="0">
                  <a:solidFill>
                    <a:schemeClr val="tx1">
                      <a:alpha val="70000"/>
                    </a:schemeClr>
                  </a:solidFill>
                  <a:latin typeface="微软雅黑" panose="020B0503020204020204" charset="-122"/>
                  <a:ea typeface="微软雅黑" panose="020B0503020204020204" charset="-122"/>
                </a:rPr>
                <a:t>A peep at some distant orb has power to raise and purify our </a:t>
              </a:r>
              <a:r>
                <a:rPr lang="en-US" sz="1000" dirty="0" smtClean="0">
                  <a:solidFill>
                    <a:schemeClr val="tx1">
                      <a:alpha val="70000"/>
                    </a:schemeClr>
                  </a:solidFill>
                  <a:latin typeface="微软雅黑" panose="020B0503020204020204" charset="-122"/>
                  <a:ea typeface="微软雅黑" panose="020B0503020204020204" charset="-122"/>
                </a:rPr>
                <a:t>thoughts.</a:t>
              </a:r>
              <a:endParaRPr lang="en-US" sz="1000" dirty="0">
                <a:solidFill>
                  <a:schemeClr val="tx1">
                    <a:alpha val="70000"/>
                  </a:schemeClr>
                </a:solidFill>
                <a:latin typeface="微软雅黑" panose="020B0503020204020204" charset="-122"/>
                <a:ea typeface="微软雅黑" panose="020B0503020204020204" charset="-122"/>
              </a:endParaRPr>
            </a:p>
          </p:txBody>
        </p:sp>
        <p:sp>
          <p:nvSpPr>
            <p:cNvPr id="66" name="TextBox 65"/>
            <p:cNvSpPr txBox="1"/>
            <p:nvPr/>
          </p:nvSpPr>
          <p:spPr>
            <a:xfrm>
              <a:off x="10475134" y="846552"/>
              <a:ext cx="1861820" cy="306705"/>
            </a:xfrm>
            <a:prstGeom prst="rect">
              <a:avLst/>
            </a:prstGeom>
            <a:noFill/>
          </p:spPr>
          <p:txBody>
            <a:bodyPr wrap="none" lIns="0" rIns="0" rtlCol="0">
              <a:spAutoFit/>
            </a:bodyPr>
            <a:p>
              <a:pPr algn="r"/>
              <a:r>
                <a:rPr lang="en-US" altLang="zh-CN" sz="1400" b="1" dirty="0">
                  <a:latin typeface="微软雅黑" panose="020B0503020204020204" charset="-122"/>
                  <a:ea typeface="微软雅黑" panose="020B0503020204020204" charset="-122"/>
                  <a:cs typeface="Open Sans" panose="020B0606030504020204" charset="0"/>
                </a:rPr>
                <a:t>2022</a:t>
              </a:r>
              <a:r>
                <a:rPr lang="zh-CN" altLang="en-US" sz="1400" b="1" dirty="0">
                  <a:latin typeface="微软雅黑" panose="020B0503020204020204" charset="-122"/>
                  <a:ea typeface="微软雅黑" panose="020B0503020204020204" charset="-122"/>
                  <a:cs typeface="Open Sans" panose="020B0606030504020204" charset="0"/>
                </a:rPr>
                <a:t>纽约上市冲击</a:t>
              </a:r>
              <a:r>
                <a:rPr lang="zh-CN" altLang="en-US" sz="1400" b="1" dirty="0">
                  <a:latin typeface="微软雅黑" panose="020B0503020204020204" charset="-122"/>
                  <a:ea typeface="微软雅黑" panose="020B0503020204020204" charset="-122"/>
                  <a:cs typeface="Open Sans" panose="020B0606030504020204" charset="0"/>
                </a:rPr>
                <a:t>失败</a:t>
              </a:r>
              <a:endParaRPr lang="zh-CN" altLang="en-US" sz="1400" b="1" dirty="0">
                <a:latin typeface="微软雅黑" panose="020B0503020204020204" charset="-122"/>
                <a:ea typeface="微软雅黑" panose="020B0503020204020204" charset="-122"/>
                <a:cs typeface="Open Sans" panose="020B0606030504020204" charset="0"/>
              </a:endParaRPr>
            </a:p>
          </p:txBody>
        </p:sp>
      </p:grpSp>
      <p:grpSp>
        <p:nvGrpSpPr>
          <p:cNvPr id="70" name="Group 69"/>
          <p:cNvGrpSpPr/>
          <p:nvPr/>
        </p:nvGrpSpPr>
        <p:grpSpPr>
          <a:xfrm>
            <a:off x="830742" y="4791665"/>
            <a:ext cx="2470150" cy="819785"/>
            <a:chOff x="9866805" y="875762"/>
            <a:chExt cx="2470150" cy="819785"/>
          </a:xfrm>
        </p:grpSpPr>
        <p:sp>
          <p:nvSpPr>
            <p:cNvPr id="72" name="TextBox 71"/>
            <p:cNvSpPr txBox="1"/>
            <p:nvPr/>
          </p:nvSpPr>
          <p:spPr>
            <a:xfrm>
              <a:off x="9866805" y="1204057"/>
              <a:ext cx="2470150" cy="491490"/>
            </a:xfrm>
            <a:prstGeom prst="rect">
              <a:avLst/>
            </a:prstGeom>
            <a:noFill/>
          </p:spPr>
          <p:txBody>
            <a:bodyPr wrap="square" lIns="0" rIns="0" rtlCol="0">
              <a:spAutoFit/>
            </a:bodyPr>
            <a:p>
              <a:pPr algn="r">
                <a:lnSpc>
                  <a:spcPct val="130000"/>
                </a:lnSpc>
              </a:pPr>
              <a:r>
                <a:rPr lang="en-US" sz="1000" dirty="0">
                  <a:solidFill>
                    <a:schemeClr val="tx1">
                      <a:alpha val="70000"/>
                    </a:schemeClr>
                  </a:solidFill>
                  <a:latin typeface="微软雅黑" panose="020B0503020204020204" charset="-122"/>
                  <a:ea typeface="微软雅黑" panose="020B0503020204020204" charset="-122"/>
                </a:rPr>
                <a:t>A peep at some distant orb has power to raise and purify our </a:t>
              </a:r>
              <a:r>
                <a:rPr lang="en-US" sz="1000" dirty="0" smtClean="0">
                  <a:solidFill>
                    <a:schemeClr val="tx1">
                      <a:alpha val="70000"/>
                    </a:schemeClr>
                  </a:solidFill>
                  <a:latin typeface="微软雅黑" panose="020B0503020204020204" charset="-122"/>
                  <a:ea typeface="微软雅黑" panose="020B0503020204020204" charset="-122"/>
                </a:rPr>
                <a:t>thoughts.</a:t>
              </a:r>
              <a:endParaRPr lang="en-US" sz="1000" dirty="0">
                <a:solidFill>
                  <a:schemeClr val="tx1">
                    <a:alpha val="70000"/>
                  </a:schemeClr>
                </a:solidFill>
                <a:latin typeface="微软雅黑" panose="020B0503020204020204" charset="-122"/>
                <a:ea typeface="微软雅黑" panose="020B0503020204020204" charset="-122"/>
              </a:endParaRPr>
            </a:p>
          </p:txBody>
        </p:sp>
        <p:sp>
          <p:nvSpPr>
            <p:cNvPr id="73" name="TextBox 72"/>
            <p:cNvSpPr txBox="1"/>
            <p:nvPr/>
          </p:nvSpPr>
          <p:spPr>
            <a:xfrm>
              <a:off x="10830734" y="875762"/>
              <a:ext cx="1506220" cy="306705"/>
            </a:xfrm>
            <a:prstGeom prst="rect">
              <a:avLst/>
            </a:prstGeom>
            <a:noFill/>
          </p:spPr>
          <p:txBody>
            <a:bodyPr wrap="none" lIns="0" rIns="0" rtlCol="0">
              <a:spAutoFit/>
            </a:bodyPr>
            <a:p>
              <a:pPr algn="r"/>
              <a:r>
                <a:rPr lang="en-US" sz="1400" b="1">
                  <a:latin typeface="微软雅黑" panose="020B0503020204020204" charset="-122"/>
                  <a:ea typeface="微软雅黑" panose="020B0503020204020204" charset="-122"/>
                  <a:cs typeface="Open Sans" panose="020B0606030504020204" charset="0"/>
                </a:rPr>
                <a:t>2024</a:t>
              </a:r>
              <a:r>
                <a:rPr lang="zh-CN" altLang="en-US" sz="1400" b="1">
                  <a:latin typeface="微软雅黑" panose="020B0503020204020204" charset="-122"/>
                  <a:ea typeface="微软雅黑" panose="020B0503020204020204" charset="-122"/>
                  <a:cs typeface="Open Sans" panose="020B0606030504020204" charset="0"/>
                </a:rPr>
                <a:t>香港</a:t>
              </a:r>
              <a:r>
                <a:rPr lang="zh-CN" altLang="en-US" sz="1400" b="1">
                  <a:latin typeface="微软雅黑" panose="020B0503020204020204" charset="-122"/>
                  <a:ea typeface="微软雅黑" panose="020B0503020204020204" charset="-122"/>
                  <a:cs typeface="Open Sans" panose="020B0606030504020204" charset="0"/>
                </a:rPr>
                <a:t>上市悬停</a:t>
              </a:r>
              <a:endParaRPr lang="zh-CN" altLang="en-US" sz="1400" b="1">
                <a:latin typeface="微软雅黑" panose="020B0503020204020204" charset="-122"/>
                <a:ea typeface="微软雅黑" panose="020B0503020204020204" charset="-122"/>
                <a:cs typeface="Open Sans" panose="020B0606030504020204" charset="0"/>
              </a:endParaRPr>
            </a:p>
          </p:txBody>
        </p:sp>
      </p:grpSp>
      <p:grpSp>
        <p:nvGrpSpPr>
          <p:cNvPr id="6" name="Group 69"/>
          <p:cNvGrpSpPr/>
          <p:nvPr/>
        </p:nvGrpSpPr>
        <p:grpSpPr>
          <a:xfrm>
            <a:off x="8796181" y="2510110"/>
            <a:ext cx="2152650" cy="1029335"/>
            <a:chOff x="9130839" y="866237"/>
            <a:chExt cx="2152650" cy="1029335"/>
          </a:xfrm>
        </p:grpSpPr>
        <p:sp>
          <p:nvSpPr>
            <p:cNvPr id="7" name="TextBox 71"/>
            <p:cNvSpPr txBox="1"/>
            <p:nvPr/>
          </p:nvSpPr>
          <p:spPr>
            <a:xfrm>
              <a:off x="9130839" y="1204057"/>
              <a:ext cx="2152650" cy="691515"/>
            </a:xfrm>
            <a:prstGeom prst="rect">
              <a:avLst/>
            </a:prstGeom>
            <a:noFill/>
          </p:spPr>
          <p:txBody>
            <a:bodyPr wrap="square" lIns="0" rIns="0" rtlCol="0">
              <a:spAutoFit/>
            </a:bodyPr>
            <a:p>
              <a:pPr>
                <a:lnSpc>
                  <a:spcPct val="130000"/>
                </a:lnSpc>
              </a:pPr>
              <a:r>
                <a:rPr lang="en-US" sz="1000" dirty="0">
                  <a:solidFill>
                    <a:schemeClr val="tx1">
                      <a:alpha val="70000"/>
                    </a:schemeClr>
                  </a:solidFill>
                  <a:latin typeface="微软雅黑" panose="020B0503020204020204" charset="-122"/>
                  <a:ea typeface="微软雅黑" panose="020B0503020204020204" charset="-122"/>
                </a:rPr>
                <a:t>A peep at some distant orb has power to raise and purify our </a:t>
              </a:r>
              <a:r>
                <a:rPr lang="en-US" sz="1000" dirty="0" smtClean="0">
                  <a:solidFill>
                    <a:schemeClr val="tx1">
                      <a:alpha val="70000"/>
                    </a:schemeClr>
                  </a:solidFill>
                  <a:latin typeface="微软雅黑" panose="020B0503020204020204" charset="-122"/>
                  <a:ea typeface="微软雅黑" panose="020B0503020204020204" charset="-122"/>
                </a:rPr>
                <a:t>thoughts.</a:t>
              </a:r>
              <a:endParaRPr lang="en-US" sz="1000" dirty="0">
                <a:solidFill>
                  <a:schemeClr val="tx1">
                    <a:alpha val="70000"/>
                  </a:schemeClr>
                </a:solidFill>
                <a:latin typeface="微软雅黑" panose="020B0503020204020204" charset="-122"/>
                <a:ea typeface="微软雅黑" panose="020B0503020204020204" charset="-122"/>
              </a:endParaRPr>
            </a:p>
          </p:txBody>
        </p:sp>
        <p:sp>
          <p:nvSpPr>
            <p:cNvPr id="8" name="TextBox 72"/>
            <p:cNvSpPr txBox="1"/>
            <p:nvPr/>
          </p:nvSpPr>
          <p:spPr>
            <a:xfrm>
              <a:off x="9130839" y="866237"/>
              <a:ext cx="1506220" cy="306705"/>
            </a:xfrm>
            <a:prstGeom prst="rect">
              <a:avLst/>
            </a:prstGeom>
            <a:noFill/>
          </p:spPr>
          <p:txBody>
            <a:bodyPr wrap="none" lIns="0" rIns="0" rtlCol="0">
              <a:spAutoFit/>
            </a:bodyPr>
            <a:p>
              <a:pPr algn="l"/>
              <a:r>
                <a:rPr lang="en-US" sz="1400" b="1">
                  <a:latin typeface="微软雅黑" panose="020B0503020204020204" charset="-122"/>
                  <a:ea typeface="微软雅黑" panose="020B0503020204020204" charset="-122"/>
                  <a:cs typeface="Open Sans" panose="020B0606030504020204" charset="0"/>
                </a:rPr>
                <a:t>2023</a:t>
              </a:r>
              <a:r>
                <a:rPr lang="zh-CN" altLang="en-US" sz="1400" b="1">
                  <a:latin typeface="微软雅黑" panose="020B0503020204020204" charset="-122"/>
                  <a:ea typeface="微软雅黑" panose="020B0503020204020204" charset="-122"/>
                  <a:cs typeface="Open Sans" panose="020B0606030504020204" charset="0"/>
                </a:rPr>
                <a:t>伦敦上市</a:t>
              </a:r>
              <a:r>
                <a:rPr lang="zh-CN" altLang="en-US" sz="1400" b="1">
                  <a:latin typeface="微软雅黑" panose="020B0503020204020204" charset="-122"/>
                  <a:ea typeface="微软雅黑" panose="020B0503020204020204" charset="-122"/>
                  <a:cs typeface="Open Sans" panose="020B0606030504020204" charset="0"/>
                </a:rPr>
                <a:t>受阻</a:t>
              </a:r>
              <a:endParaRPr lang="zh-CN" altLang="en-US" sz="1400" b="1">
                <a:latin typeface="微软雅黑" panose="020B0503020204020204" charset="-122"/>
                <a:ea typeface="微软雅黑" panose="020B0503020204020204" charset="-122"/>
                <a:cs typeface="Open Sans" panose="020B0606030504020204" charset="0"/>
              </a:endParaRPr>
            </a:p>
          </p:txBody>
        </p:sp>
      </p:gr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no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37630"/>
            <a:ext cx="2515870" cy="460375"/>
          </a:xfrm>
          <a:prstGeom prst="rect">
            <a:avLst/>
          </a:prstGeom>
          <a:noFill/>
        </p:spPr>
        <p:txBody>
          <a:bodyPr wrap="square" rtlCol="0">
            <a:spAutoFit/>
          </a:bodyPr>
          <a:p>
            <a:pPr algn="ctr"/>
            <a:r>
              <a:rPr lang="zh-CN" altLang="en-US" sz="2400">
                <a:solidFill>
                  <a:schemeClr val="bg1"/>
                </a:solidFill>
                <a:latin typeface="汉仪力量黑简" panose="00020600040101010101" charset="-122"/>
                <a:ea typeface="汉仪力量黑简" panose="00020600040101010101" charset="-122"/>
              </a:rPr>
              <a:t>案例与数据</a:t>
            </a:r>
            <a:endParaRPr lang="zh-CN" altLang="en-US" sz="2400">
              <a:solidFill>
                <a:schemeClr val="bg1"/>
              </a:solidFill>
              <a:latin typeface="汉仪力量黑简" panose="00020600040101010101" charset="-122"/>
              <a:ea typeface="汉仪力量黑简" panose="00020600040101010101" charset="-122"/>
            </a:endParaRPr>
          </a:p>
        </p:txBody>
      </p:sp>
      <p:sp>
        <p:nvSpPr>
          <p:cNvPr id="19" name="文本框 18"/>
          <p:cNvSpPr txBox="1"/>
          <p:nvPr/>
        </p:nvSpPr>
        <p:spPr>
          <a:xfrm>
            <a:off x="9425940" y="6485255"/>
            <a:ext cx="2515870" cy="368300"/>
          </a:xfrm>
          <a:prstGeom prst="rect">
            <a:avLst/>
          </a:prstGeom>
          <a:noFill/>
        </p:spPr>
        <p:txBody>
          <a:bodyPr wrap="square" rtlCol="0">
            <a:spAutoFit/>
          </a:bodyPr>
          <a:p>
            <a:pPr algn="ctr">
              <a:buClrTx/>
              <a:buSzTx/>
              <a:buFontTx/>
            </a:pPr>
            <a:r>
              <a:rPr lang="zh-CN" altLang="en-US">
                <a:latin typeface="汉仪力量黑简" panose="00020600040101010101" charset="-122"/>
                <a:ea typeface="汉仪力量黑简" panose="00020600040101010101" charset="-122"/>
              </a:rPr>
              <a:t>趋势分析</a:t>
            </a:r>
            <a:endParaRPr lang="zh-CN" altLang="en-US">
              <a:latin typeface="汉仪力量黑简" panose="00020600040101010101" charset="-122"/>
              <a:ea typeface="汉仪力量黑简" panose="00020600040101010101" charset="-122"/>
            </a:endParaRPr>
          </a:p>
        </p:txBody>
      </p:sp>
      <p:grpSp>
        <p:nvGrpSpPr>
          <p:cNvPr id="3" name="组合 2"/>
          <p:cNvGrpSpPr/>
          <p:nvPr/>
        </p:nvGrpSpPr>
        <p:grpSpPr>
          <a:xfrm>
            <a:off x="2675890" y="593725"/>
            <a:ext cx="6941820" cy="829945"/>
            <a:chOff x="4143" y="653"/>
            <a:chExt cx="10932" cy="1307"/>
          </a:xfrm>
        </p:grpSpPr>
        <p:sp>
          <p:nvSpPr>
            <p:cNvPr id="5" name="TextBox 9"/>
            <p:cNvSpPr txBox="1"/>
            <p:nvPr/>
          </p:nvSpPr>
          <p:spPr>
            <a:xfrm>
              <a:off x="4143" y="653"/>
              <a:ext cx="10932" cy="1307"/>
            </a:xfrm>
            <a:prstGeom prst="rect">
              <a:avLst/>
            </a:prstGeom>
            <a:noFill/>
          </p:spPr>
          <p:txBody>
            <a:bodyPr wrap="square" rtlCol="0">
              <a:spAutoFit/>
            </a:bodyPr>
            <a:p>
              <a:pPr algn="ct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上市受阻缘由</a:t>
              </a:r>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分析</a:t>
              </a:r>
              <a:endPar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10" name="TextBox 12"/>
            <p:cNvSpPr txBox="1"/>
            <p:nvPr/>
          </p:nvSpPr>
          <p:spPr>
            <a:xfrm>
              <a:off x="5702" y="1391"/>
              <a:ext cx="7856" cy="569"/>
            </a:xfrm>
            <a:prstGeom prst="rect">
              <a:avLst/>
            </a:prstGeom>
            <a:noFill/>
          </p:spPr>
          <p:txBody>
            <a:bodyPr wrap="square" rtlCol="0">
              <a:spAutoFit/>
            </a:bodyPr>
            <a:p>
              <a:pPr algn="ctr">
                <a:lnSpc>
                  <a:spcPct val="150000"/>
                </a:lnSpc>
              </a:pPr>
              <a:r>
                <a:rPr lang="en-US" baseline="-25000" dirty="0" smtClean="0">
                  <a:latin typeface="Dotum" panose="020B0600000101010101" charset="-127"/>
                  <a:ea typeface="Dotum" panose="020B0600000101010101" charset="-127"/>
                  <a:cs typeface="+mj-lt"/>
                </a:rPr>
                <a:t>minimal presentation </a:t>
              </a:r>
              <a:endParaRPr lang="en-US" baseline="-25000" dirty="0" smtClean="0">
                <a:latin typeface="Dotum" panose="020B0600000101010101" charset="-127"/>
                <a:ea typeface="Dotum" panose="020B0600000101010101" charset="-127"/>
                <a:cs typeface="+mj-lt"/>
              </a:endParaRPr>
            </a:p>
          </p:txBody>
        </p:sp>
      </p:grpSp>
      <p:sp>
        <p:nvSpPr>
          <p:cNvPr id="4" name="文本框 3"/>
          <p:cNvSpPr txBox="1"/>
          <p:nvPr/>
        </p:nvSpPr>
        <p:spPr>
          <a:xfrm>
            <a:off x="605790" y="2528570"/>
            <a:ext cx="10918190" cy="1680845"/>
          </a:xfrm>
          <a:prstGeom prst="rect">
            <a:avLst/>
          </a:prstGeom>
        </p:spPr>
        <p:txBody>
          <a:bodyPr>
            <a:noAutofit/>
          </a:bodyPr>
          <a:p>
            <a:pPr marL="0" indent="0" algn="l">
              <a:lnSpc>
                <a:spcPts val="1440"/>
              </a:lnSpc>
              <a:spcBef>
                <a:spcPct val="0"/>
              </a:spcBef>
              <a:spcAft>
                <a:spcPct val="0"/>
              </a:spcAft>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外部环境：</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全球贸易摩擦加剧，地缘政治与海外贸易壁垒提升经营不确定性。</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行业困境：</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快时尚赛道竞争白热化，增长空间收窄，且面临可持续发展相关舆论争议。</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自身短板：</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核心供应链依托希音村中小工厂，用工、生产合规性不足；营收走高但利润波动剧烈，盈利稳定性弱；海外</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供应链布局进一步放大运营风险。</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indent="0" algn="l">
              <a:lnSpc>
                <a:spcPts val="1440"/>
              </a:lnSpc>
              <a:spcBef>
                <a:spcPct val="0"/>
              </a:spcBef>
              <a:spcAft>
                <a:spcPct val="0"/>
              </a:spcAft>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监管壁垒：</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欧美、香港等资本市场对 ESG、数据安全、信息披露要求严苛，企业暂未达到合规标准</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89065"/>
            <a:ext cx="2515870" cy="368300"/>
          </a:xfrm>
          <a:prstGeom prst="rect">
            <a:avLst/>
          </a:prstGeom>
          <a:noFill/>
        </p:spPr>
        <p:txBody>
          <a:bodyPr wrap="square" rtlCol="0">
            <a:spAutoFit/>
          </a:bodyPr>
          <a:p>
            <a:pPr algn="ctr"/>
            <a:r>
              <a:rPr lang="zh-CN" altLang="en-US">
                <a:solidFill>
                  <a:schemeClr val="tx1"/>
                </a:solidFill>
                <a:latin typeface="汉仪力量黑简" panose="00020600040101010101" charset="-122"/>
                <a:ea typeface="汉仪力量黑简" panose="00020600040101010101" charset="-122"/>
              </a:rPr>
              <a:t>案例与数据</a:t>
            </a:r>
            <a:endParaRPr lang="zh-CN" altLang="en-US">
              <a:solidFill>
                <a:schemeClr val="tx1"/>
              </a:solidFill>
              <a:latin typeface="汉仪力量黑简" panose="00020600040101010101" charset="-122"/>
              <a:ea typeface="汉仪力量黑简" panose="00020600040101010101" charset="-122"/>
            </a:endParaRPr>
          </a:p>
        </p:txBody>
      </p:sp>
      <p:sp>
        <p:nvSpPr>
          <p:cNvPr id="19" name="文本框 18"/>
          <p:cNvSpPr txBox="1"/>
          <p:nvPr/>
        </p:nvSpPr>
        <p:spPr>
          <a:xfrm>
            <a:off x="9439275" y="6396990"/>
            <a:ext cx="2515870" cy="460375"/>
          </a:xfrm>
          <a:prstGeom prst="rect">
            <a:avLst/>
          </a:prstGeom>
          <a:noFill/>
        </p:spPr>
        <p:txBody>
          <a:bodyPr wrap="square" rtlCol="0">
            <a:spAutoFit/>
          </a:bodyPr>
          <a:p>
            <a:pPr algn="ctr">
              <a:buClrTx/>
              <a:buSzTx/>
              <a:buFontTx/>
            </a:pPr>
            <a:r>
              <a:rPr lang="zh-CN" altLang="en-US" sz="2400">
                <a:solidFill>
                  <a:schemeClr val="bg1"/>
                </a:solidFill>
                <a:latin typeface="汉仪力量黑简" panose="00020600040101010101" charset="-122"/>
                <a:ea typeface="汉仪力量黑简" panose="00020600040101010101" charset="-122"/>
              </a:rPr>
              <a:t>趋势分析</a:t>
            </a:r>
            <a:endParaRPr lang="zh-CN" altLang="en-US" sz="2400">
              <a:solidFill>
                <a:schemeClr val="bg1"/>
              </a:solidFill>
              <a:latin typeface="汉仪力量黑简" panose="00020600040101010101" charset="-122"/>
              <a:ea typeface="汉仪力量黑简" panose="00020600040101010101" charset="-122"/>
            </a:endParaRPr>
          </a:p>
        </p:txBody>
      </p:sp>
      <p:pic>
        <p:nvPicPr>
          <p:cNvPr id="24"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19665" y="98972"/>
            <a:ext cx="2825913" cy="597347"/>
          </a:xfrm>
          <a:prstGeom prst="rect">
            <a:avLst/>
          </a:prstGeom>
        </p:spPr>
      </p:pic>
      <p:sp>
        <p:nvSpPr>
          <p:cNvPr id="27" name="文本框 26"/>
          <p:cNvSpPr txBox="1"/>
          <p:nvPr>
            <p:custDataLst>
              <p:tags r:id="rId3"/>
            </p:custDataLst>
          </p:nvPr>
        </p:nvSpPr>
        <p:spPr>
          <a:xfrm>
            <a:off x="156210" y="1403985"/>
            <a:ext cx="11030585" cy="3655695"/>
          </a:xfrm>
          <a:prstGeom prst="rect">
            <a:avLst/>
          </a:prstGeom>
        </p:spPr>
        <p:txBody>
          <a:bodyPr wrap="square">
            <a:noAutofit/>
          </a:bodyPr>
          <a:p>
            <a:r>
              <a:rPr lang="en-US" altLang="zh-CN" sz="1600" b="1" dirty="0">
                <a:solidFill>
                  <a:srgbClr val="FF0000"/>
                </a:solidFill>
                <a:latin typeface="微软雅黑" panose="020B0503020204020204" charset="-122"/>
                <a:ea typeface="微软雅黑" panose="020B0503020204020204" charset="-122"/>
                <a:cs typeface="Open Sans" panose="020B0606030504020204" charset="0"/>
                <a:sym typeface="+mn-ea"/>
              </a:rPr>
              <a:t>深化政企协同治理模式</a:t>
            </a:r>
            <a:endParaRPr lang="en-US" altLang="zh-CN" sz="1600" b="1" dirty="0">
              <a:solidFill>
                <a:srgbClr val="FF0000"/>
              </a:solidFill>
              <a:latin typeface="微软雅黑" panose="020B0503020204020204" charset="-122"/>
              <a:ea typeface="微软雅黑" panose="020B0503020204020204" charset="-122"/>
              <a:cs typeface="Open Sans" panose="020B0606030504020204" charset="0"/>
            </a:endParaRPr>
          </a:p>
          <a:p>
            <a:pPr marL="0" algn="l">
              <a:lnSpc>
                <a:spcPct val="100000"/>
              </a:lnSpc>
              <a:buClrTx/>
              <a:buSzTx/>
              <a:buFontTx/>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marL="0" algn="l">
              <a:lnSpc>
                <a:spcPct val="100000"/>
              </a:lnSpc>
              <a:buClrTx/>
              <a:buSzTx/>
              <a:buFontTx/>
            </a:pP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延续政府与 SHEIN 联合管控的半科层 - 半市场治理体系，依托平台分级规则规范村内上千家生产企业，同时优化城中村空间规划，在不大规模拆迁的前提下完成产业空间升级。</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marL="0" algn="l">
              <a:lnSpc>
                <a:spcPct val="100000"/>
              </a:lnSpc>
              <a:buClrTx/>
              <a:buSzTx/>
              <a:buFontTx/>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algn="l">
              <a:lnSpc>
                <a:spcPct val="100000"/>
              </a:lnSpc>
              <a:buClrTx/>
              <a:buSzTx/>
              <a:buNone/>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sym typeface="+mn-ea"/>
              </a:rPr>
              <a:t>引导产业绿色与数字化转型</a:t>
            </a:r>
            <a:endParaRPr lang="en-US" altLang="zh-CN" sz="1600" b="1" dirty="0">
              <a:solidFill>
                <a:srgbClr val="FF0000"/>
              </a:solidFill>
              <a:latin typeface="微软雅黑" panose="020B0503020204020204" charset="-122"/>
              <a:ea typeface="微软雅黑" panose="020B0503020204020204" charset="-122"/>
              <a:cs typeface="Open Sans" panose="020B0606030504020204" charset="0"/>
            </a:endParaRPr>
          </a:p>
          <a:p>
            <a:pPr marL="0" algn="l">
              <a:lnSpc>
                <a:spcPct val="100000"/>
              </a:lnSpc>
              <a:buClrTx/>
              <a:buSzTx/>
              <a:buNone/>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marL="0" algn="l">
              <a:lnSpc>
                <a:spcPct val="100000"/>
              </a:lnSpc>
              <a:buClrTx/>
              <a:buSzTx/>
              <a:buNone/>
            </a:pP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以 SHEIN 环保印花工艺、柔性供应链为标杆，在区域服装产业内推广绿色生产技术与数字化管理模式，整体提升产业竞争力与合规水平。</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marL="0" algn="l">
              <a:lnSpc>
                <a:spcPct val="100000"/>
              </a:lnSpc>
              <a:buClrTx/>
              <a:buSzTx/>
              <a:buNone/>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marL="0" algn="l">
              <a:lnSpc>
                <a:spcPct val="100000"/>
              </a:lnSpc>
              <a:buClrTx/>
              <a:buSzTx/>
              <a:buNone/>
            </a:pPr>
            <a:r>
              <a:rPr lang="en-US" altLang="zh-CN" sz="1600" b="1" dirty="0">
                <a:solidFill>
                  <a:srgbClr val="FF0000"/>
                </a:solidFill>
                <a:latin typeface="微软雅黑" panose="020B0503020204020204" charset="-122"/>
                <a:ea typeface="微软雅黑" panose="020B0503020204020204" charset="-122"/>
                <a:cs typeface="Open Sans" panose="020B0606030504020204" charset="0"/>
                <a:sym typeface="+mn-ea"/>
              </a:rPr>
              <a:t>完善跨境与合规配套服务</a:t>
            </a:r>
            <a:endParaRPr lang="en-US" altLang="zh-CN" sz="1600" b="1" dirty="0">
              <a:solidFill>
                <a:srgbClr val="FF0000"/>
              </a:solidFill>
              <a:latin typeface="微软雅黑" panose="020B0503020204020204" charset="-122"/>
              <a:ea typeface="微软雅黑" panose="020B0503020204020204" charset="-122"/>
              <a:cs typeface="Open Sans" panose="020B0606030504020204" charset="0"/>
            </a:endParaRPr>
          </a:p>
          <a:p>
            <a:pPr marL="0" algn="l">
              <a:lnSpc>
                <a:spcPct val="100000"/>
              </a:lnSpc>
              <a:buClrTx/>
              <a:buSzTx/>
              <a:buNone/>
            </a:pP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endParaRPr>
          </a:p>
          <a:p>
            <a:pPr marL="0" algn="l">
              <a:lnSpc>
                <a:spcPct val="100000"/>
              </a:lnSpc>
              <a:buClrTx/>
              <a:buSzTx/>
              <a:buNone/>
            </a:pP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sym typeface="+mn-ea"/>
              </a:rPr>
              <a:t>针对全球贸易摩擦、企业上市受阻等问题，优化跨境通关、财税服务，协助企业及上下游厂商补齐海内外合规短板，护航全球化布局。</a:t>
            </a: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sp>
        <p:nvSpPr>
          <p:cNvPr id="28" name="TextBox 9"/>
          <p:cNvSpPr txBox="1"/>
          <p:nvPr/>
        </p:nvSpPr>
        <p:spPr>
          <a:xfrm>
            <a:off x="-23495" y="99060"/>
            <a:ext cx="6941820" cy="829945"/>
          </a:xfrm>
          <a:prstGeom prst="rect">
            <a:avLst/>
          </a:prstGeom>
          <a:noFill/>
        </p:spPr>
        <p:txBody>
          <a:bodyPr wrap="square" rtlCol="0">
            <a:spAutoFit/>
          </a:bodyPr>
          <a:p>
            <a:pPr algn="l"/>
            <a:r>
              <a:rPr lang="zh-CN" altLang="zh-CN" sz="48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地方政府监管者</a:t>
            </a:r>
            <a:r>
              <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视角</a:t>
            </a:r>
            <a:endParaRPr lang="zh-CN" altLang="zh-CN" sz="48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89065"/>
            <a:ext cx="2515870" cy="368300"/>
          </a:xfrm>
          <a:prstGeom prst="rect">
            <a:avLst/>
          </a:prstGeom>
          <a:noFill/>
        </p:spPr>
        <p:txBody>
          <a:bodyPr wrap="square" rtlCol="0">
            <a:spAutoFit/>
          </a:bodyPr>
          <a:p>
            <a:pPr algn="ctr"/>
            <a:r>
              <a:rPr lang="zh-CN" altLang="en-US">
                <a:solidFill>
                  <a:schemeClr val="tx1"/>
                </a:solidFill>
                <a:latin typeface="汉仪力量黑简" panose="00020600040101010101" charset="-122"/>
                <a:ea typeface="汉仪力量黑简" panose="00020600040101010101" charset="-122"/>
              </a:rPr>
              <a:t>案例与数据</a:t>
            </a:r>
            <a:endParaRPr lang="zh-CN" altLang="en-US">
              <a:solidFill>
                <a:schemeClr val="tx1"/>
              </a:solidFill>
              <a:latin typeface="汉仪力量黑简" panose="00020600040101010101" charset="-122"/>
              <a:ea typeface="汉仪力量黑简" panose="00020600040101010101" charset="-122"/>
            </a:endParaRPr>
          </a:p>
        </p:txBody>
      </p:sp>
      <p:sp>
        <p:nvSpPr>
          <p:cNvPr id="19" name="文本框 18"/>
          <p:cNvSpPr txBox="1"/>
          <p:nvPr/>
        </p:nvSpPr>
        <p:spPr>
          <a:xfrm>
            <a:off x="9439275" y="6396990"/>
            <a:ext cx="2515870" cy="460375"/>
          </a:xfrm>
          <a:prstGeom prst="rect">
            <a:avLst/>
          </a:prstGeom>
          <a:noFill/>
        </p:spPr>
        <p:txBody>
          <a:bodyPr wrap="square" rtlCol="0">
            <a:spAutoFit/>
          </a:bodyPr>
          <a:p>
            <a:pPr algn="ctr">
              <a:buClrTx/>
              <a:buSzTx/>
              <a:buFontTx/>
            </a:pPr>
            <a:r>
              <a:rPr lang="zh-CN" altLang="en-US" sz="2400">
                <a:solidFill>
                  <a:schemeClr val="bg1"/>
                </a:solidFill>
                <a:latin typeface="汉仪力量黑简" panose="00020600040101010101" charset="-122"/>
                <a:ea typeface="汉仪力量黑简" panose="00020600040101010101" charset="-122"/>
              </a:rPr>
              <a:t>趋势分析</a:t>
            </a:r>
            <a:endParaRPr lang="zh-CN" altLang="en-US" sz="2400">
              <a:solidFill>
                <a:schemeClr val="bg1"/>
              </a:solidFill>
              <a:latin typeface="汉仪力量黑简" panose="00020600040101010101" charset="-122"/>
              <a:ea typeface="汉仪力量黑简" panose="00020600040101010101" charset="-122"/>
            </a:endParaRPr>
          </a:p>
        </p:txBody>
      </p:sp>
      <p:sp>
        <p:nvSpPr>
          <p:cNvPr id="27" name="TextBox 9"/>
          <p:cNvSpPr txBox="1"/>
          <p:nvPr>
            <p:custDataLst>
              <p:tags r:id="rId1"/>
            </p:custDataLst>
          </p:nvPr>
        </p:nvSpPr>
        <p:spPr>
          <a:xfrm>
            <a:off x="107315" y="144145"/>
            <a:ext cx="6382385" cy="645160"/>
          </a:xfrm>
          <a:prstGeom prst="rect">
            <a:avLst/>
          </a:prstGeom>
          <a:noFill/>
        </p:spPr>
        <p:txBody>
          <a:bodyPr wrap="square" rtlCol="0">
            <a:spAutoFit/>
          </a:bodyPr>
          <a:p>
            <a:pPr algn="l"/>
            <a:r>
              <a:rPr lang="zh-CN" altLang="zh-CN" sz="36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创业者</a:t>
            </a:r>
            <a:r>
              <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视角</a:t>
            </a:r>
            <a:endPar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24" name="文本框 23"/>
          <p:cNvSpPr txBox="1"/>
          <p:nvPr>
            <p:custDataLst>
              <p:tags r:id="rId2"/>
            </p:custDataLst>
          </p:nvPr>
        </p:nvSpPr>
        <p:spPr>
          <a:xfrm>
            <a:off x="66040" y="1443990"/>
            <a:ext cx="12491720" cy="4160520"/>
          </a:xfrm>
          <a:prstGeom prst="rect">
            <a:avLst/>
          </a:prstGeom>
        </p:spPr>
        <p:txBody>
          <a:bodyPr wrap="square">
            <a:noAutofit/>
          </a:bodyPr>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重塑供应链，前置合规与 </a:t>
            </a: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ESG </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布局</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摒弃纯作坊式集群模式，搭建标准化柔性供应链，统一生产、环保、用工规范，从源头规避合规风险。</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平衡规模与盈利，稳定财务基本面</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拒绝盲目低价扩张，优化盈利结构，平滑利润波动，夯实长期经营与资本运作基础。</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稳健全球化，主动适配海外监管</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分步拓展海外市场，提前对接各地贸易、数据、劳工法规，降低地缘与监管壁垒。。</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pic>
        <p:nvPicPr>
          <p:cNvPr id="28" name="图形 1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46335" y="98972"/>
            <a:ext cx="2825913" cy="5973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89065"/>
            <a:ext cx="2515870" cy="368300"/>
          </a:xfrm>
          <a:prstGeom prst="rect">
            <a:avLst/>
          </a:prstGeom>
          <a:noFill/>
        </p:spPr>
        <p:txBody>
          <a:bodyPr wrap="square" rtlCol="0">
            <a:spAutoFit/>
          </a:bodyPr>
          <a:p>
            <a:pPr algn="ctr"/>
            <a:r>
              <a:rPr lang="zh-CN" altLang="en-US">
                <a:solidFill>
                  <a:schemeClr val="tx1"/>
                </a:solidFill>
                <a:latin typeface="汉仪力量黑简" panose="00020600040101010101" charset="-122"/>
                <a:ea typeface="汉仪力量黑简" panose="00020600040101010101" charset="-122"/>
              </a:rPr>
              <a:t>案例与数据</a:t>
            </a:r>
            <a:endParaRPr lang="zh-CN" altLang="en-US">
              <a:solidFill>
                <a:schemeClr val="tx1"/>
              </a:solidFill>
              <a:latin typeface="汉仪力量黑简" panose="00020600040101010101" charset="-122"/>
              <a:ea typeface="汉仪力量黑简" panose="00020600040101010101" charset="-122"/>
            </a:endParaRPr>
          </a:p>
        </p:txBody>
      </p:sp>
      <p:sp>
        <p:nvSpPr>
          <p:cNvPr id="19" name="文本框 18"/>
          <p:cNvSpPr txBox="1"/>
          <p:nvPr/>
        </p:nvSpPr>
        <p:spPr>
          <a:xfrm>
            <a:off x="9439275" y="6396990"/>
            <a:ext cx="2515870" cy="460375"/>
          </a:xfrm>
          <a:prstGeom prst="rect">
            <a:avLst/>
          </a:prstGeom>
          <a:noFill/>
        </p:spPr>
        <p:txBody>
          <a:bodyPr wrap="square" rtlCol="0">
            <a:spAutoFit/>
          </a:bodyPr>
          <a:p>
            <a:pPr algn="ctr">
              <a:buClrTx/>
              <a:buSzTx/>
              <a:buFontTx/>
            </a:pPr>
            <a:r>
              <a:rPr lang="zh-CN" altLang="en-US" sz="2400">
                <a:solidFill>
                  <a:schemeClr val="bg1"/>
                </a:solidFill>
                <a:latin typeface="汉仪力量黑简" panose="00020600040101010101" charset="-122"/>
                <a:ea typeface="汉仪力量黑简" panose="00020600040101010101" charset="-122"/>
              </a:rPr>
              <a:t>趋势分析</a:t>
            </a:r>
            <a:endParaRPr lang="zh-CN" altLang="en-US" sz="2400">
              <a:solidFill>
                <a:schemeClr val="bg1"/>
              </a:solidFill>
              <a:latin typeface="汉仪力量黑简" panose="00020600040101010101" charset="-122"/>
              <a:ea typeface="汉仪力量黑简" panose="00020600040101010101" charset="-122"/>
            </a:endParaRPr>
          </a:p>
        </p:txBody>
      </p:sp>
      <p:sp>
        <p:nvSpPr>
          <p:cNvPr id="24" name="文本框 23"/>
          <p:cNvSpPr txBox="1"/>
          <p:nvPr/>
        </p:nvSpPr>
        <p:spPr>
          <a:xfrm>
            <a:off x="66040" y="99060"/>
            <a:ext cx="6096000" cy="645160"/>
          </a:xfrm>
          <a:prstGeom prst="rect">
            <a:avLst/>
          </a:prstGeom>
          <a:noFill/>
        </p:spPr>
        <p:txBody>
          <a:bodyPr wrap="square" rtlCol="0" anchor="t">
            <a:spAutoFit/>
          </a:bodyPr>
          <a:p>
            <a:pPr algn="l"/>
            <a:r>
              <a:rPr lang="zh-CN" altLang="zh-CN" sz="3600" b="1" spc="600" dirty="0" smtClean="0">
                <a:solidFill>
                  <a:srgbClr val="FF0000"/>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投资者</a:t>
            </a:r>
            <a:r>
              <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rPr>
              <a:t>视角</a:t>
            </a:r>
            <a:endParaRPr lang="zh-CN" altLang="zh-CN" sz="3600" b="1" spc="600" dirty="0" smtClean="0">
              <a:solidFill>
                <a:schemeClr val="tx1"/>
              </a:solidFill>
              <a:latin typeface="方正明尚简体" panose="02000000000000000000" charset="-122"/>
              <a:ea typeface="方正明尚简体" panose="02000000000000000000" charset="-122"/>
              <a:cs typeface="Montserrat" panose="00000500000000000000" pitchFamily="50" charset="0"/>
              <a:sym typeface="方正明尚简体" panose="02000000000000000000" charset="-122"/>
            </a:endParaRPr>
          </a:p>
        </p:txBody>
      </p:sp>
      <p:sp>
        <p:nvSpPr>
          <p:cNvPr id="27" name="文本框 26"/>
          <p:cNvSpPr txBox="1"/>
          <p:nvPr/>
        </p:nvSpPr>
        <p:spPr>
          <a:xfrm>
            <a:off x="245745" y="819150"/>
            <a:ext cx="11581130" cy="5077460"/>
          </a:xfrm>
          <a:prstGeom prst="rect">
            <a:avLst/>
          </a:prstGeom>
        </p:spPr>
        <p:txBody>
          <a:bodyPr>
            <a:noAutofit/>
          </a:bodyPr>
          <a:p>
            <a:pPr marL="0" indent="0" algn="l">
              <a:lnSpc>
                <a:spcPts val="1440"/>
              </a:lnSpc>
              <a:spcBef>
                <a:spcPct val="0"/>
              </a:spcBef>
              <a:spcAft>
                <a:spcPct val="0"/>
              </a:spcAft>
            </a:pPr>
            <a:endParaRPr lang="zh-CN" altLang="en-US" sz="1600" b="0">
              <a:solidFill>
                <a:srgbClr val="000000"/>
              </a:solidFill>
            </a:endParaRPr>
          </a:p>
        </p:txBody>
      </p:sp>
      <p:sp>
        <p:nvSpPr>
          <p:cNvPr id="28" name="文本框 27"/>
          <p:cNvSpPr txBox="1"/>
          <p:nvPr>
            <p:custDataLst>
              <p:tags r:id="rId1"/>
            </p:custDataLst>
          </p:nvPr>
        </p:nvSpPr>
        <p:spPr>
          <a:xfrm>
            <a:off x="156210" y="2214245"/>
            <a:ext cx="11030585" cy="2995930"/>
          </a:xfrm>
          <a:prstGeom prst="rect">
            <a:avLst/>
          </a:prstGeom>
        </p:spPr>
        <p:txBody>
          <a:bodyPr wrap="square">
            <a:noAutofit/>
          </a:bodyPr>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理性看待估值与上市风险</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SHEIN </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多次海外上市遇阻、市值波动明显，需正视资本市场退出不确定性，避免盲目重仓。</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重点跟踪供应链升级成效</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将供应链 3.0 改造、海外本地化布局作为核心研判依据，两大战略是企业未来增长的关键，需持续跟进落地进度。</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分散投资降低风险</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不单一押注 </a:t>
            </a:r>
            <a:r>
              <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SHEIN </a:t>
            </a:r>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主体，可分层布局希音村头部工厂、跨境物流、海外配套项目等上下游业态，对冲单一标的风险。</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p:txBody>
      </p:sp>
      <p:pic>
        <p:nvPicPr>
          <p:cNvPr id="29" name="图形 1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90785" y="144057"/>
            <a:ext cx="2825913" cy="5973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3" name="图形 17"/>
          <p:cNvPicPr>
            <a:picLocks noChangeAspect="1"/>
          </p:cNvPicPr>
          <p:nvPr/>
        </p:nvPicPr>
        <p:blipFill>
          <a:blip/>
          <a:stretch>
            <a:fillRect/>
          </a:stretch>
        </p:blipFill>
        <p:spPr>
          <a:xfrm>
            <a:off x="9290785" y="53887"/>
            <a:ext cx="2825913" cy="597347"/>
          </a:xfrm>
          <a:prstGeom prst="rect">
            <a:avLst/>
          </a:prstGeom>
        </p:spPr>
      </p:pic>
      <p:grpSp>
        <p:nvGrpSpPr>
          <p:cNvPr id="11" name="组合 10"/>
          <p:cNvGrpSpPr/>
          <p:nvPr/>
        </p:nvGrpSpPr>
        <p:grpSpPr>
          <a:xfrm>
            <a:off x="-10795" y="6437630"/>
            <a:ext cx="12202160" cy="420370"/>
            <a:chOff x="-17" y="8816"/>
            <a:chExt cx="19251" cy="1984"/>
          </a:xfrm>
        </p:grpSpPr>
        <p:sp>
          <p:nvSpPr>
            <p:cNvPr id="12" name="流程图: 过程 11"/>
            <p:cNvSpPr/>
            <p:nvPr/>
          </p:nvSpPr>
          <p:spPr>
            <a:xfrm>
              <a:off x="-17" y="8816"/>
              <a:ext cx="4731"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3" name="流程图: 过程 12"/>
            <p:cNvSpPr/>
            <p:nvPr/>
          </p:nvSpPr>
          <p:spPr>
            <a:xfrm>
              <a:off x="4697" y="8816"/>
              <a:ext cx="4920"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4" name="流程图: 过程 13"/>
            <p:cNvSpPr/>
            <p:nvPr/>
          </p:nvSpPr>
          <p:spPr>
            <a:xfrm>
              <a:off x="9617" y="8816"/>
              <a:ext cx="4715" cy="1984"/>
            </a:xfrm>
            <a:prstGeom prst="flowChartProcess">
              <a:avLst/>
            </a:prstGeom>
            <a:solidFill>
              <a:schemeClr val="bg1"/>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5" name="流程图: 过程 14"/>
            <p:cNvSpPr/>
            <p:nvPr/>
          </p:nvSpPr>
          <p:spPr>
            <a:xfrm>
              <a:off x="14314" y="8816"/>
              <a:ext cx="4920" cy="1984"/>
            </a:xfrm>
            <a:prstGeom prst="flowChartProcess">
              <a:avLst/>
            </a:prstGeom>
            <a:solidFill>
              <a:srgbClr val="FF0000"/>
            </a:solidFill>
            <a:ln>
              <a:solidFill>
                <a:schemeClr val="tx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grpSp>
      <p:sp>
        <p:nvSpPr>
          <p:cNvPr id="16" name="文本框 15"/>
          <p:cNvSpPr txBox="1"/>
          <p:nvPr/>
        </p:nvSpPr>
        <p:spPr>
          <a:xfrm>
            <a:off x="177165" y="6489700"/>
            <a:ext cx="2515870" cy="368300"/>
          </a:xfrm>
          <a:prstGeom prst="rect">
            <a:avLst/>
          </a:prstGeom>
          <a:noFill/>
        </p:spPr>
        <p:txBody>
          <a:bodyPr wrap="square" rtlCol="0">
            <a:spAutoFit/>
          </a:bodyPr>
          <a:p>
            <a:pPr algn="ctr">
              <a:buClrTx/>
              <a:buSzTx/>
              <a:buFontTx/>
            </a:pPr>
            <a:r>
              <a:rPr lang="zh-CN" altLang="en-US" sz="1800">
                <a:latin typeface="汉仪力量黑简" panose="00020600040101010101" charset="-122"/>
                <a:ea typeface="汉仪力量黑简" panose="00020600040101010101" charset="-122"/>
              </a:rPr>
              <a:t>学术层面</a:t>
            </a:r>
            <a:endParaRPr lang="zh-CN" altLang="en-US" sz="1800">
              <a:latin typeface="汉仪力量黑简" panose="00020600040101010101" charset="-122"/>
              <a:ea typeface="汉仪力量黑简" panose="00020600040101010101" charset="-122"/>
            </a:endParaRPr>
          </a:p>
        </p:txBody>
      </p:sp>
      <p:sp>
        <p:nvSpPr>
          <p:cNvPr id="17" name="文本框 16"/>
          <p:cNvSpPr txBox="1"/>
          <p:nvPr/>
        </p:nvSpPr>
        <p:spPr>
          <a:xfrm>
            <a:off x="3213735" y="6489065"/>
            <a:ext cx="2515870" cy="368300"/>
          </a:xfrm>
          <a:prstGeom prst="rect">
            <a:avLst/>
          </a:prstGeom>
          <a:solidFill>
            <a:schemeClr val="bg1"/>
          </a:solidFill>
        </p:spPr>
        <p:txBody>
          <a:bodyPr wrap="square" rtlCol="0">
            <a:spAutoFit/>
          </a:bodyPr>
          <a:p>
            <a:pPr algn="ctr"/>
            <a:r>
              <a:rPr lang="zh-CN" altLang="en-US">
                <a:latin typeface="汉仪力量黑简" panose="00020600040101010101" charset="-122"/>
                <a:ea typeface="汉仪力量黑简" panose="00020600040101010101" charset="-122"/>
              </a:rPr>
              <a:t>现实层面</a:t>
            </a:r>
            <a:endParaRPr lang="zh-CN" altLang="en-US">
              <a:latin typeface="汉仪力量黑简" panose="00020600040101010101" charset="-122"/>
              <a:ea typeface="汉仪力量黑简" panose="00020600040101010101" charset="-122"/>
            </a:endParaRPr>
          </a:p>
        </p:txBody>
      </p:sp>
      <p:sp>
        <p:nvSpPr>
          <p:cNvPr id="18" name="文本框 17"/>
          <p:cNvSpPr txBox="1"/>
          <p:nvPr/>
        </p:nvSpPr>
        <p:spPr>
          <a:xfrm>
            <a:off x="6326505" y="6489065"/>
            <a:ext cx="2515870" cy="368300"/>
          </a:xfrm>
          <a:prstGeom prst="rect">
            <a:avLst/>
          </a:prstGeom>
          <a:noFill/>
        </p:spPr>
        <p:txBody>
          <a:bodyPr wrap="square" rtlCol="0">
            <a:spAutoFit/>
          </a:bodyPr>
          <a:p>
            <a:pPr algn="ctr"/>
            <a:r>
              <a:rPr lang="zh-CN" altLang="en-US">
                <a:solidFill>
                  <a:schemeClr val="tx1"/>
                </a:solidFill>
                <a:latin typeface="汉仪力量黑简" panose="00020600040101010101" charset="-122"/>
                <a:ea typeface="汉仪力量黑简" panose="00020600040101010101" charset="-122"/>
              </a:rPr>
              <a:t>案例与数据</a:t>
            </a:r>
            <a:endParaRPr lang="zh-CN" altLang="en-US">
              <a:solidFill>
                <a:schemeClr val="tx1"/>
              </a:solidFill>
              <a:latin typeface="汉仪力量黑简" panose="00020600040101010101" charset="-122"/>
              <a:ea typeface="汉仪力量黑简" panose="00020600040101010101" charset="-122"/>
            </a:endParaRPr>
          </a:p>
        </p:txBody>
      </p:sp>
      <p:sp>
        <p:nvSpPr>
          <p:cNvPr id="19" name="文本框 18"/>
          <p:cNvSpPr txBox="1"/>
          <p:nvPr/>
        </p:nvSpPr>
        <p:spPr>
          <a:xfrm>
            <a:off x="9439275" y="6396990"/>
            <a:ext cx="2515870" cy="460375"/>
          </a:xfrm>
          <a:prstGeom prst="rect">
            <a:avLst/>
          </a:prstGeom>
          <a:noFill/>
        </p:spPr>
        <p:txBody>
          <a:bodyPr wrap="square" rtlCol="0">
            <a:spAutoFit/>
          </a:bodyPr>
          <a:p>
            <a:pPr algn="ctr">
              <a:buClrTx/>
              <a:buSzTx/>
              <a:buFontTx/>
            </a:pPr>
            <a:r>
              <a:rPr lang="zh-CN" altLang="en-US" sz="2400">
                <a:solidFill>
                  <a:schemeClr val="bg1"/>
                </a:solidFill>
                <a:latin typeface="汉仪力量黑简" panose="00020600040101010101" charset="-122"/>
                <a:ea typeface="汉仪力量黑简" panose="00020600040101010101" charset="-122"/>
              </a:rPr>
              <a:t>趋势分析</a:t>
            </a:r>
            <a:endParaRPr lang="zh-CN" altLang="en-US" sz="2400">
              <a:solidFill>
                <a:schemeClr val="bg1"/>
              </a:solidFill>
              <a:latin typeface="汉仪力量黑简" panose="00020600040101010101" charset="-122"/>
              <a:ea typeface="汉仪力量黑简" panose="00020600040101010101" charset="-122"/>
            </a:endParaRPr>
          </a:p>
        </p:txBody>
      </p:sp>
      <p:sp>
        <p:nvSpPr>
          <p:cNvPr id="27" name="文本框 26"/>
          <p:cNvSpPr txBox="1"/>
          <p:nvPr/>
        </p:nvSpPr>
        <p:spPr>
          <a:xfrm>
            <a:off x="305435" y="890270"/>
            <a:ext cx="11581130" cy="5077460"/>
          </a:xfrm>
          <a:prstGeom prst="rect">
            <a:avLst/>
          </a:prstGeom>
        </p:spPr>
        <p:txBody>
          <a:bodyPr>
            <a:noAutofit/>
          </a:bodyPr>
          <a:p>
            <a:pPr marL="0" indent="0" algn="l">
              <a:lnSpc>
                <a:spcPts val="1440"/>
              </a:lnSpc>
              <a:spcBef>
                <a:spcPct val="0"/>
              </a:spcBef>
              <a:spcAft>
                <a:spcPct val="0"/>
              </a:spcAft>
            </a:pPr>
            <a:endParaRPr lang="zh-CN" altLang="en-US" sz="1600" b="0">
              <a:solidFill>
                <a:srgbClr val="000000"/>
              </a:solidFill>
            </a:endParaRPr>
          </a:p>
        </p:txBody>
      </p:sp>
      <p:sp>
        <p:nvSpPr>
          <p:cNvPr id="28" name="文本框 27"/>
          <p:cNvSpPr txBox="1"/>
          <p:nvPr>
            <p:custDataLst>
              <p:tags r:id="rId1"/>
            </p:custDataLst>
          </p:nvPr>
        </p:nvSpPr>
        <p:spPr>
          <a:xfrm>
            <a:off x="2090420" y="2664460"/>
            <a:ext cx="8502650" cy="1201420"/>
          </a:xfrm>
          <a:prstGeom prst="rect">
            <a:avLst/>
          </a:prstGeom>
        </p:spPr>
        <p:txBody>
          <a:bodyPr wrap="square">
            <a:noAutofit/>
          </a:bodyPr>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在城中村，做生意和做人是一回事；信任不是靠合同，是靠天天见面、互相帮衬磨出来的。</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r>
              <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rPr>
              <a:t>我们今天失去的，正是城中村最珍贵的：在“附近”里，面对面建立真实关系的能力。</a:t>
            </a:r>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endParaRPr lang="zh-CN" altLang="en-US"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algn="r"/>
            <a:endParaRPr lang="en-US" altLang="zh-CN" sz="1600" b="1" dirty="0">
              <a:solidFill>
                <a:schemeClr val="tx1">
                  <a:lumMod val="75000"/>
                  <a:lumOff val="25000"/>
                </a:schemeClr>
              </a:solidFill>
              <a:latin typeface="微软雅黑" panose="020B0503020204020204" charset="-122"/>
              <a:ea typeface="微软雅黑" panose="020B0503020204020204" charset="-122"/>
              <a:cs typeface="Open Sans" panose="020B0606030504020204" charset="0"/>
            </a:endParaRPr>
          </a:p>
          <a:p>
            <a:pPr algn="r"/>
            <a:r>
              <a:rPr lang="en-US" altLang="zh-CN" sz="1600" b="1" dirty="0">
                <a:solidFill>
                  <a:srgbClr val="FF0000"/>
                </a:solidFill>
                <a:latin typeface="微软雅黑" panose="020B0503020204020204" charset="-122"/>
                <a:ea typeface="微软雅黑" panose="020B0503020204020204" charset="-122"/>
                <a:cs typeface="Open Sans" panose="020B0606030504020204" charset="0"/>
              </a:rPr>
              <a:t>——</a:t>
            </a:r>
            <a:r>
              <a:rPr lang="zh-CN" altLang="en-US" sz="1600" b="1" dirty="0">
                <a:solidFill>
                  <a:srgbClr val="FF0000"/>
                </a:solidFill>
                <a:latin typeface="微软雅黑" panose="020B0503020204020204" charset="-122"/>
                <a:ea typeface="微软雅黑" panose="020B0503020204020204" charset="-122"/>
                <a:cs typeface="Open Sans" panose="020B0606030504020204" charset="0"/>
              </a:rPr>
              <a:t>项飙《浙江村：跨越边界的社区》</a:t>
            </a:r>
            <a:endParaRPr lang="zh-CN" altLang="en-US" sz="1600" b="1" dirty="0">
              <a:solidFill>
                <a:srgbClr val="FF0000"/>
              </a:solidFill>
              <a:latin typeface="微软雅黑" panose="020B0503020204020204" charset="-122"/>
              <a:ea typeface="微软雅黑" panose="020B0503020204020204" charset="-122"/>
              <a:cs typeface="Open Sans" panose="020B0606030504020204" charset="0"/>
            </a:endParaRPr>
          </a:p>
        </p:txBody>
      </p:sp>
      <p:pic>
        <p:nvPicPr>
          <p:cNvPr id="29" name="图形 17"/>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245700" y="53887"/>
            <a:ext cx="2825913" cy="5973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0000"/>
        </a:solidFill>
        <a:effectLst/>
      </p:bgPr>
    </p:bg>
    <p:spTree>
      <p:nvGrpSpPr>
        <p:cNvPr id="1" name=""/>
        <p:cNvGrpSpPr/>
        <p:nvPr/>
      </p:nvGrpSpPr>
      <p:grpSpPr>
        <a:xfrm>
          <a:off x="0" y="0"/>
          <a:ext cx="0" cy="0"/>
          <a:chOff x="0" y="0"/>
          <a:chExt cx="0" cy="0"/>
        </a:xfrm>
      </p:grpSpPr>
      <p:sp>
        <p:nvSpPr>
          <p:cNvPr id="2" name="文本框 1"/>
          <p:cNvSpPr txBox="1"/>
          <p:nvPr/>
        </p:nvSpPr>
        <p:spPr>
          <a:xfrm>
            <a:off x="3441065" y="2126615"/>
            <a:ext cx="5215255" cy="2372360"/>
          </a:xfrm>
          <a:prstGeom prst="rect">
            <a:avLst/>
          </a:prstGeom>
          <a:noFill/>
        </p:spPr>
        <p:txBody>
          <a:bodyPr wrap="square" rtlCol="0">
            <a:noAutofit/>
          </a:bodyPr>
          <a:p>
            <a:r>
              <a:rPr lang="en-US" altLang="zh-CN" sz="16600" b="1">
                <a:solidFill>
                  <a:schemeClr val="bg1"/>
                </a:solidFill>
                <a:latin typeface="Ink Free" panose="03080402000500000000" charset="0"/>
                <a:cs typeface="Ink Free" panose="03080402000500000000" charset="0"/>
              </a:rPr>
              <a:t>Q</a:t>
            </a:r>
            <a:r>
              <a:rPr lang="zh-CN" altLang="en-US" sz="16600" b="1">
                <a:solidFill>
                  <a:schemeClr val="bg1"/>
                </a:solidFill>
                <a:latin typeface="Ink Free" panose="03080402000500000000" charset="0"/>
                <a:cs typeface="Ink Free" panose="03080402000500000000" charset="0"/>
              </a:rPr>
              <a:t>＆</a:t>
            </a:r>
            <a:r>
              <a:rPr lang="en-US" altLang="zh-CN" sz="16600" b="1">
                <a:solidFill>
                  <a:schemeClr val="bg1"/>
                </a:solidFill>
                <a:latin typeface="Ink Free" panose="03080402000500000000" charset="0"/>
                <a:cs typeface="Ink Free" panose="03080402000500000000" charset="0"/>
              </a:rPr>
              <a:t>A</a:t>
            </a:r>
            <a:endParaRPr lang="en-US" altLang="zh-CN" sz="16600" b="1">
              <a:solidFill>
                <a:schemeClr val="bg1"/>
              </a:solidFill>
              <a:latin typeface="Ink Free" panose="03080402000500000000" charset="0"/>
              <a:cs typeface="Ink Free" panose="03080402000500000000" charset="0"/>
            </a:endParaRPr>
          </a:p>
        </p:txBody>
      </p:sp>
      <p:pic>
        <p:nvPicPr>
          <p:cNvPr id="3" name="图形 1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9201250" y="144057"/>
            <a:ext cx="2825913" cy="597347"/>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tags/tag1.xml><?xml version="1.0" encoding="utf-8"?>
<p:tagLst xmlns:p="http://schemas.openxmlformats.org/presentationml/2006/main">
  <p:tag name="KSO_WM_DIAGRAM_VIRTUALLY_FRAME" val="{&quot;height&quot;:152.3,&quot;left&quot;:30.05,&quot;top&quot;:105.75,&quot;width&quot;:844.6}"/>
</p:tagLst>
</file>

<file path=ppt/tags/tag2.xml><?xml version="1.0" encoding="utf-8"?>
<p:tagLst xmlns:p="http://schemas.openxmlformats.org/presentationml/2006/main">
  <p:tag name="KSO_WM_DIAGRAM_VIRTUALLY_FRAME" val="{&quot;height&quot;:152.3,&quot;left&quot;:30.05,&quot;top&quot;:105.75,&quot;width&quot;:844.6}"/>
</p:tagLst>
</file>

<file path=ppt/tags/tag3.xml><?xml version="1.0" encoding="utf-8"?>
<p:tagLst xmlns:p="http://schemas.openxmlformats.org/presentationml/2006/main">
  <p:tag name="KSO_WM_DIAGRAM_VIRTUALLY_FRAME" val="{&quot;height&quot;:152.3,&quot;left&quot;:30.05,&quot;top&quot;:105.75,&quot;width&quot;:844.6}"/>
</p:tagLst>
</file>

<file path=ppt/tags/tag4.xml><?xml version="1.0" encoding="utf-8"?>
<p:tagLst xmlns:p="http://schemas.openxmlformats.org/presentationml/2006/main">
  <p:tag name="KSO_WM_DIAGRAM_VIRTUALLY_FRAME" val="{&quot;height&quot;:152.3,&quot;left&quot;:30.05,&quot;top&quot;:105.75,&quot;width&quot;:844.6}"/>
</p:tagLst>
</file>

<file path=ppt/tags/tag5.xml><?xml version="1.0" encoding="utf-8"?>
<p:tagLst xmlns:p="http://schemas.openxmlformats.org/presentationml/2006/main">
  <p:tag name="KSO_WM_DIAGRAM_VIRTUALLY_FRAME" val="{&quot;height&quot;:152.3,&quot;left&quot;:30.05,&quot;top&quot;:105.75,&quot;width&quot;:844.6}"/>
</p:tagLst>
</file>

<file path=ppt/tags/tag6.xml><?xml version="1.0" encoding="utf-8"?>
<p:tagLst xmlns:p="http://schemas.openxmlformats.org/presentationml/2006/main">
  <p:tag name="KSO_WM_DIAGRAM_VIRTUALLY_FRAME" val="{&quot;height&quot;:285.05,&quot;left&quot;:26.45,&quot;top&quot;:50.3,&quot;width&quot;:844.6}"/>
</p:tagLst>
</file>

<file path=ppt/tags/tag7.xml><?xml version="1.0" encoding="utf-8"?>
<p:tagLst xmlns:p="http://schemas.openxmlformats.org/presentationml/2006/main">
  <p:tag name="KSO_WM_DIAGRAM_VIRTUALLY_FRAME" val="{&quot;height&quot;:422.1,&quot;left&quot;:26.45,&quot;top&quot;:50.3,&quot;width&quot;:844.6}"/>
</p:tagLst>
</file>

<file path=ppt/tags/tag8.xml><?xml version="1.0" encoding="utf-8"?>
<p:tagLst xmlns:p="http://schemas.openxmlformats.org/presentationml/2006/main">
  <p:tag name="KSO_WM_DIAGRAM_VIRTUALLY_FRAME" val="{&quot;height&quot;:422.1,&quot;left&quot;:26.45,&quot;top&quot;:50.3,&quot;width&quot;:844.6}"/>
</p:tagLst>
</file>

<file path=ppt/tags/tag9.xml><?xml version="1.0" encoding="utf-8"?>
<p:tagLst xmlns:p="http://schemas.openxmlformats.org/presentationml/2006/main">
  <p:tag name="KSO_WM_DIAGRAM_VIRTUALLY_FRAME" val="{&quot;height&quot;:422.1,&quot;left&quot;:26.45,&quot;top&quot;:50.3,&quot;width&quot;:844.6}"/>
</p:tagLst>
</file>

<file path=ppt/tags/tag10.xml><?xml version="1.0" encoding="utf-8"?>
<p:tagLst xmlns:p="http://schemas.openxmlformats.org/presentationml/2006/main">
  <p:tag name="KSO_WM_DIAGRAM_VIRTUALLY_FRAME" val="{&quot;height&quot;:422.1,&quot;left&quot;:26.45,&quot;top&quot;:50.3,&quot;width&quot;:844.6}"/>
</p:tagLst>
</file>

<file path=ppt/tags/tag11.xml><?xml version="1.0" encoding="utf-8"?>
<p:tagLst xmlns:p="http://schemas.openxmlformats.org/presentationml/2006/main">
  <p:tag name="KSO_WM_DIAGRAM_VIRTUALLY_FRAME" val="{&quot;height&quot;:422.1,&quot;left&quot;:26.45,&quot;top&quot;:50.3,&quot;width&quot;:844.6}"/>
</p:tagLst>
</file>

<file path=ppt/tags/tag12.xml><?xml version="1.0" encoding="utf-8"?>
<p:tagLst xmlns:p="http://schemas.openxmlformats.org/presentationml/2006/main">
  <p:tag name="KSO_WM_DIAGRAM_VIRTUALLY_FRAME" val="{&quot;height&quot;:422.1,&quot;left&quot;:26.45,&quot;top&quot;:50.3,&quot;width&quot;:844.6}"/>
</p:tagLst>
</file>

<file path=ppt/tags/tag13.xml><?xml version="1.0" encoding="utf-8"?>
<p:tagLst xmlns:p="http://schemas.openxmlformats.org/presentationml/2006/main">
  <p:tag name="KSO_WM_DIAGRAM_VIRTUALLY_FRAME" val="{&quot;height&quot;:285.05,&quot;left&quot;:26.45,&quot;top&quot;:50.3,&quot;width&quot;:844.6}"/>
</p:tagLst>
</file>

<file path=ppt/tags/tag14.xml><?xml version="1.0" encoding="utf-8"?>
<p:tagLst xmlns:p="http://schemas.openxmlformats.org/presentationml/2006/main">
  <p:tag name="KSO_WM_DIAGRAM_VIRTUALLY_FRAME" val="{&quot;height&quot;:285.05,&quot;left&quot;:26.45,&quot;top&quot;:50.3,&quot;width&quot;:844.6}"/>
</p:tagLst>
</file>

<file path=ppt/tags/tag15.xml><?xml version="1.0" encoding="utf-8"?>
<p:tagLst xmlns:p="http://schemas.openxmlformats.org/presentationml/2006/main">
  <p:tag name="KSO_WM_DIAGRAM_VIRTUALLY_FRAME" val="{&quot;height&quot;:402.7,&quot;left&quot;:26.45,&quot;top&quot;:50.3,&quot;width&quot;:844.6}"/>
</p:tagLst>
</file>

<file path=ppt/tags/tag16.xml><?xml version="1.0" encoding="utf-8"?>
<p:tagLst xmlns:p="http://schemas.openxmlformats.org/presentationml/2006/main">
  <p:tag name="KSO_WM_DIAGRAM_VIRTUALLY_FRAME" val="{&quot;height&quot;:402.7,&quot;left&quot;:26.45,&quot;top&quot;:50.3,&quot;width&quot;:844.6}"/>
</p:tagLst>
</file>

<file path=ppt/tags/tag17.xml><?xml version="1.0" encoding="utf-8"?>
<p:tagLst xmlns:p="http://schemas.openxmlformats.org/presentationml/2006/main">
  <p:tag name="KSO_WM_DIAGRAM_VIRTUALLY_FRAME" val="{&quot;height&quot;:285.05,&quot;left&quot;:26.45,&quot;top&quot;:50.3,&quot;width&quot;:844.6}"/>
</p:tagLst>
</file>

<file path=ppt/tags/tag18.xml><?xml version="1.0" encoding="utf-8"?>
<p:tagLst xmlns:p="http://schemas.openxmlformats.org/presentationml/2006/main">
  <p:tag name="KSO_WM_DIAGRAM_VIRTUALLY_FRAME" val="{&quot;height&quot;:115,&quot;left&quot;:19.35,&quot;top&quot;:167.25,&quot;width&quot;:305.9}"/>
</p:tagLst>
</file>

<file path=ppt/tags/tag19.xml><?xml version="1.0" encoding="utf-8"?>
<p:tagLst xmlns:p="http://schemas.openxmlformats.org/presentationml/2006/main">
  <p:tag name="KSO_WM_DIAGRAM_VIRTUALLY_FRAME" val="{&quot;height&quot;:115,&quot;left&quot;:19.35,&quot;top&quot;:167.25,&quot;width&quot;:305.9}"/>
</p:tagLst>
</file>

<file path=ppt/tags/tag20.xml><?xml version="1.0" encoding="utf-8"?>
<p:tagLst xmlns:p="http://schemas.openxmlformats.org/presentationml/2006/main">
  <p:tag name="KSO_WM_DIAGRAM_VIRTUALLY_FRAME" val="{&quot;height&quot;:115,&quot;left&quot;:19.35,&quot;top&quot;:167.25,&quot;width&quot;:305.9}"/>
</p:tagLst>
</file>

<file path=ppt/tags/tag21.xml><?xml version="1.0" encoding="utf-8"?>
<p:tagLst xmlns:p="http://schemas.openxmlformats.org/presentationml/2006/main">
  <p:tag name="KSO_WM_DIAGRAM_VIRTUALLY_FRAME" val="{&quot;height&quot;:115,&quot;left&quot;:19.35,&quot;top&quot;:167.25,&quot;width&quot;:305.9}"/>
</p:tagLst>
</file>

<file path=ppt/tags/tag22.xml><?xml version="1.0" encoding="utf-8"?>
<p:tagLst xmlns:p="http://schemas.openxmlformats.org/presentationml/2006/main">
  <p:tag name="KSO_WM_DIAGRAM_VIRTUALLY_FRAME" val="{&quot;height&quot;:113.1,&quot;left&quot;:19.35,&quot;top&quot;:169.15,&quot;width&quot;:305.9}"/>
</p:tagLst>
</file>

<file path=ppt/tags/tag23.xml><?xml version="1.0" encoding="utf-8"?>
<p:tagLst xmlns:p="http://schemas.openxmlformats.org/presentationml/2006/main">
  <p:tag name="KSO_WM_DIAGRAM_VIRTUALLY_FRAME" val="{&quot;height&quot;:113.1,&quot;left&quot;:19.35,&quot;top&quot;:169.15,&quot;width&quot;:305.9}"/>
</p:tagLst>
</file>

<file path=ppt/tags/tag24.xml><?xml version="1.0" encoding="utf-8"?>
<p:tagLst xmlns:p="http://schemas.openxmlformats.org/presentationml/2006/main">
  <p:tag name="KSO_WM_DIAGRAM_VIRTUALLY_FRAME" val="{&quot;height&quot;:113.1,&quot;left&quot;:19.35,&quot;top&quot;:169.15,&quot;width&quot;:305.9}"/>
</p:tagLst>
</file>

<file path=ppt/tags/tag25.xml><?xml version="1.0" encoding="utf-8"?>
<p:tagLst xmlns:p="http://schemas.openxmlformats.org/presentationml/2006/main">
  <p:tag name="KSO_WM_DIAGRAM_VIRTUALLY_FRAME" val="{&quot;height&quot;:113.1,&quot;left&quot;:19.35,&quot;top&quot;:169.15,&quot;width&quot;:305.9}"/>
</p:tagLst>
</file>

<file path=ppt/tags/tag26.xml><?xml version="1.0" encoding="utf-8"?>
<p:tagLst xmlns:p="http://schemas.openxmlformats.org/presentationml/2006/main">
  <p:tag name="KSO_WM_DIAGRAM_VIRTUALLY_FRAME" val="{&quot;height&quot;:113.1,&quot;left&quot;:19.35,&quot;top&quot;:169.15,&quot;width&quot;:305.9}"/>
</p:tagLst>
</file>

<file path=ppt/tags/tag27.xml><?xml version="1.0" encoding="utf-8"?>
<p:tagLst xmlns:p="http://schemas.openxmlformats.org/presentationml/2006/main">
  <p:tag name="KSO_WM_DIAGRAM_VIRTUALLY_FRAME" val="{&quot;height&quot;:113.1,&quot;left&quot;:19.35,&quot;top&quot;:169.15,&quot;width&quot;:305.9}"/>
</p:tagLst>
</file>

<file path=ppt/tags/tag28.xml><?xml version="1.0" encoding="utf-8"?>
<p:tagLst xmlns:p="http://schemas.openxmlformats.org/presentationml/2006/main">
  <p:tag name="KSO_WM_DIAGRAM_VIRTUALLY_FRAME" val="{&quot;height&quot;:113.1,&quot;left&quot;:19.35,&quot;top&quot;:169.15,&quot;width&quot;:305.9}"/>
</p:tagLst>
</file>

<file path=ppt/tags/tag29.xml><?xml version="1.0" encoding="utf-8"?>
<p:tagLst xmlns:p="http://schemas.openxmlformats.org/presentationml/2006/main">
  <p:tag name="KSO_WM_DIAGRAM_VIRTUALLY_FRAME" val="{&quot;height&quot;:113.1,&quot;left&quot;:19.35,&quot;top&quot;:169.15,&quot;width&quot;:305.9}"/>
</p:tagLst>
</file>

<file path=ppt/tags/tag30.xml><?xml version="1.0" encoding="utf-8"?>
<p:tagLst xmlns:p="http://schemas.openxmlformats.org/presentationml/2006/main">
  <p:tag name="KSO_WM_DIAGRAM_VIRTUALLY_FRAME" val="{&quot;height&quot;:113.1,&quot;left&quot;:19.35,&quot;top&quot;:169.15,&quot;width&quot;:305.9}"/>
</p:tagLst>
</file>

<file path=ppt/tags/tag31.xml><?xml version="1.0" encoding="utf-8"?>
<p:tagLst xmlns:p="http://schemas.openxmlformats.org/presentationml/2006/main">
  <p:tag name="KSO_WM_DIAGRAM_VIRTUALLY_FRAME" val="{&quot;height&quot;:113.1,&quot;left&quot;:19.35,&quot;top&quot;:169.15,&quot;width&quot;:305.9}"/>
</p:tagLst>
</file>

<file path=ppt/tags/tag32.xml><?xml version="1.0" encoding="utf-8"?>
<p:tagLst xmlns:p="http://schemas.openxmlformats.org/presentationml/2006/main">
  <p:tag name="KSO_WM_DIAGRAM_VIRTUALLY_FRAME" val="{&quot;height&quot;:402.7,&quot;left&quot;:26.45,&quot;top&quot;:50.3,&quot;width&quot;:844.6}"/>
</p:tagLst>
</file>

<file path=ppt/tags/tag33.xml><?xml version="1.0" encoding="utf-8"?>
<p:tagLst xmlns:p="http://schemas.openxmlformats.org/presentationml/2006/main">
  <p:tag name="KSO_WM_DIAGRAM_VIRTUALLY_FRAME" val="{&quot;height&quot;:285.05,&quot;left&quot;:26.45,&quot;top&quot;:50.3,&quot;width&quot;:844.6}"/>
</p:tagLst>
</file>

<file path=ppt/tags/tag34.xml><?xml version="1.0" encoding="utf-8"?>
<p:tagLst xmlns:p="http://schemas.openxmlformats.org/presentationml/2006/main">
  <p:tag name="KSO_WM_DIAGRAM_VIRTUALLY_FRAME" val="{&quot;height&quot;:402.7,&quot;left&quot;:26.45,&quot;top&quot;:50.3,&quot;width&quot;:844.6}"/>
</p:tagLst>
</file>

<file path=ppt/tags/tag35.xml><?xml version="1.0" encoding="utf-8"?>
<p:tagLst xmlns:p="http://schemas.openxmlformats.org/presentationml/2006/main">
  <p:tag name="KSO_WM_DIAGRAM_VIRTUALLY_FRAME" val="{&quot;height&quot;:285.05,&quot;left&quot;:26.45,&quot;top&quot;:50.3,&quot;width&quot;:844.6}"/>
</p:tagLst>
</file>

<file path=ppt/tags/tag36.xml><?xml version="1.0" encoding="utf-8"?>
<p:tagLst xmlns:p="http://schemas.openxmlformats.org/presentationml/2006/main">
  <p:tag name="KSO_WM_DIAGRAM_VIRTUALLY_FRAME" val="{&quot;height&quot;:402.7,&quot;left&quot;:26.45,&quot;top&quot;:50.3,&quot;width&quot;:844.6}"/>
</p:tagLst>
</file>

<file path=ppt/tags/tag37.xml><?xml version="1.0" encoding="utf-8"?>
<p:tagLst xmlns:p="http://schemas.openxmlformats.org/presentationml/2006/main">
  <p:tag name="KSO_WM_DIAGRAM_VIRTUALLY_FRAME" val="{&quot;height&quot;:402.7,&quot;left&quot;:26.45,&quot;top&quot;:50.3,&quot;width&quot;:844.6}"/>
</p:tagLst>
</file>

<file path=ppt/tags/tag38.xml><?xml version="1.0" encoding="utf-8"?>
<p:tagLst xmlns:p="http://schemas.openxmlformats.org/presentationml/2006/main">
  <p:tag name="KSO_WM_DIAGRAM_VIRTUALLY_FRAME" val="{&quot;height&quot;:402.7,&quot;left&quot;:26.45,&quot;top&quot;:50.3,&quot;width&quot;:844.6}"/>
</p:tagLst>
</file>

<file path=ppt/tags/tag39.xml><?xml version="1.0" encoding="utf-8"?>
<p:tagLst xmlns:p="http://schemas.openxmlformats.org/presentationml/2006/main">
  <p:tag name="resource_record_key" val="{&quot;70&quot;:[3426764]}"/>
</p:tagLst>
</file>

<file path=ppt/theme/theme1.xml><?xml version="1.0" encoding="utf-8"?>
<a:theme xmlns:a="http://schemas.openxmlformats.org/drawingml/2006/main" name="Office Theme 0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2625</Words>
  <Application>WPS 演示</Application>
  <PresentationFormat>Widescreen</PresentationFormat>
  <Paragraphs>323</Paragraphs>
  <Slides>16</Slides>
  <Notes>1</Notes>
  <HiddenSlides>0</HiddenSlides>
  <MMClips>0</MMClips>
  <ScaleCrop>false</ScaleCrop>
  <HeadingPairs>
    <vt:vector size="6" baseType="variant">
      <vt:variant>
        <vt:lpstr>已用的字体</vt:lpstr>
      </vt:variant>
      <vt:variant>
        <vt:i4>24</vt:i4>
      </vt:variant>
      <vt:variant>
        <vt:lpstr>主题</vt:lpstr>
      </vt:variant>
      <vt:variant>
        <vt:i4>1</vt:i4>
      </vt:variant>
      <vt:variant>
        <vt:lpstr>幻灯片标题</vt:lpstr>
      </vt:variant>
      <vt:variant>
        <vt:i4>16</vt:i4>
      </vt:variant>
    </vt:vector>
  </HeadingPairs>
  <TitlesOfParts>
    <vt:vector size="41" baseType="lpstr">
      <vt:lpstr>Arial</vt:lpstr>
      <vt:lpstr>宋体</vt:lpstr>
      <vt:lpstr>Wingdings</vt:lpstr>
      <vt:lpstr>庞门正道标题体</vt:lpstr>
      <vt:lpstr>Montserrat</vt:lpstr>
      <vt:lpstr>方正明尚简体</vt:lpstr>
      <vt:lpstr>方正楷体_GB2312</vt:lpstr>
      <vt:lpstr>微软雅黑</vt:lpstr>
      <vt:lpstr>Open Sans</vt:lpstr>
      <vt:lpstr>Dotum</vt:lpstr>
      <vt:lpstr>汉仪力量黑简</vt:lpstr>
      <vt:lpstr>Open Sans SemiBold</vt:lpstr>
      <vt:lpstr>Ink Free</vt:lpstr>
      <vt:lpstr>Arial Unicode MS</vt:lpstr>
      <vt:lpstr>Calibri</vt:lpstr>
      <vt:lpstr>Calibri Light</vt:lpstr>
      <vt:lpstr>Dotum</vt:lpstr>
      <vt:lpstr>庞门正道标题体</vt:lpstr>
      <vt:lpstr>KSOF6D7CD83A</vt:lpstr>
      <vt:lpstr>KSOFA263137B</vt:lpstr>
      <vt:lpstr>潇洒标题体</vt:lpstr>
      <vt:lpstr>Toots Regular</vt:lpstr>
      <vt:lpstr>Saturday Sans Regular</vt:lpstr>
      <vt:lpstr>Kata SemiBold</vt:lpstr>
      <vt:lpstr>Office Theme 01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pt1</dc:creator>
  <cp:lastModifiedBy>PX SHAO.</cp:lastModifiedBy>
  <cp:revision>860</cp:revision>
  <dcterms:created xsi:type="dcterms:W3CDTF">2016-01-12T00:14:00Z</dcterms:created>
  <dcterms:modified xsi:type="dcterms:W3CDTF">2026-10-20T07:01:45Z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KSORubyTemplateID">
    <vt:lpwstr>13</vt:lpwstr>
  </property>
  <property fmtid="{D5CDD505-2E9C-101B-9397-08002B2CF9AE}" pid="4" name="KSOTemplateUUID">
    <vt:lpwstr>v1.0_mb_XhNDLR8EZd3zD8bI3G2sWQ==</vt:lpwstr>
  </property>
  <property fmtid="{D5CDD505-2E9C-101B-9397-08002B2CF9AE}" pid="5" name="ICV">
    <vt:lpwstr>7EA940D05E9946C9BBE9A623809BA63D_13</vt:lpwstr>
  </property>
</Properties>
</file>