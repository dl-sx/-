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5.svg" ContentType="image/svg+xml"/>
  <Override PartName="/ppt/media/image2.svg" ContentType="image/svg+xml"/>
  <Override PartName="/ppt/media/image24.svg" ContentType="image/svg+xml"/>
  <Override PartName="/ppt/media/image30.svg" ContentType="image/svg+xml"/>
  <Override PartName="/ppt/media/image3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473" r:id="rId3"/>
    <p:sldId id="479" r:id="rId4"/>
    <p:sldId id="482" r:id="rId5"/>
    <p:sldId id="488" r:id="rId6"/>
    <p:sldId id="536" r:id="rId7"/>
    <p:sldId id="531" r:id="rId8"/>
    <p:sldId id="484" r:id="rId9"/>
    <p:sldId id="489" r:id="rId10"/>
    <p:sldId id="501" r:id="rId11"/>
    <p:sldId id="502" r:id="rId12"/>
    <p:sldId id="533" r:id="rId13"/>
    <p:sldId id="499" r:id="rId14"/>
    <p:sldId id="505" r:id="rId15"/>
    <p:sldId id="522" r:id="rId16"/>
    <p:sldId id="493" r:id="rId17"/>
    <p:sldId id="507" r:id="rId18"/>
    <p:sldId id="491" r:id="rId19"/>
    <p:sldId id="492" r:id="rId20"/>
    <p:sldId id="523" r:id="rId21"/>
    <p:sldId id="525" r:id="rId22"/>
    <p:sldId id="480" r:id="rId23"/>
    <p:sldId id="494" r:id="rId24"/>
    <p:sldId id="495" r:id="rId25"/>
    <p:sldId id="538" r:id="rId26"/>
    <p:sldId id="500" r:id="rId27"/>
    <p:sldId id="527" r:id="rId28"/>
    <p:sldId id="539" r:id="rId29"/>
    <p:sldId id="490" r:id="rId30"/>
    <p:sldId id="542" r:id="rId31"/>
    <p:sldId id="487" r:id="rId32"/>
    <p:sldId id="543" r:id="rId33"/>
    <p:sldId id="554" r:id="rId34"/>
    <p:sldId id="552" r:id="rId35"/>
    <p:sldId id="555" r:id="rId36"/>
    <p:sldId id="485" r:id="rId37"/>
  </p:sldIdLst>
  <p:sldSz cx="12192000" cy="6858000"/>
  <p:notesSz cx="6858000" cy="9144000"/>
  <p:custDataLst>
    <p:tags r:id="rId58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作者" initials="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8C24"/>
    <a:srgbClr val="68B2B2"/>
    <a:srgbClr val="C27622"/>
    <a:srgbClr val="EBB200"/>
    <a:srgbClr val="BF9000"/>
    <a:srgbClr val="10437A"/>
    <a:srgbClr val="2A512A"/>
    <a:srgbClr val="33404A"/>
    <a:srgbClr val="082458"/>
    <a:srgbClr val="620F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 showGuides="1">
      <p:cViewPr varScale="1">
        <p:scale>
          <a:sx n="122" d="100"/>
          <a:sy n="122" d="100"/>
        </p:scale>
        <p:origin x="264" y="184"/>
      </p:cViewPr>
      <p:guideLst>
        <p:guide orient="horz" pos="216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6" d="100"/>
          <a:sy n="46" d="100"/>
        </p:scale>
        <p:origin x="2552" y="36"/>
      </p:cViewPr>
      <p:guideLst>
        <p:guide orient="horz" pos="2882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8" Type="http://schemas.openxmlformats.org/officeDocument/2006/relationships/tags" Target="tags/tag53.xml"/><Relationship Id="rId5" Type="http://schemas.openxmlformats.org/officeDocument/2006/relationships/slide" Target="slides/slide3.xml"/><Relationship Id="rId43" Type="http://schemas.openxmlformats.org/officeDocument/2006/relationships/commentAuthors" Target="commentAuthors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2.xml"/><Relationship Id="rId39" Type="http://schemas.openxmlformats.org/officeDocument/2006/relationships/handoutMaster" Target="handoutMasters/handoutMaster1.xml"/><Relationship Id="rId38" Type="http://schemas.openxmlformats.org/officeDocument/2006/relationships/notesMaster" Target="notesMasters/notesMaster1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4" Type="http://schemas.microsoft.com/office/2011/relationships/chartColorStyle" Target="colors1.xml"/><Relationship Id="rId3" Type="http://schemas.microsoft.com/office/2011/relationships/chartStyle" Target="style1.xml"/><Relationship Id="rId2" Type="http://schemas.openxmlformats.org/officeDocument/2006/relationships/themeOverride" Target="../theme/themeOverrid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4" Type="http://schemas.microsoft.com/office/2011/relationships/chartColorStyle" Target="colors2.xml"/><Relationship Id="rId3" Type="http://schemas.microsoft.com/office/2011/relationships/chartStyle" Target="style2.xml"/><Relationship Id="rId2" Type="http://schemas.openxmlformats.org/officeDocument/2006/relationships/themeOverride" Target="../theme/themeOverrid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4" Type="http://schemas.microsoft.com/office/2011/relationships/chartColorStyle" Target="colors3.xml"/><Relationship Id="rId3" Type="http://schemas.microsoft.com/office/2011/relationships/chartStyle" Target="style3.xml"/><Relationship Id="rId2" Type="http://schemas.openxmlformats.org/officeDocument/2006/relationships/themeOverride" Target="../theme/themeOverride3.xml"/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4" Type="http://schemas.microsoft.com/office/2011/relationships/chartColorStyle" Target="colors4.xml"/><Relationship Id="rId3" Type="http://schemas.microsoft.com/office/2011/relationships/chartStyle" Target="style4.xml"/><Relationship Id="rId2" Type="http://schemas.openxmlformats.org/officeDocument/2006/relationships/themeOverride" Target="../theme/themeOverride4.xml"/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4" Type="http://schemas.microsoft.com/office/2011/relationships/chartColorStyle" Target="colors5.xml"/><Relationship Id="rId3" Type="http://schemas.microsoft.com/office/2011/relationships/chartStyle" Target="style5.xml"/><Relationship Id="rId2" Type="http://schemas.openxmlformats.org/officeDocument/2006/relationships/themeOverride" Target="../theme/themeOverride5.xml"/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4" Type="http://schemas.microsoft.com/office/2011/relationships/chartColorStyle" Target="colors6.xml"/><Relationship Id="rId3" Type="http://schemas.microsoft.com/office/2011/relationships/chartStyle" Target="style6.xml"/><Relationship Id="rId2" Type="http://schemas.openxmlformats.org/officeDocument/2006/relationships/themeOverride" Target="../theme/themeOverride6.xml"/><Relationship Id="rId1" Type="http://schemas.openxmlformats.org/officeDocument/2006/relationships/package" Target="../embeddings/Workbook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800" b="0" i="0" u="none" strike="noStrike" kern="12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汉仪力量黑简" panose="00020600040101010101" charset="-122"/>
                <a:ea typeface="汉仪力量黑简" panose="00020600040101010101" charset="-122"/>
                <a:cs typeface="汉仪力量黑简" panose="00020600040101010101" charset="-122"/>
                <a:sym typeface="汉仪力量黑简" panose="00020600040101010101" charset="-122"/>
              </a:defRPr>
            </a:pPr>
            <a:r>
              <a:rPr sz="1800">
                <a:latin typeface="汉仪力量黑简" panose="00020600040101010101" charset="-122"/>
                <a:ea typeface="汉仪力量黑简" panose="00020600040101010101" charset="-122"/>
                <a:cs typeface="汉仪力量黑简" panose="00020600040101010101" charset="-122"/>
                <a:sym typeface="汉仪力量黑简" panose="00020600040101010101" charset="-122"/>
              </a:rPr>
              <a:t>智能手机使用率</a:t>
            </a:r>
            <a:endParaRPr sz="1800">
              <a:latin typeface="汉仪力量黑简" panose="00020600040101010101" charset="-122"/>
              <a:ea typeface="汉仪力量黑简" panose="00020600040101010101" charset="-122"/>
              <a:cs typeface="汉仪力量黑简" panose="00020600040101010101" charset="-122"/>
              <a:sym typeface="汉仪力量黑简" panose="00020600040101010101" charset="-122"/>
            </a:endParaRPr>
          </a:p>
        </c:rich>
      </c:tx>
      <c:layout>
        <c:manualLayout>
          <c:xMode val="edge"/>
          <c:yMode val="edge"/>
          <c:x val="0.257352941176471"/>
          <c:y val="0.058179012345679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智能手机使用率</c:v>
                </c:pt>
              </c:strCache>
            </c:strRef>
          </c:tx>
          <c:spPr>
            <a:ln w="22225">
              <a:noFill/>
            </a:ln>
            <a:effectLst/>
            <a:sp3d contourW="22225"/>
          </c:spPr>
          <c:explosion val="0"/>
          <c:dPt>
            <c:idx val="0"/>
            <c:bubble3D val="0"/>
            <c:explosion val="0"/>
            <c:spPr>
              <a:solidFill>
                <a:schemeClr val="accent1"/>
              </a:solidFill>
              <a:ln w="22225">
                <a:noFill/>
              </a:ln>
              <a:effectLst/>
              <a:sp3d contourW="22225"/>
            </c:spPr>
          </c:dPt>
          <c:dPt>
            <c:idx val="1"/>
            <c:bubble3D val="0"/>
            <c:spPr>
              <a:solidFill>
                <a:schemeClr val="accent2"/>
              </a:solidFill>
              <a:ln w="22225">
                <a:noFill/>
              </a:ln>
              <a:effectLst/>
              <a:sp3d contourW="22225"/>
            </c:spPr>
          </c:dPt>
          <c:dPt>
            <c:idx val="2"/>
            <c:bubble3D val="0"/>
            <c:explosion val="205"/>
            <c:spPr>
              <a:solidFill>
                <a:schemeClr val="accent3"/>
              </a:solidFill>
              <a:ln w="22225">
                <a:noFill/>
              </a:ln>
              <a:effectLst/>
              <a:sp3d contourW="22225"/>
            </c:spPr>
          </c:dPt>
          <c:dPt>
            <c:idx val="3"/>
            <c:bubble3D val="0"/>
            <c:spPr>
              <a:solidFill>
                <a:schemeClr val="accent4"/>
              </a:solidFill>
              <a:ln w="22225">
                <a:noFill/>
              </a:ln>
              <a:effectLst/>
              <a:sp3d contourW="22225"/>
            </c:spPr>
          </c:dPt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 forceAA="0"/>
                  <a:lstStyle/>
                  <a:p>
                    <a:pPr defTabSz="914400">
                      <a:defRPr lang="zh-CN" sz="900" b="0" i="0" u="none" strike="noStrike" kern="1200" baseline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defRPr>
                    </a:pPr>
                    <a:r>
                      <a:rPr sz="900"/>
                      <a:t>智能手机</a:t>
                    </a:r>
                    <a:endParaRPr sz="900"/>
                  </a:p>
                  <a:p>
                    <a:pPr defTabSz="914400">
                      <a:defRPr lang="zh-CN" sz="900" b="0" i="0" u="none" strike="noStrike" kern="1200" baseline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defRPr>
                    </a:pPr>
                    <a:r>
                      <a:rPr sz="900"/>
                      <a:t>闲置率78%</a:t>
                    </a:r>
                    <a:endParaRPr sz="900"/>
                  </a:p>
                </c:rich>
              </c:tx>
              <c:dLblPos val="inEnd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06433823529412"/>
                      <c:h val="0.111574074074074"/>
                    </c:manualLayout>
                  </c15:layout>
                </c:ext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 forceAA="0"/>
                  <a:lstStyle/>
                  <a:p>
                    <a:pPr defTabSz="914400">
                      <a:defRPr lang="zh-CN" sz="900" b="0" i="0" u="none" strike="noStrike" kern="1200" baseline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defRPr>
                    </a:pPr>
                    <a:r>
                      <a:rPr sz="900"/>
                      <a:t>智能手机</a:t>
                    </a:r>
                    <a:endParaRPr sz="900"/>
                  </a:p>
                  <a:p>
                    <a:pPr defTabSz="914400">
                      <a:defRPr lang="zh-CN" sz="900" b="0" i="0" u="none" strike="noStrike" kern="1200" baseline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defRPr>
                    </a:pPr>
                    <a:r>
                      <a:rPr sz="900"/>
                      <a:t>使用率22%</a:t>
                    </a:r>
                    <a:endParaRPr sz="900"/>
                  </a:p>
                </c:rich>
              </c:tx>
              <c:dLblPos val="inEnd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240992647058824"/>
                      <c:h val="0.111574074074074"/>
                    </c:manualLayout>
                  </c15:layout>
                </c:ext>
              </c:extLst>
            </c:dLbl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900" b="0" i="0" u="none" strike="noStrike" kern="1200" baseline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智能手机闲置率</c:v>
                </c:pt>
                <c:pt idx="1">
                  <c:v>智能手机使用率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0.78</c:v>
                </c:pt>
                <c:pt idx="1">
                  <c:v>0.22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123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54537180-0ee4-4067-a8ab-6e04b7e92a9f}"/>
      </c:ext>
    </c:extLst>
  </c:chart>
  <c:spPr>
    <a:noFill/>
    <a:ln w="6350" cap="flat" cmpd="sng" algn="ctr">
      <a:noFill/>
      <a:round/>
    </a:ln>
    <a:effectLst>
      <a:outerShdw blurRad="63500" dist="37357" dir="2700000" sx="0" sy="0" rotWithShape="0">
        <a:scrgbClr r="0" g="0" b="0"/>
      </a:outerShdw>
    </a:effectLst>
  </c:spPr>
  <c:txPr>
    <a:bodyPr/>
    <a:lstStyle/>
    <a:p>
      <a:pPr>
        <a:defRPr lang="zh-CN" sz="900">
          <a:latin typeface="微软雅黑" panose="020B0503020204020204" charset="-122"/>
          <a:ea typeface="微软雅黑" panose="020B0503020204020204" charset="-122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800" b="0" i="0" u="none" strike="noStrike" kern="12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汉仪力量黑简" panose="00020600040101010101" charset="-122"/>
                <a:ea typeface="汉仪力量黑简" panose="00020600040101010101" charset="-122"/>
                <a:cs typeface="汉仪力量黑简" panose="00020600040101010101" charset="-122"/>
                <a:sym typeface="汉仪力量黑简" panose="00020600040101010101" charset="-122"/>
              </a:defRPr>
            </a:pPr>
            <a:r>
              <a:rPr lang="en-US" altLang="zh-CN" sz="1800">
                <a:latin typeface="汉仪力量黑简" panose="00020600040101010101" charset="-122"/>
                <a:ea typeface="汉仪力量黑简" panose="00020600040101010101" charset="-122"/>
                <a:cs typeface="汉仪力量黑简" panose="00020600040101010101" charset="-122"/>
                <a:sym typeface="汉仪力量黑简" panose="00020600040101010101" charset="-122"/>
              </a:rPr>
              <a:t>3G</a:t>
            </a:r>
            <a:r>
              <a:rPr sz="1800">
                <a:latin typeface="汉仪力量黑简" panose="00020600040101010101" charset="-122"/>
                <a:ea typeface="汉仪力量黑简" panose="00020600040101010101" charset="-122"/>
                <a:cs typeface="汉仪力量黑简" panose="00020600040101010101" charset="-122"/>
                <a:sym typeface="汉仪力量黑简" panose="00020600040101010101" charset="-122"/>
              </a:rPr>
              <a:t>使用率</a:t>
            </a:r>
            <a:endParaRPr sz="1800">
              <a:latin typeface="汉仪力量黑简" panose="00020600040101010101" charset="-122"/>
              <a:ea typeface="汉仪力量黑简" panose="00020600040101010101" charset="-122"/>
              <a:cs typeface="汉仪力量黑简" panose="00020600040101010101" charset="-122"/>
              <a:sym typeface="汉仪力量黑简" panose="00020600040101010101" charset="-122"/>
            </a:endParaRPr>
          </a:p>
        </c:rich>
      </c:tx>
      <c:layout>
        <c:manualLayout>
          <c:xMode val="edge"/>
          <c:yMode val="edge"/>
          <c:x val="0.347426470588236"/>
          <c:y val="0.038580246913580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404411764705882"/>
          <c:y val="0.138117283950617"/>
          <c:w val="0.919117647058823"/>
          <c:h val="0.771604938271605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3G网络覆盖率</c:v>
                </c:pt>
              </c:strCache>
            </c:strRef>
          </c:tx>
          <c:spPr>
            <a:ln w="22225">
              <a:noFill/>
            </a:ln>
            <a:effectLst/>
            <a:sp3d contourW="22225"/>
          </c:spPr>
          <c:explosion val="0"/>
          <c:dPt>
            <c:idx val="0"/>
            <c:bubble3D val="0"/>
            <c:explosion val="0"/>
            <c:spPr>
              <a:solidFill>
                <a:srgbClr val="E7E6E6">
                  <a:lumMod val="50000"/>
                </a:srgbClr>
              </a:solidFill>
              <a:ln w="22225">
                <a:noFill/>
              </a:ln>
              <a:effectLst/>
              <a:sp3d contourW="22225"/>
            </c:spPr>
          </c:dPt>
          <c:dPt>
            <c:idx val="1"/>
            <c:bubble3D val="0"/>
            <c:spPr>
              <a:solidFill>
                <a:schemeClr val="accent2"/>
              </a:solidFill>
              <a:ln w="22225">
                <a:noFill/>
              </a:ln>
              <a:effectLst/>
              <a:sp3d contourW="22225"/>
            </c:spPr>
          </c:dPt>
          <c:dPt>
            <c:idx val="2"/>
            <c:bubble3D val="0"/>
            <c:explosion val="205"/>
            <c:spPr>
              <a:solidFill>
                <a:schemeClr val="accent3"/>
              </a:solidFill>
              <a:ln w="22225">
                <a:noFill/>
              </a:ln>
              <a:effectLst/>
              <a:sp3d contourW="22225"/>
            </c:spPr>
          </c:dPt>
          <c:dPt>
            <c:idx val="3"/>
            <c:bubble3D val="0"/>
            <c:spPr>
              <a:solidFill>
                <a:schemeClr val="accent4"/>
              </a:solidFill>
              <a:ln w="22225">
                <a:noFill/>
              </a:ln>
              <a:effectLst/>
              <a:sp3d contourW="22225"/>
            </c:spPr>
          </c:dPt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 forceAA="0"/>
                  <a:lstStyle/>
                  <a:p>
                    <a:pPr defTabSz="914400">
                      <a:defRPr lang="zh-CN" sz="900" b="0" i="0" u="none" strike="noStrike" kern="1200" baseline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defRPr>
                    </a:pPr>
                    <a:r>
                      <a:rPr sz="900"/>
                      <a:t>未有效使用</a:t>
                    </a:r>
                    <a:r>
                      <a:rPr lang="en-US" altLang="zh-CN" sz="900"/>
                      <a:t>3G</a:t>
                    </a:r>
                    <a:r>
                      <a:rPr altLang="en-US" sz="900"/>
                      <a:t>网络</a:t>
                    </a:r>
                    <a:r>
                      <a:rPr sz="900"/>
                      <a:t>78%</a:t>
                    </a:r>
                    <a:endParaRPr sz="900"/>
                  </a:p>
                </c:rich>
              </c:tx>
              <c:dLblPos val="inEnd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06433823529412"/>
                      <c:h val="0.111574074074074"/>
                    </c:manualLayout>
                  </c15:layout>
                </c:ext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 forceAA="0"/>
                  <a:lstStyle/>
                  <a:p>
                    <a:pPr defTabSz="914400">
                      <a:defRPr lang="zh-CN" sz="900" b="0" i="0" u="none" strike="noStrike" kern="1200" baseline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defRPr>
                    </a:pPr>
                    <a:r>
                      <a:rPr lang="en-US" altLang="zh-CN" sz="900"/>
                      <a:t>3G</a:t>
                    </a:r>
                    <a:r>
                      <a:rPr altLang="en-US" sz="900"/>
                      <a:t>使用率</a:t>
                    </a:r>
                    <a:r>
                      <a:rPr sz="900"/>
                      <a:t>22%</a:t>
                    </a:r>
                    <a:endParaRPr sz="900"/>
                  </a:p>
                </c:rich>
              </c:tx>
              <c:dLblPos val="inEnd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240992647058824"/>
                      <c:h val="0.111574074074074"/>
                    </c:manualLayout>
                  </c15:layout>
                </c:ext>
              </c:extLst>
            </c:dLbl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900" b="0" i="0" u="none" strike="noStrike" kern="1200" baseline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无移动网络占比</c:v>
                </c:pt>
                <c:pt idx="1">
                  <c:v>3G覆盖率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0.76</c:v>
                </c:pt>
                <c:pt idx="1">
                  <c:v>0.24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123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81bd19e4-30f9-404b-94df-8388c47693a8}"/>
      </c:ext>
    </c:extLst>
  </c:chart>
  <c:spPr>
    <a:noFill/>
    <a:ln w="6350" cap="flat" cmpd="sng" algn="ctr">
      <a:noFill/>
      <a:round/>
    </a:ln>
    <a:effectLst>
      <a:outerShdw blurRad="63500" dist="37357" dir="2700000" sx="0" sy="0" rotWithShape="0">
        <a:scrgbClr r="0" g="0" b="0"/>
      </a:outerShdw>
    </a:effectLst>
  </c:spPr>
  <c:txPr>
    <a:bodyPr/>
    <a:lstStyle/>
    <a:p>
      <a:pPr>
        <a:defRPr lang="zh-CN" sz="900">
          <a:latin typeface="微软雅黑" panose="020B0503020204020204" charset="-122"/>
          <a:ea typeface="微软雅黑" panose="020B0503020204020204" charset="-122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800" b="0" i="0" u="none" strike="noStrike" kern="12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汉仪力量黑简" panose="00020600040101010101" charset="-122"/>
                <a:ea typeface="汉仪力量黑简" panose="00020600040101010101" charset="-122"/>
                <a:cs typeface="汉仪力量黑简" panose="00020600040101010101" charset="-122"/>
                <a:sym typeface="汉仪力量黑简" panose="00020600040101010101" charset="-122"/>
              </a:defRPr>
            </a:pPr>
            <a:r>
              <a:rPr sz="1800">
                <a:latin typeface="汉仪力量黑简" panose="00020600040101010101" charset="-122"/>
                <a:ea typeface="汉仪力量黑简" panose="00020600040101010101" charset="-122"/>
                <a:cs typeface="汉仪力量黑简" panose="00020600040101010101" charset="-122"/>
                <a:sym typeface="汉仪力量黑简" panose="00020600040101010101" charset="-122"/>
              </a:rPr>
              <a:t>入门级智能手机价格</a:t>
            </a:r>
            <a:endParaRPr sz="1800">
              <a:latin typeface="汉仪力量黑简" panose="00020600040101010101" charset="-122"/>
              <a:ea typeface="汉仪力量黑简" panose="00020600040101010101" charset="-122"/>
              <a:cs typeface="汉仪力量黑简" panose="00020600040101010101" charset="-122"/>
              <a:sym typeface="汉仪力量黑简" panose="00020600040101010101" charset="-122"/>
            </a:endParaRPr>
          </a:p>
          <a:p>
            <a:pPr defTabSz="914400">
              <a:defRPr lang="zh-CN" sz="1800" b="0" i="0" u="none" strike="noStrike" kern="12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汉仪力量黑简" panose="00020600040101010101" charset="-122"/>
                <a:ea typeface="汉仪力量黑简" panose="00020600040101010101" charset="-122"/>
                <a:cs typeface="汉仪力量黑简" panose="00020600040101010101" charset="-122"/>
                <a:sym typeface="汉仪力量黑简" panose="00020600040101010101" charset="-122"/>
              </a:defRPr>
            </a:pPr>
            <a:r>
              <a:rPr sz="1800">
                <a:latin typeface="汉仪力量黑简" panose="00020600040101010101" charset="-122"/>
                <a:ea typeface="汉仪力量黑简" panose="00020600040101010101" charset="-122"/>
                <a:cs typeface="汉仪力量黑简" panose="00020600040101010101" charset="-122"/>
                <a:sym typeface="汉仪力量黑简" panose="00020600040101010101" charset="-122"/>
              </a:rPr>
              <a:t>占收入比</a:t>
            </a:r>
            <a:endParaRPr sz="1800">
              <a:latin typeface="汉仪力量黑简" panose="00020600040101010101" charset="-122"/>
              <a:ea typeface="汉仪力量黑简" panose="00020600040101010101" charset="-122"/>
              <a:cs typeface="汉仪力量黑简" panose="00020600040101010101" charset="-122"/>
              <a:sym typeface="汉仪力量黑简" panose="00020600040101010101" charset="-122"/>
            </a:endParaRPr>
          </a:p>
        </c:rich>
      </c:tx>
      <c:layout>
        <c:manualLayout>
          <c:xMode val="edge"/>
          <c:yMode val="edge"/>
          <c:x val="0.155330882352942"/>
          <c:y val="0.05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手机价格占收入比</c:v>
                </c:pt>
              </c:strCache>
            </c:strRef>
          </c:tx>
          <c:spPr>
            <a:ln w="22225">
              <a:noFill/>
            </a:ln>
            <a:effectLst/>
            <a:sp3d contourW="22225"/>
          </c:spPr>
          <c:explosion val="0"/>
          <c:dPt>
            <c:idx val="0"/>
            <c:bubble3D val="0"/>
            <c:explosion val="0"/>
            <c:spPr>
              <a:solidFill>
                <a:srgbClr val="70AD47">
                  <a:lumMod val="75000"/>
                </a:srgbClr>
              </a:solidFill>
              <a:ln w="22225">
                <a:noFill/>
              </a:ln>
              <a:effectLst/>
              <a:sp3d contourW="22225"/>
            </c:spPr>
          </c:dPt>
          <c:dPt>
            <c:idx val="1"/>
            <c:bubble3D val="0"/>
            <c:spPr>
              <a:solidFill>
                <a:srgbClr val="4472C4">
                  <a:lumMod val="75000"/>
                </a:srgbClr>
              </a:solidFill>
              <a:ln w="22225">
                <a:noFill/>
              </a:ln>
              <a:effectLst/>
              <a:sp3d contourW="22225"/>
            </c:spPr>
          </c:dPt>
          <c:dPt>
            <c:idx val="2"/>
            <c:bubble3D val="0"/>
            <c:explosion val="205"/>
            <c:spPr>
              <a:solidFill>
                <a:schemeClr val="accent3"/>
              </a:solidFill>
              <a:ln w="22225">
                <a:noFill/>
              </a:ln>
              <a:effectLst/>
              <a:sp3d contourW="22225"/>
            </c:spPr>
          </c:dPt>
          <c:dPt>
            <c:idx val="3"/>
            <c:bubble3D val="0"/>
            <c:spPr>
              <a:solidFill>
                <a:schemeClr val="accent4"/>
              </a:solidFill>
              <a:ln w="22225">
                <a:noFill/>
              </a:ln>
              <a:effectLst/>
              <a:sp3d contourW="22225"/>
            </c:spPr>
          </c:dPt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 forceAA="0"/>
                  <a:lstStyle/>
                  <a:p>
                    <a:pPr defTabSz="914400">
                      <a:defRPr lang="zh-CN" sz="900" b="0" i="0" u="none" strike="noStrike" kern="1200" baseline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defRPr>
                    </a:pPr>
                    <a:r>
                      <a:rPr sz="900"/>
                      <a:t>入门级智能手机</a:t>
                    </a:r>
                    <a:endParaRPr sz="900"/>
                  </a:p>
                  <a:p>
                    <a:pPr defTabSz="914400">
                      <a:defRPr lang="zh-CN" sz="900" b="0" i="0" u="none" strike="noStrike" kern="1200" baseline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defRPr>
                    </a:pPr>
                    <a:r>
                      <a:rPr sz="900"/>
                      <a:t>价格占收入比78%</a:t>
                    </a:r>
                    <a:endParaRPr sz="900"/>
                  </a:p>
                </c:rich>
              </c:tx>
              <c:dLblPos val="inEnd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06433823529412"/>
                      <c:h val="0.111574074074074"/>
                    </c:manualLayout>
                  </c15:layout>
                </c:ext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 forceAA="0"/>
                  <a:lstStyle/>
                  <a:p>
                    <a:pPr defTabSz="914400">
                      <a:defRPr lang="zh-CN" sz="900" b="0" i="0" u="none" strike="noStrike" kern="1200" baseline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defRPr>
                    </a:pPr>
                    <a:r>
                      <a:rPr sz="900"/>
                      <a:t>剩余收入22%</a:t>
                    </a:r>
                    <a:endParaRPr sz="900"/>
                  </a:p>
                </c:rich>
              </c:tx>
              <c:dLblPos val="inEnd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240992647058824"/>
                      <c:h val="0.111574074074074"/>
                    </c:manualLayout>
                  </c15:layout>
                </c:ext>
              </c:extLst>
            </c:dLbl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900" b="0" i="0" u="none" strike="noStrike" kern="1200" baseline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入门级智能手机价格</c:v>
                </c:pt>
                <c:pt idx="1">
                  <c:v>其余部分收入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0.86</c:v>
                </c:pt>
                <c:pt idx="1">
                  <c:v>0.14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123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9d8fcb88-8289-45d3-9e95-b59f36de7108}"/>
      </c:ext>
    </c:extLst>
  </c:chart>
  <c:spPr>
    <a:noFill/>
    <a:ln w="6350" cap="flat" cmpd="sng" algn="ctr">
      <a:noFill/>
      <a:round/>
    </a:ln>
    <a:effectLst>
      <a:outerShdw blurRad="63500" dist="37357" dir="2700000" sx="0" sy="0" rotWithShape="0">
        <a:scrgbClr r="0" g="0" b="0"/>
      </a:outerShdw>
    </a:effectLst>
  </c:spPr>
  <c:txPr>
    <a:bodyPr/>
    <a:lstStyle/>
    <a:p>
      <a:pPr>
        <a:defRPr lang="zh-CN" sz="900">
          <a:latin typeface="微软雅黑" panose="020B0503020204020204" charset="-122"/>
          <a:ea typeface="微软雅黑" panose="020B0503020204020204" charset="-122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800" b="0" i="0" u="none" strike="noStrike" kern="12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汉仪力量黑简" panose="00020600040101010101" charset="-122"/>
                <a:ea typeface="汉仪力量黑简" panose="00020600040101010101" charset="-122"/>
                <a:cs typeface="汉仪力量黑简" panose="00020600040101010101" charset="-122"/>
                <a:sym typeface="汉仪力量黑简" panose="00020600040101010101" charset="-122"/>
              </a:defRPr>
            </a:pPr>
            <a:r>
              <a:rPr sz="1800">
                <a:latin typeface="汉仪力量黑简" panose="00020600040101010101" charset="-122"/>
                <a:ea typeface="汉仪力量黑简" panose="00020600040101010101" charset="-122"/>
                <a:cs typeface="汉仪力量黑简" panose="00020600040101010101" charset="-122"/>
                <a:sym typeface="汉仪力量黑简" panose="00020600040101010101" charset="-122"/>
              </a:rPr>
              <a:t>移动网络覆盖率</a:t>
            </a:r>
            <a:endParaRPr sz="1800">
              <a:latin typeface="汉仪力量黑简" panose="00020600040101010101" charset="-122"/>
              <a:ea typeface="汉仪力量黑简" panose="00020600040101010101" charset="-122"/>
              <a:cs typeface="汉仪力量黑简" panose="00020600040101010101" charset="-122"/>
              <a:sym typeface="汉仪力量黑简" panose="00020600040101010101" charset="-122"/>
            </a:endParaRPr>
          </a:p>
        </c:rich>
      </c:tx>
      <c:layout>
        <c:manualLayout>
          <c:xMode val="edge"/>
          <c:yMode val="edge"/>
          <c:x val="0.257352941176471"/>
          <c:y val="0.058179012345679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移动网络覆盖率</c:v>
                </c:pt>
              </c:strCache>
            </c:strRef>
          </c:tx>
          <c:spPr>
            <a:ln w="22225">
              <a:noFill/>
            </a:ln>
            <a:effectLst/>
            <a:sp3d contourW="22225"/>
          </c:spPr>
          <c:explosion val="0"/>
          <c:dPt>
            <c:idx val="0"/>
            <c:bubble3D val="0"/>
            <c:explosion val="0"/>
            <c:spPr>
              <a:solidFill>
                <a:schemeClr val="accent1"/>
              </a:solidFill>
              <a:ln w="22225">
                <a:noFill/>
              </a:ln>
              <a:effectLst/>
              <a:sp3d contourW="22225"/>
            </c:spPr>
          </c:dPt>
          <c:dPt>
            <c:idx val="1"/>
            <c:bubble3D val="0"/>
            <c:spPr>
              <a:solidFill>
                <a:schemeClr val="accent2"/>
              </a:solidFill>
              <a:ln w="22225">
                <a:noFill/>
              </a:ln>
              <a:effectLst/>
              <a:sp3d contourW="22225"/>
            </c:spPr>
          </c:dPt>
          <c:dPt>
            <c:idx val="2"/>
            <c:bubble3D val="0"/>
            <c:explosion val="205"/>
            <c:spPr>
              <a:solidFill>
                <a:schemeClr val="accent3"/>
              </a:solidFill>
              <a:ln w="22225">
                <a:noFill/>
              </a:ln>
              <a:effectLst/>
              <a:sp3d contourW="22225"/>
            </c:spPr>
          </c:dPt>
          <c:dPt>
            <c:idx val="3"/>
            <c:bubble3D val="0"/>
            <c:spPr>
              <a:solidFill>
                <a:schemeClr val="accent4"/>
              </a:solidFill>
              <a:ln w="22225">
                <a:noFill/>
              </a:ln>
              <a:effectLst/>
              <a:sp3d contourW="22225"/>
            </c:spPr>
          </c:dPt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 forceAA="0"/>
                  <a:lstStyle/>
                  <a:p>
                    <a:pPr defTabSz="914400">
                      <a:defRPr lang="zh-CN" sz="900" b="0" i="0" u="none" strike="noStrike" kern="1200" baseline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defRPr>
                    </a:pPr>
                    <a:r>
                      <a:rPr sz="900"/>
                      <a:t>移动网络覆盖率</a:t>
                    </a:r>
                    <a:endParaRPr sz="900"/>
                  </a:p>
                  <a:p>
                    <a:pPr defTabSz="914400">
                      <a:defRPr lang="zh-CN" sz="900" b="0" i="0" u="none" strike="noStrike" kern="1200" baseline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defRPr>
                    </a:pPr>
                    <a:r>
                      <a:rPr lang="en-US" altLang="zh-CN" sz="900"/>
                      <a:t>94</a:t>
                    </a:r>
                    <a:r>
                      <a:rPr sz="900"/>
                      <a:t>%</a:t>
                    </a:r>
                    <a:endParaRPr sz="900"/>
                  </a:p>
                </c:rich>
              </c:tx>
              <c:dLblPos val="inEnd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06433823529412"/>
                      <c:h val="0.111574074074074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-8.35932630306e-17"/>
                  <c:y val="-0.0537072609098662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 forceAA="0"/>
                  <a:lstStyle/>
                  <a:p>
                    <a:pPr defTabSz="914400">
                      <a:defRPr lang="zh-CN" sz="900" b="0" i="0" u="none" strike="noStrike" kern="1200" baseline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defRPr>
                    </a:pPr>
                    <a:r>
                      <a:rPr sz="900"/>
                      <a:t>未能有效覆盖移动网络率</a:t>
                    </a:r>
                    <a:endParaRPr sz="900"/>
                  </a:p>
                  <a:p>
                    <a:pPr defTabSz="914400">
                      <a:defRPr lang="zh-CN" sz="900" b="0" i="0" u="none" strike="noStrike" kern="1200" baseline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defRPr>
                    </a:pPr>
                    <a:r>
                      <a:rPr lang="en-US" altLang="zh-CN" sz="900"/>
                      <a:t>6</a:t>
                    </a:r>
                    <a:r>
                      <a:rPr sz="900"/>
                      <a:t>%</a:t>
                    </a:r>
                    <a:endParaRPr sz="900"/>
                  </a:p>
                </c:rich>
              </c:tx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92279411764706"/>
                      <c:h val="0.111574074074074"/>
                    </c:manualLayout>
                  </c15:layout>
                </c:ext>
              </c:extLst>
            </c:dLbl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900" b="0" i="0" u="none" strike="noStrike" kern="1200" baseline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移动网络覆盖率</c:v>
                </c:pt>
                <c:pt idx="1">
                  <c:v>未能有效使用移动网络人口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0.94</c:v>
                </c:pt>
                <c:pt idx="1">
                  <c:v>0.06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123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4c83a119-1915-4c78-a2dd-c1a20b05f211}"/>
      </c:ext>
    </c:extLst>
  </c:chart>
  <c:spPr>
    <a:noFill/>
    <a:ln w="6350" cap="flat" cmpd="sng" algn="ctr">
      <a:noFill/>
      <a:round/>
    </a:ln>
    <a:effectLst>
      <a:outerShdw blurRad="63500" dist="37357" dir="2700000" sx="0" sy="0" rotWithShape="0">
        <a:scrgbClr r="0" g="0" b="0"/>
      </a:outerShdw>
    </a:effectLst>
  </c:spPr>
  <c:txPr>
    <a:bodyPr/>
    <a:lstStyle/>
    <a:p>
      <a:pPr>
        <a:defRPr lang="zh-CN" sz="900">
          <a:latin typeface="微软雅黑" panose="020B0503020204020204" charset="-122"/>
          <a:ea typeface="微软雅黑" panose="020B0503020204020204" charset="-122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800" b="0" i="0" u="none" strike="noStrike" kern="12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汉仪力量黑简" panose="00020600040101010101" charset="-122"/>
                <a:ea typeface="汉仪力量黑简" panose="00020600040101010101" charset="-122"/>
                <a:cs typeface="汉仪力量黑简" panose="00020600040101010101" charset="-122"/>
                <a:sym typeface="汉仪力量黑简" panose="00020600040101010101" charset="-122"/>
              </a:defRPr>
            </a:pPr>
            <a:r>
              <a:rPr sz="1800">
                <a:latin typeface="汉仪力量黑简" panose="00020600040101010101" charset="-122"/>
                <a:ea typeface="汉仪力量黑简" panose="00020600040101010101" charset="-122"/>
                <a:cs typeface="汉仪力量黑简" panose="00020600040101010101" charset="-122"/>
                <a:sym typeface="汉仪力量黑简" panose="00020600040101010101" charset="-122"/>
              </a:rPr>
              <a:t>互联网使用率</a:t>
            </a:r>
            <a:endParaRPr sz="1800">
              <a:latin typeface="汉仪力量黑简" panose="00020600040101010101" charset="-122"/>
              <a:ea typeface="汉仪力量黑简" panose="00020600040101010101" charset="-122"/>
              <a:cs typeface="汉仪力量黑简" panose="00020600040101010101" charset="-122"/>
              <a:sym typeface="汉仪力量黑简" panose="00020600040101010101" charset="-122"/>
            </a:endParaRPr>
          </a:p>
        </c:rich>
      </c:tx>
      <c:layout>
        <c:manualLayout>
          <c:xMode val="edge"/>
          <c:yMode val="edge"/>
          <c:x val="0.347426470588236"/>
          <c:y val="0.038580246913580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404411764705882"/>
          <c:y val="0.138117283950617"/>
          <c:w val="0.919117647058823"/>
          <c:h val="0.771604938271605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互联网使用率</c:v>
                </c:pt>
              </c:strCache>
            </c:strRef>
          </c:tx>
          <c:spPr>
            <a:ln w="22225">
              <a:noFill/>
            </a:ln>
            <a:effectLst/>
            <a:sp3d contourW="22225"/>
          </c:spPr>
          <c:explosion val="0"/>
          <c:dPt>
            <c:idx val="0"/>
            <c:bubble3D val="0"/>
            <c:explosion val="0"/>
            <c:spPr>
              <a:solidFill>
                <a:srgbClr val="E7E6E6">
                  <a:lumMod val="50000"/>
                </a:srgbClr>
              </a:solidFill>
              <a:ln w="22225">
                <a:noFill/>
              </a:ln>
              <a:effectLst/>
              <a:sp3d contourW="22225"/>
            </c:spPr>
          </c:dPt>
          <c:dPt>
            <c:idx val="1"/>
            <c:bubble3D val="0"/>
            <c:spPr>
              <a:solidFill>
                <a:schemeClr val="accent2"/>
              </a:solidFill>
              <a:ln w="22225">
                <a:noFill/>
              </a:ln>
              <a:effectLst/>
              <a:sp3d contourW="22225"/>
            </c:spPr>
          </c:dPt>
          <c:dPt>
            <c:idx val="2"/>
            <c:bubble3D val="0"/>
            <c:explosion val="205"/>
            <c:spPr>
              <a:solidFill>
                <a:schemeClr val="accent3"/>
              </a:solidFill>
              <a:ln w="22225">
                <a:noFill/>
              </a:ln>
              <a:effectLst/>
              <a:sp3d contourW="22225"/>
            </c:spPr>
          </c:dPt>
          <c:dPt>
            <c:idx val="3"/>
            <c:bubble3D val="0"/>
            <c:spPr>
              <a:solidFill>
                <a:schemeClr val="accent4"/>
              </a:solidFill>
              <a:ln w="22225">
                <a:noFill/>
              </a:ln>
              <a:effectLst/>
              <a:sp3d contourW="22225"/>
            </c:spPr>
          </c:dPt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 forceAA="0"/>
                  <a:lstStyle/>
                  <a:p>
                    <a:pPr defTabSz="914400">
                      <a:defRPr lang="zh-CN" sz="900" b="0" i="0" u="none" strike="noStrike" kern="1200" baseline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defRPr>
                    </a:pPr>
                    <a:r>
                      <a:rPr sz="900"/>
                      <a:t>未接入互联网人口</a:t>
                    </a:r>
                    <a:endParaRPr sz="900"/>
                  </a:p>
                  <a:p>
                    <a:pPr defTabSz="914400">
                      <a:defRPr lang="zh-CN" sz="900" b="0" i="0" u="none" strike="noStrike" kern="1200" baseline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defRPr>
                    </a:pPr>
                    <a:r>
                      <a:rPr lang="en-US" altLang="zh-CN" sz="900"/>
                      <a:t>70</a:t>
                    </a:r>
                    <a:r>
                      <a:rPr sz="900"/>
                      <a:t>%</a:t>
                    </a:r>
                    <a:endParaRPr sz="900"/>
                  </a:p>
                </c:rich>
              </c:tx>
              <c:dLblPos val="inEnd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06433823529412"/>
                      <c:h val="0.111574074074074"/>
                    </c:manualLayout>
                  </c15:layout>
                </c:ext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 forceAA="0"/>
                  <a:lstStyle/>
                  <a:p>
                    <a:pPr defTabSz="914400">
                      <a:defRPr lang="zh-CN" sz="900" b="0" i="0" u="none" strike="noStrike" kern="1200" baseline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defRPr>
                    </a:pPr>
                    <a:r>
                      <a:rPr altLang="en-US" sz="900"/>
                      <a:t>接入互联网的人口</a:t>
                    </a:r>
                    <a:endParaRPr sz="900"/>
                  </a:p>
                  <a:p>
                    <a:pPr defTabSz="914400">
                      <a:defRPr lang="zh-CN" sz="900" b="0" i="0" u="none" strike="noStrike" kern="1200" baseline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defRPr>
                    </a:pPr>
                    <a:r>
                      <a:rPr lang="en-US" altLang="zh-CN" sz="900"/>
                      <a:t>30</a:t>
                    </a:r>
                    <a:r>
                      <a:rPr sz="900"/>
                      <a:t>%</a:t>
                    </a:r>
                    <a:endParaRPr sz="900"/>
                  </a:p>
                </c:rich>
              </c:tx>
              <c:dLblPos val="inEnd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15625"/>
                      <c:h val="0.111574074074074"/>
                    </c:manualLayout>
                  </c15:layout>
                </c:ext>
              </c:extLst>
            </c:dLbl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900" b="0" i="0" u="none" strike="noStrike" kern="1200" baseline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未接入互联网的人口</c:v>
                </c:pt>
                <c:pt idx="1">
                  <c:v>接入互联网的人口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0.7</c:v>
                </c:pt>
                <c:pt idx="1">
                  <c:v>0.3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123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81bd19e4-30f9-404b-94df-8388c47693a8}"/>
      </c:ext>
    </c:extLst>
  </c:chart>
  <c:spPr>
    <a:noFill/>
    <a:ln w="6350" cap="flat" cmpd="sng" algn="ctr">
      <a:noFill/>
      <a:round/>
    </a:ln>
    <a:effectLst>
      <a:outerShdw blurRad="63500" dist="37357" dir="2700000" sx="0" sy="0" rotWithShape="0">
        <a:scrgbClr r="0" g="0" b="0"/>
      </a:outerShdw>
    </a:effectLst>
  </c:spPr>
  <c:txPr>
    <a:bodyPr/>
    <a:lstStyle/>
    <a:p>
      <a:pPr>
        <a:defRPr lang="zh-CN" sz="900">
          <a:latin typeface="微软雅黑" panose="020B0503020204020204" charset="-122"/>
          <a:ea typeface="微软雅黑" panose="020B0503020204020204" charset="-122"/>
        </a:defRPr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800" b="0" i="0" u="none" strike="noStrike" kern="12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汉仪力量黑简" panose="00020600040101010101" charset="-122"/>
                <a:ea typeface="汉仪力量黑简" panose="00020600040101010101" charset="-122"/>
                <a:cs typeface="汉仪力量黑简" panose="00020600040101010101" charset="-122"/>
                <a:sym typeface="汉仪力量黑简" panose="00020600040101010101" charset="-122"/>
              </a:defRPr>
            </a:pPr>
            <a:r>
              <a:rPr sz="1800">
                <a:latin typeface="汉仪力量黑简" panose="00020600040101010101" charset="-122"/>
                <a:ea typeface="汉仪力量黑简" panose="00020600040101010101" charset="-122"/>
                <a:cs typeface="汉仪力量黑简" panose="00020600040101010101" charset="-122"/>
                <a:sym typeface="汉仪力量黑简" panose="00020600040101010101" charset="-122"/>
              </a:rPr>
              <a:t>使用线上服务</a:t>
            </a:r>
            <a:endParaRPr sz="1800">
              <a:latin typeface="汉仪力量黑简" panose="00020600040101010101" charset="-122"/>
              <a:ea typeface="汉仪力量黑简" panose="00020600040101010101" charset="-122"/>
              <a:cs typeface="汉仪力量黑简" panose="00020600040101010101" charset="-122"/>
              <a:sym typeface="汉仪力量黑简" panose="00020600040101010101" charset="-122"/>
            </a:endParaRPr>
          </a:p>
          <a:p>
            <a:pPr defTabSz="914400">
              <a:defRPr lang="zh-CN" sz="1800" b="0" i="0" u="none" strike="noStrike" kern="12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汉仪力量黑简" panose="00020600040101010101" charset="-122"/>
                <a:ea typeface="汉仪力量黑简" panose="00020600040101010101" charset="-122"/>
                <a:cs typeface="汉仪力量黑简" panose="00020600040101010101" charset="-122"/>
                <a:sym typeface="汉仪力量黑简" panose="00020600040101010101" charset="-122"/>
              </a:defRPr>
            </a:pPr>
            <a:r>
              <a:rPr sz="1800">
                <a:latin typeface="汉仪力量黑简" panose="00020600040101010101" charset="-122"/>
                <a:ea typeface="汉仪力量黑简" panose="00020600040101010101" charset="-122"/>
                <a:cs typeface="汉仪力量黑简" panose="00020600040101010101" charset="-122"/>
                <a:sym typeface="汉仪力量黑简" panose="00020600040101010101" charset="-122"/>
              </a:rPr>
              <a:t>学历人口占比</a:t>
            </a:r>
            <a:endParaRPr sz="1800">
              <a:latin typeface="汉仪力量黑简" panose="00020600040101010101" charset="-122"/>
              <a:ea typeface="汉仪力量黑简" panose="00020600040101010101" charset="-122"/>
              <a:cs typeface="汉仪力量黑简" panose="00020600040101010101" charset="-122"/>
              <a:sym typeface="汉仪力量黑简" panose="00020600040101010101" charset="-122"/>
            </a:endParaRPr>
          </a:p>
        </c:rich>
      </c:tx>
      <c:layout>
        <c:manualLayout>
          <c:xMode val="edge"/>
          <c:yMode val="edge"/>
          <c:x val="0.391360294117648"/>
          <c:y val="0.0444444444444444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使用线上服务学历人群比</c:v>
                </c:pt>
              </c:strCache>
            </c:strRef>
          </c:tx>
          <c:spPr>
            <a:solidFill>
              <a:schemeClr val="accent1"/>
            </a:solidFill>
            <a:ln w="22225">
              <a:noFill/>
            </a:ln>
            <a:effectLst/>
            <a:sp3d contourW="22225"/>
          </c:spPr>
          <c:invertIfNegative val="0"/>
          <c:dPt>
            <c:idx val="0"/>
            <c:invertIfNegative val="0"/>
            <c:bubble3D val="0"/>
            <c:explosion val="0"/>
            <c:spPr>
              <a:solidFill>
                <a:srgbClr val="70AD47">
                  <a:lumMod val="75000"/>
                </a:srgbClr>
              </a:solidFill>
              <a:ln w="22225">
                <a:noFill/>
              </a:ln>
              <a:effectLst/>
              <a:sp3d contourW="22225"/>
            </c:spPr>
          </c:dPt>
          <c:dPt>
            <c:idx val="1"/>
            <c:invertIfNegative val="0"/>
            <c:bubble3D val="0"/>
            <c:spPr>
              <a:solidFill>
                <a:srgbClr val="4472C4">
                  <a:lumMod val="75000"/>
                </a:srgbClr>
              </a:solidFill>
              <a:ln w="22225">
                <a:noFill/>
              </a:ln>
              <a:effectLst/>
              <a:sp3d contourW="22225"/>
            </c:spPr>
          </c:dPt>
          <c:dPt>
            <c:idx val="2"/>
            <c:invertIfNegative val="0"/>
            <c:bubble3D val="0"/>
            <c:explosion val="205"/>
            <c:spPr>
              <a:solidFill>
                <a:schemeClr val="accent1"/>
              </a:solidFill>
              <a:ln w="22225">
                <a:noFill/>
              </a:ln>
              <a:effectLst/>
              <a:sp3d contourW="22225"/>
            </c:spPr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 w="22225">
                <a:noFill/>
              </a:ln>
              <a:effectLst/>
              <a:sp3d contourW="22225"/>
            </c:spPr>
          </c:dPt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 forceAA="0"/>
                  <a:lstStyle/>
                  <a:p>
                    <a:pPr defTabSz="914400">
                      <a:defRPr lang="zh-CN" sz="900" b="0" i="0" u="none" strike="noStrike" kern="1200" baseline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defRPr>
                    </a:pPr>
                    <a:r>
                      <a:rPr lang="en-US" altLang="zh-CN" sz="900"/>
                      <a:t>29</a:t>
                    </a:r>
                    <a:r>
                      <a:rPr sz="900"/>
                      <a:t>%</a:t>
                    </a:r>
                    <a:endParaRPr sz="900"/>
                  </a:p>
                </c:rich>
              </c:tx>
              <c:dLblPos val="inEnd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06433823529412"/>
                      <c:h val="0.111574074074074"/>
                    </c:manualLayout>
                  </c15:layout>
                </c:ext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 forceAA="0"/>
                  <a:lstStyle/>
                  <a:p>
                    <a:pPr defTabSz="914400">
                      <a:defRPr lang="zh-CN" sz="900" b="0" i="0" u="none" strike="noStrike" kern="1200" baseline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defRPr>
                    </a:pPr>
                    <a:endParaRPr sz="900"/>
                  </a:p>
                  <a:p>
                    <a:pPr defTabSz="914400">
                      <a:defRPr lang="zh-CN" sz="900" b="0" i="0" u="none" strike="noStrike" kern="1200" baseline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defRPr>
                    </a:pPr>
                    <a:r>
                      <a:rPr lang="en-US" altLang="zh-CN" sz="900"/>
                      <a:t>7</a:t>
                    </a:r>
                    <a:r>
                      <a:rPr sz="900"/>
                      <a:t>%</a:t>
                    </a:r>
                    <a:endParaRPr sz="900"/>
                  </a:p>
                </c:rich>
              </c:tx>
              <c:dLblPos val="inEnd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240992647058824"/>
                      <c:h val="0.111574074074074"/>
                    </c:manualLayout>
                  </c15:layout>
                </c:ext>
              </c:extLst>
            </c:dLbl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900" b="0" i="0" u="none" strike="noStrike" kern="1200" baseline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学士学历</c:v>
                </c:pt>
                <c:pt idx="1">
                  <c:v>学士及以下学历</c:v>
                </c:pt>
                <c:pt idx="2">
                  <c:v>其余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0.29</c:v>
                </c:pt>
                <c:pt idx="1">
                  <c:v>0.07</c:v>
                </c:pt>
                <c:pt idx="2">
                  <c:v>0.64</c:v>
                </c:pt>
              </c:numCache>
            </c:numRef>
          </c:val>
        </c:ser>
        <c:dLbls>
          <c:showLegendKey val="0"/>
          <c:showVal val="1"/>
          <c:showCatName val="1"/>
          <c:showSerName val="0"/>
          <c:showPercent val="0"/>
          <c:showBubbleSize val="0"/>
        </c:dLbls>
        <c:gapWidth val="150"/>
        <c:overlap val="0"/>
        <c:axId val="836242311"/>
        <c:axId val="209026482"/>
      </c:barChart>
      <c:catAx>
        <c:axId val="836242311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209026482"/>
        <c:crosses val="autoZero"/>
        <c:auto val="1"/>
        <c:lblAlgn val="ctr"/>
        <c:lblOffset val="100"/>
        <c:noMultiLvlLbl val="0"/>
      </c:catAx>
      <c:valAx>
        <c:axId val="20902648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8362423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9d8fcb88-8289-45d3-9e95-b59f36de7108}"/>
      </c:ext>
    </c:extLst>
  </c:chart>
  <c:spPr>
    <a:noFill/>
    <a:ln w="6350" cap="flat" cmpd="sng" algn="ctr">
      <a:noFill/>
      <a:round/>
    </a:ln>
    <a:effectLst>
      <a:outerShdw blurRad="63500" dist="37357" dir="2700000" sx="0" sy="0" rotWithShape="0">
        <a:scrgbClr r="0" g="0" b="0"/>
      </a:outerShdw>
    </a:effectLst>
  </c:spPr>
  <c:txPr>
    <a:bodyPr/>
    <a:lstStyle/>
    <a:p>
      <a:pPr>
        <a:defRPr lang="zh-CN" sz="900">
          <a:latin typeface="微软雅黑" panose="020B0503020204020204" charset="-122"/>
          <a:ea typeface="微软雅黑" panose="020B0503020204020204" charset="-122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72383318-3472-40B9-8DFD-3DCF1F4F0E1B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3EFB34D3-FD25-4F52-B07F-5AC411DAF25D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单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51026" y="347661"/>
            <a:ext cx="10515600" cy="596901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accent5">
                    <a:lumMod val="50000"/>
                  </a:schemeClr>
                </a:solidFill>
                <a:ea typeface="方正书宋简体" panose="02000000000000000000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7542" y="1253330"/>
            <a:ext cx="10752835" cy="505856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5">
                    <a:lumMod val="50000"/>
                  </a:schemeClr>
                </a:solidFill>
                <a:ea typeface="方正书宋简体" panose="02000000000000000000" charset="-122"/>
              </a:defRPr>
            </a:lvl1pPr>
            <a:lvl2pPr>
              <a:lnSpc>
                <a:spcPct val="150000"/>
              </a:lnSpc>
              <a:defRPr sz="2000">
                <a:solidFill>
                  <a:schemeClr val="bg2">
                    <a:lumMod val="25000"/>
                  </a:schemeClr>
                </a:solidFill>
                <a:ea typeface="方正书宋简体" panose="02000000000000000000" charset="-122"/>
              </a:defRPr>
            </a:lvl2pPr>
            <a:lvl3pPr>
              <a:lnSpc>
                <a:spcPct val="150000"/>
              </a:lnSpc>
              <a:defRPr sz="1800">
                <a:solidFill>
                  <a:schemeClr val="bg2">
                    <a:lumMod val="25000"/>
                  </a:schemeClr>
                </a:solidFill>
                <a:ea typeface="方正书宋简体" panose="02000000000000000000" charset="-122"/>
              </a:defRPr>
            </a:lvl3pPr>
            <a:lvl4pPr>
              <a:lnSpc>
                <a:spcPct val="150000"/>
              </a:lnSpc>
              <a:defRPr sz="1600">
                <a:solidFill>
                  <a:schemeClr val="bg2">
                    <a:lumMod val="25000"/>
                  </a:schemeClr>
                </a:solidFill>
                <a:ea typeface="方正书宋简体" panose="02000000000000000000" charset="-122"/>
              </a:defRPr>
            </a:lvl4pPr>
            <a:lvl5pPr>
              <a:lnSpc>
                <a:spcPct val="150000"/>
              </a:lnSpc>
              <a:defRPr sz="1600">
                <a:solidFill>
                  <a:schemeClr val="bg2">
                    <a:lumMod val="25000"/>
                  </a:schemeClr>
                </a:solidFill>
                <a:ea typeface="方正书宋简体" panose="02000000000000000000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331124" y="6492875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60ED52BA-5E11-4621-8BB0-7D4CE5BFD0E4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314710" y="6492873"/>
            <a:ext cx="1834957" cy="365125"/>
          </a:xfrm>
          <a:prstGeom prst="rect">
            <a:avLst/>
          </a:prstGeom>
        </p:spPr>
        <p:txBody>
          <a:bodyPr/>
          <a:lstStyle>
            <a:lvl1pPr algn="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CB4EE45-D6E5-469A-9A22-388220761F53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矩形 9"/>
          <p:cNvSpPr/>
          <p:nvPr userDrawn="1"/>
        </p:nvSpPr>
        <p:spPr>
          <a:xfrm>
            <a:off x="428625" y="0"/>
            <a:ext cx="485104" cy="660400"/>
          </a:xfrm>
          <a:prstGeom prst="rect">
            <a:avLst/>
          </a:prstGeom>
          <a:solidFill>
            <a:srgbClr val="017E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17EAE"/>
              </a:solidFill>
            </a:endParaRPr>
          </a:p>
        </p:txBody>
      </p:sp>
      <p:pic>
        <p:nvPicPr>
          <p:cNvPr id="8" name="图形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06934" y="326039"/>
            <a:ext cx="2825913" cy="597347"/>
          </a:xfrm>
          <a:prstGeom prst="rect">
            <a:avLst/>
          </a:prstGeom>
        </p:spPr>
      </p:pic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143525" y="6453353"/>
            <a:ext cx="2203206" cy="404648"/>
          </a:xfrm>
          <a:prstGeom prst="rect">
            <a:avLst/>
          </a:prstGeom>
        </p:spPr>
        <p:txBody>
          <a:bodyPr/>
          <a:lstStyle>
            <a:lvl1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/>
              <a:t>                 毛竹青</a:t>
            </a:r>
            <a:endParaRPr lang="zh-CN" altLang="en-US" dirty="0"/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左右双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51026" y="347661"/>
            <a:ext cx="10515600" cy="596901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accent5">
                    <a:lumMod val="50000"/>
                  </a:schemeClr>
                </a:solidFill>
                <a:ea typeface="方正书宋简体" panose="02000000000000000000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7542" y="1253330"/>
            <a:ext cx="5019425" cy="505856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5">
                    <a:lumMod val="50000"/>
                  </a:schemeClr>
                </a:solidFill>
                <a:ea typeface="方正书宋简体" panose="02000000000000000000" charset="-122"/>
              </a:defRPr>
            </a:lvl1pPr>
            <a:lvl2pPr>
              <a:lnSpc>
                <a:spcPct val="150000"/>
              </a:lnSpc>
              <a:defRPr sz="2000">
                <a:solidFill>
                  <a:schemeClr val="bg2">
                    <a:lumMod val="25000"/>
                  </a:schemeClr>
                </a:solidFill>
                <a:ea typeface="方正书宋简体" panose="02000000000000000000" charset="-122"/>
              </a:defRPr>
            </a:lvl2pPr>
            <a:lvl3pPr>
              <a:lnSpc>
                <a:spcPct val="150000"/>
              </a:lnSpc>
              <a:defRPr sz="1800">
                <a:solidFill>
                  <a:schemeClr val="bg2">
                    <a:lumMod val="25000"/>
                  </a:schemeClr>
                </a:solidFill>
                <a:ea typeface="方正书宋简体" panose="02000000000000000000" charset="-122"/>
              </a:defRPr>
            </a:lvl3pPr>
            <a:lvl4pPr>
              <a:lnSpc>
                <a:spcPct val="150000"/>
              </a:lnSpc>
              <a:defRPr sz="1600">
                <a:solidFill>
                  <a:schemeClr val="bg2">
                    <a:lumMod val="25000"/>
                  </a:schemeClr>
                </a:solidFill>
                <a:ea typeface="方正书宋简体" panose="02000000000000000000" charset="-122"/>
              </a:defRPr>
            </a:lvl4pPr>
            <a:lvl5pPr>
              <a:lnSpc>
                <a:spcPct val="150000"/>
              </a:lnSpc>
              <a:defRPr sz="1600">
                <a:solidFill>
                  <a:schemeClr val="bg2">
                    <a:lumMod val="25000"/>
                  </a:schemeClr>
                </a:solidFill>
                <a:ea typeface="方正书宋简体" panose="02000000000000000000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331124" y="6492875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56D422-79B5-4DA0-84C5-530CF569F1D5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314710" y="6492873"/>
            <a:ext cx="1834957" cy="365125"/>
          </a:xfrm>
          <a:prstGeom prst="rect">
            <a:avLst/>
          </a:prstGeom>
        </p:spPr>
        <p:txBody>
          <a:bodyPr/>
          <a:lstStyle>
            <a:lvl1pPr algn="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CB4EE45-D6E5-469A-9A22-388220761F53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矩形 9"/>
          <p:cNvSpPr/>
          <p:nvPr userDrawn="1"/>
        </p:nvSpPr>
        <p:spPr>
          <a:xfrm>
            <a:off x="428625" y="0"/>
            <a:ext cx="485104" cy="660400"/>
          </a:xfrm>
          <a:prstGeom prst="rect">
            <a:avLst/>
          </a:prstGeom>
          <a:solidFill>
            <a:srgbClr val="017E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17EAE"/>
              </a:solidFill>
            </a:endParaRPr>
          </a:p>
        </p:txBody>
      </p:sp>
      <p:sp>
        <p:nvSpPr>
          <p:cNvPr id="9" name="内容占位符 2"/>
          <p:cNvSpPr>
            <a:spLocks noGrp="1"/>
          </p:cNvSpPr>
          <p:nvPr>
            <p:ph idx="13"/>
          </p:nvPr>
        </p:nvSpPr>
        <p:spPr>
          <a:xfrm>
            <a:off x="6308826" y="1253330"/>
            <a:ext cx="5019425" cy="505856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5">
                    <a:lumMod val="50000"/>
                  </a:schemeClr>
                </a:solidFill>
                <a:ea typeface="方正书宋简体" panose="02000000000000000000" charset="-122"/>
              </a:defRPr>
            </a:lvl1pPr>
            <a:lvl2pPr>
              <a:lnSpc>
                <a:spcPct val="150000"/>
              </a:lnSpc>
              <a:defRPr sz="2000">
                <a:solidFill>
                  <a:schemeClr val="bg2">
                    <a:lumMod val="25000"/>
                  </a:schemeClr>
                </a:solidFill>
                <a:ea typeface="方正书宋简体" panose="02000000000000000000" charset="-122"/>
              </a:defRPr>
            </a:lvl2pPr>
            <a:lvl3pPr>
              <a:lnSpc>
                <a:spcPct val="150000"/>
              </a:lnSpc>
              <a:defRPr sz="1800">
                <a:solidFill>
                  <a:schemeClr val="bg2">
                    <a:lumMod val="25000"/>
                  </a:schemeClr>
                </a:solidFill>
                <a:ea typeface="方正书宋简体" panose="02000000000000000000" charset="-122"/>
              </a:defRPr>
            </a:lvl3pPr>
            <a:lvl4pPr>
              <a:lnSpc>
                <a:spcPct val="150000"/>
              </a:lnSpc>
              <a:defRPr sz="1600">
                <a:solidFill>
                  <a:schemeClr val="bg2">
                    <a:lumMod val="25000"/>
                  </a:schemeClr>
                </a:solidFill>
                <a:ea typeface="方正书宋简体" panose="02000000000000000000" charset="-122"/>
              </a:defRPr>
            </a:lvl4pPr>
            <a:lvl5pPr>
              <a:lnSpc>
                <a:spcPct val="150000"/>
              </a:lnSpc>
              <a:defRPr sz="1600">
                <a:solidFill>
                  <a:schemeClr val="bg2">
                    <a:lumMod val="25000"/>
                  </a:schemeClr>
                </a:solidFill>
                <a:ea typeface="方正书宋简体" panose="02000000000000000000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pic>
        <p:nvPicPr>
          <p:cNvPr id="8" name="图形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06934" y="326039"/>
            <a:ext cx="2825913" cy="597347"/>
          </a:xfrm>
          <a:prstGeom prst="rect">
            <a:avLst/>
          </a:prstGeom>
        </p:spPr>
      </p:pic>
      <p:sp>
        <p:nvSpPr>
          <p:cNvPr id="11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143525" y="6453353"/>
            <a:ext cx="2203206" cy="404648"/>
          </a:xfrm>
          <a:prstGeom prst="rect">
            <a:avLst/>
          </a:prstGeom>
        </p:spPr>
        <p:txBody>
          <a:bodyPr/>
          <a:lstStyle>
            <a:lvl1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/>
              <a:t>毛竹青</a:t>
            </a:r>
            <a:endParaRPr lang="zh-CN" altLang="en-US" dirty="0"/>
          </a:p>
        </p:txBody>
      </p:sp>
    </p:spTree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上下双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51026" y="347661"/>
            <a:ext cx="10515600" cy="596901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accent5">
                    <a:lumMod val="50000"/>
                  </a:schemeClr>
                </a:solidFill>
                <a:ea typeface="方正书宋简体" panose="02000000000000000000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7542" y="1253331"/>
            <a:ext cx="8775179" cy="2331245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accent5">
                    <a:lumMod val="50000"/>
                  </a:schemeClr>
                </a:solidFill>
                <a:ea typeface="方正书宋简体" panose="02000000000000000000" charset="-122"/>
              </a:defRPr>
            </a:lvl1pPr>
            <a:lvl2pPr>
              <a:defRPr sz="2000">
                <a:solidFill>
                  <a:schemeClr val="bg2">
                    <a:lumMod val="25000"/>
                  </a:schemeClr>
                </a:solidFill>
                <a:ea typeface="方正书宋简体" panose="02000000000000000000" charset="-122"/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  <a:ea typeface="方正书宋简体" panose="02000000000000000000" charset="-122"/>
              </a:defRPr>
            </a:lvl3pPr>
            <a:lvl4pPr>
              <a:defRPr sz="1600">
                <a:solidFill>
                  <a:schemeClr val="bg2">
                    <a:lumMod val="25000"/>
                  </a:schemeClr>
                </a:solidFill>
                <a:ea typeface="方正书宋简体" panose="02000000000000000000" charset="-122"/>
              </a:defRPr>
            </a:lvl4pPr>
            <a:lvl5pPr>
              <a:defRPr sz="1600">
                <a:solidFill>
                  <a:schemeClr val="bg2">
                    <a:lumMod val="25000"/>
                  </a:schemeClr>
                </a:solidFill>
                <a:ea typeface="方正书宋简体" panose="02000000000000000000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331124" y="6492875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56D422-79B5-4DA0-84C5-530CF569F1D5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314710" y="6492873"/>
            <a:ext cx="1834957" cy="365125"/>
          </a:xfrm>
          <a:prstGeom prst="rect">
            <a:avLst/>
          </a:prstGeom>
        </p:spPr>
        <p:txBody>
          <a:bodyPr/>
          <a:lstStyle>
            <a:lvl1pPr algn="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CB4EE45-D6E5-469A-9A22-388220761F53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矩形 9"/>
          <p:cNvSpPr/>
          <p:nvPr userDrawn="1"/>
        </p:nvSpPr>
        <p:spPr>
          <a:xfrm>
            <a:off x="428625" y="0"/>
            <a:ext cx="485104" cy="660400"/>
          </a:xfrm>
          <a:prstGeom prst="rect">
            <a:avLst/>
          </a:prstGeom>
          <a:solidFill>
            <a:srgbClr val="017E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17EAE"/>
              </a:solidFill>
            </a:endParaRPr>
          </a:p>
        </p:txBody>
      </p:sp>
      <p:sp>
        <p:nvSpPr>
          <p:cNvPr id="11" name="等腰三角形 10"/>
          <p:cNvSpPr/>
          <p:nvPr userDrawn="1"/>
        </p:nvSpPr>
        <p:spPr>
          <a:xfrm rot="16200000">
            <a:off x="9020175" y="1677197"/>
            <a:ext cx="4051300" cy="2292350"/>
          </a:xfrm>
          <a:prstGeom prst="triangle">
            <a:avLst/>
          </a:prstGeom>
          <a:solidFill>
            <a:srgbClr val="017E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等腰三角形 11"/>
          <p:cNvSpPr/>
          <p:nvPr userDrawn="1"/>
        </p:nvSpPr>
        <p:spPr>
          <a:xfrm rot="5400000" flipH="1">
            <a:off x="-565203" y="4200578"/>
            <a:ext cx="2603606" cy="1473200"/>
          </a:xfrm>
          <a:prstGeom prst="triangle">
            <a:avLst/>
          </a:prstGeom>
          <a:solidFill>
            <a:srgbClr val="017E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worker_50874"/>
          <p:cNvSpPr>
            <a:spLocks noChangeAspect="1"/>
          </p:cNvSpPr>
          <p:nvPr userDrawn="1"/>
        </p:nvSpPr>
        <p:spPr bwMode="auto">
          <a:xfrm>
            <a:off x="10885902" y="2481932"/>
            <a:ext cx="561940" cy="609684"/>
          </a:xfrm>
          <a:custGeom>
            <a:avLst/>
            <a:gdLst>
              <a:gd name="connsiteX0" fmla="*/ 191479 w 561065"/>
              <a:gd name="connsiteY0" fmla="*/ 375902 h 608735"/>
              <a:gd name="connsiteX1" fmla="*/ 245437 w 561065"/>
              <a:gd name="connsiteY1" fmla="*/ 535655 h 608735"/>
              <a:gd name="connsiteX2" fmla="*/ 250809 w 561065"/>
              <a:gd name="connsiteY2" fmla="*/ 420563 h 608735"/>
              <a:gd name="connsiteX3" fmla="*/ 246371 w 561065"/>
              <a:gd name="connsiteY3" fmla="*/ 411817 h 608735"/>
              <a:gd name="connsiteX4" fmla="*/ 228911 w 561065"/>
              <a:gd name="connsiteY4" fmla="*/ 377418 h 608735"/>
              <a:gd name="connsiteX5" fmla="*/ 280299 w 561065"/>
              <a:gd name="connsiteY5" fmla="*/ 393743 h 608735"/>
              <a:gd name="connsiteX6" fmla="*/ 332563 w 561065"/>
              <a:gd name="connsiteY6" fmla="*/ 376718 h 608735"/>
              <a:gd name="connsiteX7" fmla="*/ 314811 w 561065"/>
              <a:gd name="connsiteY7" fmla="*/ 411817 h 608735"/>
              <a:gd name="connsiteX8" fmla="*/ 310373 w 561065"/>
              <a:gd name="connsiteY8" fmla="*/ 420563 h 608735"/>
              <a:gd name="connsiteX9" fmla="*/ 315745 w 561065"/>
              <a:gd name="connsiteY9" fmla="*/ 535655 h 608735"/>
              <a:gd name="connsiteX10" fmla="*/ 369644 w 561065"/>
              <a:gd name="connsiteY10" fmla="*/ 375960 h 608735"/>
              <a:gd name="connsiteX11" fmla="*/ 443223 w 561065"/>
              <a:gd name="connsiteY11" fmla="*/ 403946 h 608735"/>
              <a:gd name="connsiteX12" fmla="*/ 506290 w 561065"/>
              <a:gd name="connsiteY12" fmla="*/ 430241 h 608735"/>
              <a:gd name="connsiteX13" fmla="*/ 507925 w 561065"/>
              <a:gd name="connsiteY13" fmla="*/ 430999 h 608735"/>
              <a:gd name="connsiteX14" fmla="*/ 510728 w 561065"/>
              <a:gd name="connsiteY14" fmla="*/ 432573 h 608735"/>
              <a:gd name="connsiteX15" fmla="*/ 528831 w 561065"/>
              <a:gd name="connsiteY15" fmla="*/ 452630 h 608735"/>
              <a:gd name="connsiteX16" fmla="*/ 528831 w 561065"/>
              <a:gd name="connsiteY16" fmla="*/ 452688 h 608735"/>
              <a:gd name="connsiteX17" fmla="*/ 532042 w 561065"/>
              <a:gd name="connsiteY17" fmla="*/ 462308 h 608735"/>
              <a:gd name="connsiteX18" fmla="*/ 558671 w 561065"/>
              <a:gd name="connsiteY18" fmla="*/ 548307 h 608735"/>
              <a:gd name="connsiteX19" fmla="*/ 560539 w 561065"/>
              <a:gd name="connsiteY19" fmla="*/ 555828 h 608735"/>
              <a:gd name="connsiteX20" fmla="*/ 561065 w 561065"/>
              <a:gd name="connsiteY20" fmla="*/ 562824 h 608735"/>
              <a:gd name="connsiteX21" fmla="*/ 515166 w 561065"/>
              <a:gd name="connsiteY21" fmla="*/ 608710 h 608735"/>
              <a:gd name="connsiteX22" fmla="*/ 471311 w 561065"/>
              <a:gd name="connsiteY22" fmla="*/ 608710 h 608735"/>
              <a:gd name="connsiteX23" fmla="*/ 283044 w 561065"/>
              <a:gd name="connsiteY23" fmla="*/ 608710 h 608735"/>
              <a:gd name="connsiteX24" fmla="*/ 280532 w 561065"/>
              <a:gd name="connsiteY24" fmla="*/ 608710 h 608735"/>
              <a:gd name="connsiteX25" fmla="*/ 278080 w 561065"/>
              <a:gd name="connsiteY25" fmla="*/ 608710 h 608735"/>
              <a:gd name="connsiteX26" fmla="*/ 89812 w 561065"/>
              <a:gd name="connsiteY26" fmla="*/ 608710 h 608735"/>
              <a:gd name="connsiteX27" fmla="*/ 45957 w 561065"/>
              <a:gd name="connsiteY27" fmla="*/ 608710 h 608735"/>
              <a:gd name="connsiteX28" fmla="*/ 0 w 561065"/>
              <a:gd name="connsiteY28" fmla="*/ 562824 h 608735"/>
              <a:gd name="connsiteX29" fmla="*/ 584 w 561065"/>
              <a:gd name="connsiteY29" fmla="*/ 555828 h 608735"/>
              <a:gd name="connsiteX30" fmla="*/ 2453 w 561065"/>
              <a:gd name="connsiteY30" fmla="*/ 548307 h 608735"/>
              <a:gd name="connsiteX31" fmla="*/ 29081 w 561065"/>
              <a:gd name="connsiteY31" fmla="*/ 462308 h 608735"/>
              <a:gd name="connsiteX32" fmla="*/ 32234 w 561065"/>
              <a:gd name="connsiteY32" fmla="*/ 452688 h 608735"/>
              <a:gd name="connsiteX33" fmla="*/ 32234 w 561065"/>
              <a:gd name="connsiteY33" fmla="*/ 452630 h 608735"/>
              <a:gd name="connsiteX34" fmla="*/ 50395 w 561065"/>
              <a:gd name="connsiteY34" fmla="*/ 432457 h 608735"/>
              <a:gd name="connsiteX35" fmla="*/ 53198 w 561065"/>
              <a:gd name="connsiteY35" fmla="*/ 430941 h 608735"/>
              <a:gd name="connsiteX36" fmla="*/ 54833 w 561065"/>
              <a:gd name="connsiteY36" fmla="*/ 430125 h 608735"/>
              <a:gd name="connsiteX37" fmla="*/ 117901 w 561065"/>
              <a:gd name="connsiteY37" fmla="*/ 403888 h 608735"/>
              <a:gd name="connsiteX38" fmla="*/ 191479 w 561065"/>
              <a:gd name="connsiteY38" fmla="*/ 375902 h 608735"/>
              <a:gd name="connsiteX39" fmla="*/ 277747 w 561065"/>
              <a:gd name="connsiteY39" fmla="*/ 0 h 608735"/>
              <a:gd name="connsiteX40" fmla="*/ 277980 w 561065"/>
              <a:gd name="connsiteY40" fmla="*/ 0 h 608735"/>
              <a:gd name="connsiteX41" fmla="*/ 278214 w 561065"/>
              <a:gd name="connsiteY41" fmla="*/ 0 h 608735"/>
              <a:gd name="connsiteX42" fmla="*/ 280491 w 561065"/>
              <a:gd name="connsiteY42" fmla="*/ 0 h 608735"/>
              <a:gd name="connsiteX43" fmla="*/ 282768 w 561065"/>
              <a:gd name="connsiteY43" fmla="*/ 0 h 608735"/>
              <a:gd name="connsiteX44" fmla="*/ 283001 w 561065"/>
              <a:gd name="connsiteY44" fmla="*/ 0 h 608735"/>
              <a:gd name="connsiteX45" fmla="*/ 283235 w 561065"/>
              <a:gd name="connsiteY45" fmla="*/ 0 h 608735"/>
              <a:gd name="connsiteX46" fmla="*/ 401988 w 561065"/>
              <a:gd name="connsiteY46" fmla="*/ 118656 h 608735"/>
              <a:gd name="connsiteX47" fmla="*/ 400470 w 561065"/>
              <a:gd name="connsiteY47" fmla="*/ 162854 h 608735"/>
              <a:gd name="connsiteX48" fmla="*/ 427093 w 561065"/>
              <a:gd name="connsiteY48" fmla="*/ 188509 h 608735"/>
              <a:gd name="connsiteX49" fmla="*/ 394456 w 561065"/>
              <a:gd name="connsiteY49" fmla="*/ 242969 h 608735"/>
              <a:gd name="connsiteX50" fmla="*/ 342436 w 561065"/>
              <a:gd name="connsiteY50" fmla="*/ 326465 h 608735"/>
              <a:gd name="connsiteX51" fmla="*/ 283001 w 561065"/>
              <a:gd name="connsiteY51" fmla="*/ 354745 h 608735"/>
              <a:gd name="connsiteX52" fmla="*/ 280491 w 561065"/>
              <a:gd name="connsiteY52" fmla="*/ 354803 h 608735"/>
              <a:gd name="connsiteX53" fmla="*/ 277980 w 561065"/>
              <a:gd name="connsiteY53" fmla="*/ 354745 h 608735"/>
              <a:gd name="connsiteX54" fmla="*/ 218136 w 561065"/>
              <a:gd name="connsiteY54" fmla="*/ 326116 h 608735"/>
              <a:gd name="connsiteX55" fmla="*/ 166467 w 561065"/>
              <a:gd name="connsiteY55" fmla="*/ 242969 h 608735"/>
              <a:gd name="connsiteX56" fmla="*/ 133830 w 561065"/>
              <a:gd name="connsiteY56" fmla="*/ 188509 h 608735"/>
              <a:gd name="connsiteX57" fmla="*/ 160453 w 561065"/>
              <a:gd name="connsiteY57" fmla="*/ 162970 h 608735"/>
              <a:gd name="connsiteX58" fmla="*/ 158877 w 561065"/>
              <a:gd name="connsiteY58" fmla="*/ 118715 h 608735"/>
              <a:gd name="connsiteX59" fmla="*/ 277747 w 561065"/>
              <a:gd name="connsiteY59" fmla="*/ 0 h 608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561065" h="608735">
                <a:moveTo>
                  <a:pt x="191479" y="375902"/>
                </a:moveTo>
                <a:cubicBezTo>
                  <a:pt x="195917" y="394559"/>
                  <a:pt x="238604" y="518455"/>
                  <a:pt x="245437" y="535655"/>
                </a:cubicBezTo>
                <a:lnTo>
                  <a:pt x="250809" y="420563"/>
                </a:lnTo>
                <a:cubicBezTo>
                  <a:pt x="248999" y="417881"/>
                  <a:pt x="247773" y="414732"/>
                  <a:pt x="246371" y="411817"/>
                </a:cubicBezTo>
                <a:lnTo>
                  <a:pt x="228911" y="377418"/>
                </a:lnTo>
                <a:cubicBezTo>
                  <a:pt x="241466" y="387446"/>
                  <a:pt x="259860" y="393743"/>
                  <a:pt x="280299" y="393743"/>
                </a:cubicBezTo>
                <a:cubicBezTo>
                  <a:pt x="301263" y="393743"/>
                  <a:pt x="320008" y="387155"/>
                  <a:pt x="332563" y="376718"/>
                </a:cubicBezTo>
                <a:lnTo>
                  <a:pt x="314811" y="411817"/>
                </a:lnTo>
                <a:cubicBezTo>
                  <a:pt x="313409" y="414732"/>
                  <a:pt x="312183" y="417881"/>
                  <a:pt x="310373" y="420563"/>
                </a:cubicBezTo>
                <a:lnTo>
                  <a:pt x="315745" y="535655"/>
                </a:lnTo>
                <a:cubicBezTo>
                  <a:pt x="322519" y="518455"/>
                  <a:pt x="365089" y="394618"/>
                  <a:pt x="369644" y="375960"/>
                </a:cubicBezTo>
                <a:cubicBezTo>
                  <a:pt x="394754" y="384881"/>
                  <a:pt x="419397" y="393685"/>
                  <a:pt x="443223" y="403946"/>
                </a:cubicBezTo>
                <a:cubicBezTo>
                  <a:pt x="443223" y="403946"/>
                  <a:pt x="490757" y="422895"/>
                  <a:pt x="506290" y="430241"/>
                </a:cubicBezTo>
                <a:cubicBezTo>
                  <a:pt x="506815" y="430475"/>
                  <a:pt x="507341" y="430766"/>
                  <a:pt x="507925" y="430999"/>
                </a:cubicBezTo>
                <a:cubicBezTo>
                  <a:pt x="509210" y="431699"/>
                  <a:pt x="510261" y="432224"/>
                  <a:pt x="510728" y="432573"/>
                </a:cubicBezTo>
                <a:cubicBezTo>
                  <a:pt x="518553" y="437238"/>
                  <a:pt x="524976" y="444234"/>
                  <a:pt x="528831" y="452630"/>
                </a:cubicBezTo>
                <a:lnTo>
                  <a:pt x="528831" y="452688"/>
                </a:lnTo>
                <a:cubicBezTo>
                  <a:pt x="530232" y="455720"/>
                  <a:pt x="531342" y="458985"/>
                  <a:pt x="532042" y="462308"/>
                </a:cubicBezTo>
                <a:cubicBezTo>
                  <a:pt x="538408" y="481607"/>
                  <a:pt x="552539" y="524694"/>
                  <a:pt x="558671" y="548307"/>
                </a:cubicBezTo>
                <a:cubicBezTo>
                  <a:pt x="559547" y="550697"/>
                  <a:pt x="560131" y="553204"/>
                  <a:pt x="560539" y="555828"/>
                </a:cubicBezTo>
                <a:cubicBezTo>
                  <a:pt x="560831" y="558102"/>
                  <a:pt x="561065" y="560492"/>
                  <a:pt x="561065" y="562824"/>
                </a:cubicBezTo>
                <a:cubicBezTo>
                  <a:pt x="561065" y="588187"/>
                  <a:pt x="540510" y="608710"/>
                  <a:pt x="515166" y="608710"/>
                </a:cubicBezTo>
                <a:lnTo>
                  <a:pt x="471311" y="608710"/>
                </a:lnTo>
                <a:lnTo>
                  <a:pt x="283044" y="608710"/>
                </a:lnTo>
                <a:lnTo>
                  <a:pt x="280532" y="608710"/>
                </a:lnTo>
                <a:lnTo>
                  <a:pt x="278080" y="608710"/>
                </a:lnTo>
                <a:cubicBezTo>
                  <a:pt x="215305" y="608768"/>
                  <a:pt x="152529" y="608710"/>
                  <a:pt x="89812" y="608710"/>
                </a:cubicBezTo>
                <a:lnTo>
                  <a:pt x="45957" y="608710"/>
                </a:lnTo>
                <a:cubicBezTo>
                  <a:pt x="20555" y="608710"/>
                  <a:pt x="0" y="588187"/>
                  <a:pt x="0" y="562824"/>
                </a:cubicBezTo>
                <a:cubicBezTo>
                  <a:pt x="0" y="560492"/>
                  <a:pt x="175" y="558102"/>
                  <a:pt x="584" y="555828"/>
                </a:cubicBezTo>
                <a:cubicBezTo>
                  <a:pt x="934" y="553263"/>
                  <a:pt x="1577" y="550697"/>
                  <a:pt x="2453" y="548307"/>
                </a:cubicBezTo>
                <a:cubicBezTo>
                  <a:pt x="8584" y="524577"/>
                  <a:pt x="22657" y="481607"/>
                  <a:pt x="29081" y="462308"/>
                </a:cubicBezTo>
                <a:cubicBezTo>
                  <a:pt x="29782" y="458985"/>
                  <a:pt x="30833" y="455720"/>
                  <a:pt x="32234" y="452688"/>
                </a:cubicBezTo>
                <a:lnTo>
                  <a:pt x="32234" y="452630"/>
                </a:lnTo>
                <a:cubicBezTo>
                  <a:pt x="36147" y="444234"/>
                  <a:pt x="42512" y="437238"/>
                  <a:pt x="50395" y="432457"/>
                </a:cubicBezTo>
                <a:cubicBezTo>
                  <a:pt x="50863" y="432107"/>
                  <a:pt x="51855" y="431524"/>
                  <a:pt x="53198" y="430941"/>
                </a:cubicBezTo>
                <a:cubicBezTo>
                  <a:pt x="53724" y="430591"/>
                  <a:pt x="54308" y="430358"/>
                  <a:pt x="54833" y="430125"/>
                </a:cubicBezTo>
                <a:cubicBezTo>
                  <a:pt x="70308" y="422895"/>
                  <a:pt x="117901" y="403888"/>
                  <a:pt x="117901" y="403888"/>
                </a:cubicBezTo>
                <a:cubicBezTo>
                  <a:pt x="141726" y="393626"/>
                  <a:pt x="166311" y="384823"/>
                  <a:pt x="191479" y="375902"/>
                </a:cubicBezTo>
                <a:close/>
                <a:moveTo>
                  <a:pt x="277747" y="0"/>
                </a:moveTo>
                <a:lnTo>
                  <a:pt x="277980" y="0"/>
                </a:lnTo>
                <a:lnTo>
                  <a:pt x="278214" y="0"/>
                </a:lnTo>
                <a:lnTo>
                  <a:pt x="280491" y="0"/>
                </a:lnTo>
                <a:lnTo>
                  <a:pt x="282768" y="0"/>
                </a:lnTo>
                <a:lnTo>
                  <a:pt x="283001" y="0"/>
                </a:lnTo>
                <a:lnTo>
                  <a:pt x="283235" y="0"/>
                </a:lnTo>
                <a:cubicBezTo>
                  <a:pt x="348858" y="0"/>
                  <a:pt x="402105" y="53118"/>
                  <a:pt x="401988" y="118656"/>
                </a:cubicBezTo>
                <a:cubicBezTo>
                  <a:pt x="401988" y="125420"/>
                  <a:pt x="400470" y="154807"/>
                  <a:pt x="400470" y="162854"/>
                </a:cubicBezTo>
                <a:cubicBezTo>
                  <a:pt x="403331" y="163029"/>
                  <a:pt x="429954" y="156673"/>
                  <a:pt x="427093" y="188509"/>
                </a:cubicBezTo>
                <a:cubicBezTo>
                  <a:pt x="421021" y="256030"/>
                  <a:pt x="395215" y="242969"/>
                  <a:pt x="394456" y="242969"/>
                </a:cubicBezTo>
                <a:cubicBezTo>
                  <a:pt x="381670" y="283901"/>
                  <a:pt x="361820" y="309964"/>
                  <a:pt x="342436" y="326465"/>
                </a:cubicBezTo>
                <a:cubicBezTo>
                  <a:pt x="312485" y="351946"/>
                  <a:pt x="283468" y="354745"/>
                  <a:pt x="283001" y="354745"/>
                </a:cubicBezTo>
                <a:cubicBezTo>
                  <a:pt x="282125" y="354803"/>
                  <a:pt x="281250" y="354803"/>
                  <a:pt x="280491" y="354803"/>
                </a:cubicBezTo>
                <a:cubicBezTo>
                  <a:pt x="279615" y="354803"/>
                  <a:pt x="278856" y="354745"/>
                  <a:pt x="277980" y="354745"/>
                </a:cubicBezTo>
                <a:cubicBezTo>
                  <a:pt x="277455" y="354745"/>
                  <a:pt x="248263" y="351946"/>
                  <a:pt x="218136" y="326116"/>
                </a:cubicBezTo>
                <a:cubicBezTo>
                  <a:pt x="198811" y="309556"/>
                  <a:pt x="179136" y="283609"/>
                  <a:pt x="166467" y="242969"/>
                </a:cubicBezTo>
                <a:cubicBezTo>
                  <a:pt x="165649" y="242969"/>
                  <a:pt x="139902" y="256030"/>
                  <a:pt x="133830" y="188509"/>
                </a:cubicBezTo>
                <a:cubicBezTo>
                  <a:pt x="130969" y="156731"/>
                  <a:pt x="157592" y="163087"/>
                  <a:pt x="160453" y="162970"/>
                </a:cubicBezTo>
                <a:cubicBezTo>
                  <a:pt x="160453" y="154807"/>
                  <a:pt x="158877" y="125478"/>
                  <a:pt x="158877" y="118715"/>
                </a:cubicBezTo>
                <a:cubicBezTo>
                  <a:pt x="158877" y="53177"/>
                  <a:pt x="212123" y="0"/>
                  <a:pt x="27774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4" name="worker_50874"/>
          <p:cNvSpPr>
            <a:spLocks noChangeAspect="1"/>
          </p:cNvSpPr>
          <p:nvPr userDrawn="1"/>
        </p:nvSpPr>
        <p:spPr bwMode="auto">
          <a:xfrm>
            <a:off x="126916" y="4664242"/>
            <a:ext cx="609684" cy="533684"/>
          </a:xfrm>
          <a:custGeom>
            <a:avLst/>
            <a:gdLst>
              <a:gd name="T0" fmla="*/ 215 w 406"/>
              <a:gd name="T1" fmla="*/ 162 h 356"/>
              <a:gd name="T2" fmla="*/ 157 w 406"/>
              <a:gd name="T3" fmla="*/ 102 h 356"/>
              <a:gd name="T4" fmla="*/ 19 w 406"/>
              <a:gd name="T5" fmla="*/ 242 h 356"/>
              <a:gd name="T6" fmla="*/ 0 w 406"/>
              <a:gd name="T7" fmla="*/ 224 h 356"/>
              <a:gd name="T8" fmla="*/ 157 w 406"/>
              <a:gd name="T9" fmla="*/ 64 h 356"/>
              <a:gd name="T10" fmla="*/ 216 w 406"/>
              <a:gd name="T11" fmla="*/ 124 h 356"/>
              <a:gd name="T12" fmla="*/ 315 w 406"/>
              <a:gd name="T13" fmla="*/ 28 h 356"/>
              <a:gd name="T14" fmla="*/ 287 w 406"/>
              <a:gd name="T15" fmla="*/ 0 h 356"/>
              <a:gd name="T16" fmla="*/ 362 w 406"/>
              <a:gd name="T17" fmla="*/ 0 h 356"/>
              <a:gd name="T18" fmla="*/ 362 w 406"/>
              <a:gd name="T19" fmla="*/ 74 h 356"/>
              <a:gd name="T20" fmla="*/ 334 w 406"/>
              <a:gd name="T21" fmla="*/ 47 h 356"/>
              <a:gd name="T22" fmla="*/ 215 w 406"/>
              <a:gd name="T23" fmla="*/ 162 h 356"/>
              <a:gd name="T24" fmla="*/ 66 w 406"/>
              <a:gd name="T25" fmla="*/ 356 h 356"/>
              <a:gd name="T26" fmla="*/ 156 w 406"/>
              <a:gd name="T27" fmla="*/ 356 h 356"/>
              <a:gd name="T28" fmla="*/ 156 w 406"/>
              <a:gd name="T29" fmla="*/ 230 h 356"/>
              <a:gd name="T30" fmla="*/ 66 w 406"/>
              <a:gd name="T31" fmla="*/ 230 h 356"/>
              <a:gd name="T32" fmla="*/ 66 w 406"/>
              <a:gd name="T33" fmla="*/ 356 h 356"/>
              <a:gd name="T34" fmla="*/ 191 w 406"/>
              <a:gd name="T35" fmla="*/ 356 h 356"/>
              <a:gd name="T36" fmla="*/ 281 w 406"/>
              <a:gd name="T37" fmla="*/ 356 h 356"/>
              <a:gd name="T38" fmla="*/ 281 w 406"/>
              <a:gd name="T39" fmla="*/ 190 h 356"/>
              <a:gd name="T40" fmla="*/ 191 w 406"/>
              <a:gd name="T41" fmla="*/ 190 h 356"/>
              <a:gd name="T42" fmla="*/ 191 w 406"/>
              <a:gd name="T43" fmla="*/ 356 h 356"/>
              <a:gd name="T44" fmla="*/ 316 w 406"/>
              <a:gd name="T45" fmla="*/ 106 h 356"/>
              <a:gd name="T46" fmla="*/ 316 w 406"/>
              <a:gd name="T47" fmla="*/ 356 h 356"/>
              <a:gd name="T48" fmla="*/ 406 w 406"/>
              <a:gd name="T49" fmla="*/ 356 h 356"/>
              <a:gd name="T50" fmla="*/ 406 w 406"/>
              <a:gd name="T51" fmla="*/ 106 h 356"/>
              <a:gd name="T52" fmla="*/ 316 w 406"/>
              <a:gd name="T53" fmla="*/ 106 h 3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406" h="356">
                <a:moveTo>
                  <a:pt x="215" y="162"/>
                </a:moveTo>
                <a:lnTo>
                  <a:pt x="157" y="102"/>
                </a:lnTo>
                <a:lnTo>
                  <a:pt x="19" y="242"/>
                </a:lnTo>
                <a:lnTo>
                  <a:pt x="0" y="224"/>
                </a:lnTo>
                <a:lnTo>
                  <a:pt x="157" y="64"/>
                </a:lnTo>
                <a:lnTo>
                  <a:pt x="216" y="124"/>
                </a:lnTo>
                <a:lnTo>
                  <a:pt x="315" y="28"/>
                </a:lnTo>
                <a:lnTo>
                  <a:pt x="287" y="0"/>
                </a:lnTo>
                <a:lnTo>
                  <a:pt x="362" y="0"/>
                </a:lnTo>
                <a:lnTo>
                  <a:pt x="362" y="74"/>
                </a:lnTo>
                <a:lnTo>
                  <a:pt x="334" y="47"/>
                </a:lnTo>
                <a:lnTo>
                  <a:pt x="215" y="162"/>
                </a:lnTo>
                <a:close/>
                <a:moveTo>
                  <a:pt x="66" y="356"/>
                </a:moveTo>
                <a:lnTo>
                  <a:pt x="156" y="356"/>
                </a:lnTo>
                <a:lnTo>
                  <a:pt x="156" y="230"/>
                </a:lnTo>
                <a:lnTo>
                  <a:pt x="66" y="230"/>
                </a:lnTo>
                <a:lnTo>
                  <a:pt x="66" y="356"/>
                </a:lnTo>
                <a:close/>
                <a:moveTo>
                  <a:pt x="191" y="356"/>
                </a:moveTo>
                <a:lnTo>
                  <a:pt x="281" y="356"/>
                </a:lnTo>
                <a:lnTo>
                  <a:pt x="281" y="190"/>
                </a:lnTo>
                <a:lnTo>
                  <a:pt x="191" y="190"/>
                </a:lnTo>
                <a:lnTo>
                  <a:pt x="191" y="356"/>
                </a:lnTo>
                <a:close/>
                <a:moveTo>
                  <a:pt x="316" y="106"/>
                </a:moveTo>
                <a:lnTo>
                  <a:pt x="316" y="356"/>
                </a:lnTo>
                <a:lnTo>
                  <a:pt x="406" y="356"/>
                </a:lnTo>
                <a:lnTo>
                  <a:pt x="406" y="106"/>
                </a:lnTo>
                <a:lnTo>
                  <a:pt x="316" y="10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内容占位符 2"/>
          <p:cNvSpPr>
            <a:spLocks noGrp="1"/>
          </p:cNvSpPr>
          <p:nvPr>
            <p:ph idx="13"/>
          </p:nvPr>
        </p:nvSpPr>
        <p:spPr>
          <a:xfrm>
            <a:off x="1780070" y="3765461"/>
            <a:ext cx="8775179" cy="2331245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accent5">
                    <a:lumMod val="50000"/>
                  </a:schemeClr>
                </a:solidFill>
                <a:ea typeface="方正书宋简体" panose="02000000000000000000" charset="-122"/>
              </a:defRPr>
            </a:lvl1pPr>
            <a:lvl2pPr>
              <a:defRPr sz="2000">
                <a:solidFill>
                  <a:schemeClr val="bg2">
                    <a:lumMod val="25000"/>
                  </a:schemeClr>
                </a:solidFill>
                <a:ea typeface="方正书宋简体" panose="02000000000000000000" charset="-122"/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  <a:ea typeface="方正书宋简体" panose="02000000000000000000" charset="-122"/>
              </a:defRPr>
            </a:lvl3pPr>
            <a:lvl4pPr>
              <a:defRPr sz="1600">
                <a:solidFill>
                  <a:schemeClr val="bg2">
                    <a:lumMod val="25000"/>
                  </a:schemeClr>
                </a:solidFill>
                <a:ea typeface="方正书宋简体" panose="02000000000000000000" charset="-122"/>
              </a:defRPr>
            </a:lvl4pPr>
            <a:lvl5pPr>
              <a:defRPr sz="1600">
                <a:solidFill>
                  <a:schemeClr val="bg2">
                    <a:lumMod val="25000"/>
                  </a:schemeClr>
                </a:solidFill>
                <a:ea typeface="方正书宋简体" panose="02000000000000000000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pic>
        <p:nvPicPr>
          <p:cNvPr id="8" name="图形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06934" y="326039"/>
            <a:ext cx="2825913" cy="597347"/>
          </a:xfrm>
          <a:prstGeom prst="rect">
            <a:avLst/>
          </a:prstGeom>
        </p:spPr>
      </p:pic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143525" y="6453353"/>
            <a:ext cx="2203206" cy="404648"/>
          </a:xfrm>
          <a:prstGeom prst="rect">
            <a:avLst/>
          </a:prstGeom>
        </p:spPr>
        <p:txBody>
          <a:bodyPr/>
          <a:lstStyle>
            <a:lvl1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/>
              <a:t>                   毛竹青</a:t>
            </a:r>
            <a:endParaRPr lang="zh-CN" altLang="en-US" dirty="0"/>
          </a:p>
        </p:txBody>
      </p:sp>
    </p:spTree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（四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>
          <a:xfrm>
            <a:off x="493618" y="2009671"/>
            <a:ext cx="3416229" cy="43806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51026" y="347661"/>
            <a:ext cx="10515600" cy="596901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accent5">
                    <a:lumMod val="50000"/>
                  </a:schemeClr>
                </a:solidFill>
                <a:ea typeface="方正书宋简体" panose="02000000000000000000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8235" y="2248593"/>
            <a:ext cx="2995826" cy="406330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5">
                    <a:lumMod val="50000"/>
                  </a:schemeClr>
                </a:solidFill>
                <a:ea typeface="方正书宋简体" panose="02000000000000000000" charset="-122"/>
              </a:defRPr>
            </a:lvl1pPr>
            <a:lvl2pPr marL="457200" indent="0">
              <a:buFontTx/>
              <a:buNone/>
              <a:defRPr sz="1600">
                <a:solidFill>
                  <a:schemeClr val="bg2">
                    <a:lumMod val="25000"/>
                  </a:schemeClr>
                </a:solidFill>
                <a:ea typeface="方正书宋简体" panose="02000000000000000000" charset="-122"/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  <a:ea typeface="方正书宋简体" panose="02000000000000000000" charset="-122"/>
              </a:defRPr>
            </a:lvl3pPr>
            <a:lvl4pPr>
              <a:defRPr sz="1600">
                <a:solidFill>
                  <a:schemeClr val="bg2">
                    <a:lumMod val="25000"/>
                  </a:schemeClr>
                </a:solidFill>
                <a:ea typeface="方正书宋简体" panose="02000000000000000000" charset="-122"/>
              </a:defRPr>
            </a:lvl4pPr>
            <a:lvl5pPr>
              <a:defRPr sz="1600">
                <a:solidFill>
                  <a:schemeClr val="bg2">
                    <a:lumMod val="25000"/>
                  </a:schemeClr>
                </a:solidFill>
                <a:ea typeface="方正书宋简体" panose="02000000000000000000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331124" y="6492875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56D422-79B5-4DA0-84C5-530CF569F1D5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143525" y="6453353"/>
            <a:ext cx="2203206" cy="404648"/>
          </a:xfrm>
          <a:prstGeom prst="rect">
            <a:avLst/>
          </a:prstGeom>
        </p:spPr>
        <p:txBody>
          <a:bodyPr/>
          <a:lstStyle>
            <a:lvl1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/>
              <a:t>                  毛竹青</a:t>
            </a:r>
            <a:endParaRPr lang="zh-CN" altLang="en-US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314710" y="6492873"/>
            <a:ext cx="1834957" cy="365125"/>
          </a:xfrm>
          <a:prstGeom prst="rect">
            <a:avLst/>
          </a:prstGeom>
        </p:spPr>
        <p:txBody>
          <a:bodyPr/>
          <a:lstStyle>
            <a:lvl1pPr algn="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CB4EE45-D6E5-469A-9A22-388220761F53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矩形 9"/>
          <p:cNvSpPr/>
          <p:nvPr userDrawn="1"/>
        </p:nvSpPr>
        <p:spPr>
          <a:xfrm>
            <a:off x="428625" y="0"/>
            <a:ext cx="485104" cy="660400"/>
          </a:xfrm>
          <a:prstGeom prst="rect">
            <a:avLst/>
          </a:prstGeom>
          <a:solidFill>
            <a:srgbClr val="017E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17EAE"/>
              </a:solidFill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618235" y="1594101"/>
            <a:ext cx="2609813" cy="517151"/>
          </a:xfrm>
          <a:prstGeom prst="rect">
            <a:avLst/>
          </a:prstGeom>
          <a:solidFill>
            <a:srgbClr val="017EAE"/>
          </a:solidFill>
          <a:ln>
            <a:solidFill>
              <a:srgbClr val="017E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4545345" y="2025435"/>
            <a:ext cx="3416229" cy="43806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内容占位符 2"/>
          <p:cNvSpPr>
            <a:spLocks noGrp="1"/>
          </p:cNvSpPr>
          <p:nvPr>
            <p:ph idx="16"/>
          </p:nvPr>
        </p:nvSpPr>
        <p:spPr>
          <a:xfrm>
            <a:off x="4669962" y="2264357"/>
            <a:ext cx="2995826" cy="406330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5">
                    <a:lumMod val="50000"/>
                  </a:schemeClr>
                </a:solidFill>
                <a:ea typeface="方正书宋简体" panose="02000000000000000000" charset="-122"/>
              </a:defRPr>
            </a:lvl1pPr>
            <a:lvl2pPr marL="457200" indent="0">
              <a:buFontTx/>
              <a:buNone/>
              <a:defRPr sz="1600">
                <a:solidFill>
                  <a:schemeClr val="bg2">
                    <a:lumMod val="25000"/>
                  </a:schemeClr>
                </a:solidFill>
                <a:ea typeface="方正书宋简体" panose="02000000000000000000" charset="-122"/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  <a:ea typeface="方正书宋简体" panose="02000000000000000000" charset="-122"/>
              </a:defRPr>
            </a:lvl3pPr>
            <a:lvl4pPr>
              <a:defRPr sz="1600">
                <a:solidFill>
                  <a:schemeClr val="bg2">
                    <a:lumMod val="25000"/>
                  </a:schemeClr>
                </a:solidFill>
                <a:ea typeface="方正书宋简体" panose="02000000000000000000" charset="-122"/>
              </a:defRPr>
            </a:lvl4pPr>
            <a:lvl5pPr>
              <a:defRPr sz="1600">
                <a:solidFill>
                  <a:schemeClr val="bg2">
                    <a:lumMod val="25000"/>
                  </a:schemeClr>
                </a:solidFill>
                <a:ea typeface="方正书宋简体" panose="02000000000000000000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4669962" y="1609865"/>
            <a:ext cx="2609813" cy="517151"/>
          </a:xfrm>
          <a:prstGeom prst="rect">
            <a:avLst/>
          </a:prstGeom>
          <a:solidFill>
            <a:srgbClr val="017EAE"/>
          </a:solidFill>
          <a:ln>
            <a:solidFill>
              <a:srgbClr val="017E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矩形 22"/>
          <p:cNvSpPr/>
          <p:nvPr userDrawn="1"/>
        </p:nvSpPr>
        <p:spPr>
          <a:xfrm>
            <a:off x="8439417" y="2020182"/>
            <a:ext cx="3416229" cy="43806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内容占位符 2"/>
          <p:cNvSpPr>
            <a:spLocks noGrp="1"/>
          </p:cNvSpPr>
          <p:nvPr>
            <p:ph idx="17"/>
          </p:nvPr>
        </p:nvSpPr>
        <p:spPr>
          <a:xfrm>
            <a:off x="8564034" y="2259104"/>
            <a:ext cx="2995826" cy="406330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5">
                    <a:lumMod val="50000"/>
                  </a:schemeClr>
                </a:solidFill>
                <a:ea typeface="方正书宋简体" panose="02000000000000000000" charset="-122"/>
              </a:defRPr>
            </a:lvl1pPr>
            <a:lvl2pPr marL="457200" indent="0">
              <a:buFontTx/>
              <a:buNone/>
              <a:defRPr sz="1600">
                <a:solidFill>
                  <a:schemeClr val="bg2">
                    <a:lumMod val="25000"/>
                  </a:schemeClr>
                </a:solidFill>
                <a:ea typeface="方正书宋简体" panose="02000000000000000000" charset="-122"/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  <a:ea typeface="方正书宋简体" panose="02000000000000000000" charset="-122"/>
              </a:defRPr>
            </a:lvl3pPr>
            <a:lvl4pPr>
              <a:defRPr sz="1600">
                <a:solidFill>
                  <a:schemeClr val="bg2">
                    <a:lumMod val="25000"/>
                  </a:schemeClr>
                </a:solidFill>
                <a:ea typeface="方正书宋简体" panose="02000000000000000000" charset="-122"/>
              </a:defRPr>
            </a:lvl4pPr>
            <a:lvl5pPr>
              <a:defRPr sz="1600">
                <a:solidFill>
                  <a:schemeClr val="bg2">
                    <a:lumMod val="25000"/>
                  </a:schemeClr>
                </a:solidFill>
                <a:ea typeface="方正书宋简体" panose="02000000000000000000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</p:txBody>
      </p:sp>
      <p:sp>
        <p:nvSpPr>
          <p:cNvPr id="25" name="矩形 24"/>
          <p:cNvSpPr/>
          <p:nvPr userDrawn="1"/>
        </p:nvSpPr>
        <p:spPr>
          <a:xfrm>
            <a:off x="8564034" y="1604612"/>
            <a:ext cx="2609813" cy="517151"/>
          </a:xfrm>
          <a:prstGeom prst="rect">
            <a:avLst/>
          </a:prstGeom>
          <a:solidFill>
            <a:srgbClr val="017EAE"/>
          </a:solidFill>
          <a:ln>
            <a:solidFill>
              <a:srgbClr val="017E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" name="内容占位符 28"/>
          <p:cNvSpPr>
            <a:spLocks noGrp="1"/>
          </p:cNvSpPr>
          <p:nvPr>
            <p:ph sz="quarter" idx="18"/>
          </p:nvPr>
        </p:nvSpPr>
        <p:spPr>
          <a:xfrm>
            <a:off x="725488" y="1660909"/>
            <a:ext cx="2427287" cy="3984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ea typeface="方正书宋简体" panose="02000000000000000000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30" name="内容占位符 28"/>
          <p:cNvSpPr>
            <a:spLocks noGrp="1"/>
          </p:cNvSpPr>
          <p:nvPr>
            <p:ph sz="quarter" idx="19"/>
          </p:nvPr>
        </p:nvSpPr>
        <p:spPr>
          <a:xfrm>
            <a:off x="4745695" y="1676674"/>
            <a:ext cx="2427287" cy="824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CN" altLang="en-US" sz="2400" kern="1200" dirty="0" smtClean="0">
                <a:solidFill>
                  <a:schemeClr val="bg1"/>
                </a:solidFill>
                <a:latin typeface="+mn-lt"/>
                <a:ea typeface="方正书宋简体" panose="02000000000000000000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31" name="内容占位符 28"/>
          <p:cNvSpPr>
            <a:spLocks noGrp="1"/>
          </p:cNvSpPr>
          <p:nvPr>
            <p:ph sz="quarter" idx="20"/>
          </p:nvPr>
        </p:nvSpPr>
        <p:spPr>
          <a:xfrm>
            <a:off x="8708095" y="1666164"/>
            <a:ext cx="2427287" cy="3984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CN" altLang="en-US" sz="2400" kern="1200" dirty="0" smtClean="0">
                <a:solidFill>
                  <a:schemeClr val="bg1"/>
                </a:solidFill>
                <a:latin typeface="+mn-lt"/>
                <a:ea typeface="方正书宋简体" panose="02000000000000000000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2" name="图形 1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5915" y="326039"/>
            <a:ext cx="2825913" cy="597347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四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51026" y="347661"/>
            <a:ext cx="10515600" cy="596901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accent5">
                    <a:lumMod val="50000"/>
                  </a:schemeClr>
                </a:solidFill>
                <a:ea typeface="方正书宋简体" panose="02000000000000000000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331124" y="6492875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56D422-79B5-4DA0-84C5-530CF569F1D5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143525" y="6453353"/>
            <a:ext cx="2203206" cy="404648"/>
          </a:xfrm>
          <a:prstGeom prst="rect">
            <a:avLst/>
          </a:prstGeom>
        </p:spPr>
        <p:txBody>
          <a:bodyPr/>
          <a:lstStyle>
            <a:lvl1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/>
              <a:t>                   毛竹青</a:t>
            </a:r>
            <a:endParaRPr lang="zh-CN" altLang="en-US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314710" y="6492873"/>
            <a:ext cx="1834957" cy="365125"/>
          </a:xfrm>
          <a:prstGeom prst="rect">
            <a:avLst/>
          </a:prstGeom>
        </p:spPr>
        <p:txBody>
          <a:bodyPr/>
          <a:lstStyle>
            <a:lvl1pPr algn="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CB4EE45-D6E5-469A-9A22-388220761F53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矩形 9"/>
          <p:cNvSpPr/>
          <p:nvPr userDrawn="1"/>
        </p:nvSpPr>
        <p:spPr>
          <a:xfrm>
            <a:off x="428625" y="0"/>
            <a:ext cx="485104" cy="660400"/>
          </a:xfrm>
          <a:prstGeom prst="rect">
            <a:avLst/>
          </a:prstGeom>
          <a:solidFill>
            <a:srgbClr val="017E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17EAE"/>
              </a:solidFill>
            </a:endParaRPr>
          </a:p>
        </p:txBody>
      </p:sp>
      <p:pic>
        <p:nvPicPr>
          <p:cNvPr id="8" name="图形 7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06934" y="326039"/>
            <a:ext cx="2825913" cy="597347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493619" y="2009671"/>
            <a:ext cx="2630492" cy="43806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3465508" y="2009180"/>
            <a:ext cx="2630492" cy="43811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6342767" y="2020181"/>
            <a:ext cx="2630492" cy="43595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9267341" y="2020181"/>
            <a:ext cx="2630492" cy="43595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内容占位符 2"/>
          <p:cNvSpPr>
            <a:spLocks noGrp="1"/>
          </p:cNvSpPr>
          <p:nvPr>
            <p:ph idx="1"/>
          </p:nvPr>
        </p:nvSpPr>
        <p:spPr>
          <a:xfrm>
            <a:off x="618235" y="2248593"/>
            <a:ext cx="2306782" cy="406330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5">
                    <a:lumMod val="50000"/>
                  </a:schemeClr>
                </a:solidFill>
                <a:ea typeface="方正书宋简体" panose="02000000000000000000" charset="-122"/>
              </a:defRPr>
            </a:lvl1pPr>
            <a:lvl2pPr marL="457200" indent="0">
              <a:buFontTx/>
              <a:buNone/>
              <a:defRPr sz="1600">
                <a:solidFill>
                  <a:schemeClr val="bg2">
                    <a:lumMod val="25000"/>
                  </a:schemeClr>
                </a:solidFill>
                <a:ea typeface="方正书宋简体" panose="02000000000000000000" charset="-122"/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  <a:ea typeface="方正书宋简体" panose="02000000000000000000" charset="-122"/>
              </a:defRPr>
            </a:lvl3pPr>
            <a:lvl4pPr>
              <a:defRPr sz="1600">
                <a:solidFill>
                  <a:schemeClr val="bg2">
                    <a:lumMod val="25000"/>
                  </a:schemeClr>
                </a:solidFill>
                <a:ea typeface="方正书宋简体" panose="02000000000000000000" charset="-122"/>
              </a:defRPr>
            </a:lvl4pPr>
            <a:lvl5pPr>
              <a:defRPr sz="1600">
                <a:solidFill>
                  <a:schemeClr val="bg2">
                    <a:lumMod val="25000"/>
                  </a:schemeClr>
                </a:solidFill>
                <a:ea typeface="方正书宋简体" panose="02000000000000000000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</p:txBody>
      </p:sp>
      <p:sp>
        <p:nvSpPr>
          <p:cNvPr id="25" name="矩形 24"/>
          <p:cNvSpPr/>
          <p:nvPr userDrawn="1"/>
        </p:nvSpPr>
        <p:spPr>
          <a:xfrm>
            <a:off x="618235" y="1594101"/>
            <a:ext cx="2009553" cy="517151"/>
          </a:xfrm>
          <a:prstGeom prst="rect">
            <a:avLst/>
          </a:prstGeom>
          <a:solidFill>
            <a:srgbClr val="017EAE"/>
          </a:solidFill>
          <a:ln>
            <a:solidFill>
              <a:srgbClr val="017E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" name="矩形 25"/>
          <p:cNvSpPr/>
          <p:nvPr userDrawn="1"/>
        </p:nvSpPr>
        <p:spPr>
          <a:xfrm>
            <a:off x="3566998" y="1597645"/>
            <a:ext cx="2009553" cy="517151"/>
          </a:xfrm>
          <a:prstGeom prst="rect">
            <a:avLst/>
          </a:prstGeom>
          <a:solidFill>
            <a:srgbClr val="017EAE"/>
          </a:solidFill>
          <a:ln>
            <a:solidFill>
              <a:srgbClr val="017E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矩形 26"/>
          <p:cNvSpPr/>
          <p:nvPr userDrawn="1"/>
        </p:nvSpPr>
        <p:spPr>
          <a:xfrm>
            <a:off x="6522849" y="1587013"/>
            <a:ext cx="2009553" cy="517151"/>
          </a:xfrm>
          <a:prstGeom prst="rect">
            <a:avLst/>
          </a:prstGeom>
          <a:solidFill>
            <a:srgbClr val="017EAE"/>
          </a:solidFill>
          <a:ln>
            <a:solidFill>
              <a:srgbClr val="017E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矩形 27"/>
          <p:cNvSpPr/>
          <p:nvPr userDrawn="1"/>
        </p:nvSpPr>
        <p:spPr>
          <a:xfrm>
            <a:off x="9414905" y="1608278"/>
            <a:ext cx="2009553" cy="517151"/>
          </a:xfrm>
          <a:prstGeom prst="rect">
            <a:avLst/>
          </a:prstGeom>
          <a:solidFill>
            <a:srgbClr val="017EAE"/>
          </a:solidFill>
          <a:ln>
            <a:solidFill>
              <a:srgbClr val="017E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" name="内容占位符 2"/>
          <p:cNvSpPr>
            <a:spLocks noGrp="1"/>
          </p:cNvSpPr>
          <p:nvPr>
            <p:ph idx="14"/>
          </p:nvPr>
        </p:nvSpPr>
        <p:spPr>
          <a:xfrm>
            <a:off x="3576393" y="2248593"/>
            <a:ext cx="2306782" cy="406330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5">
                    <a:lumMod val="50000"/>
                  </a:schemeClr>
                </a:solidFill>
                <a:ea typeface="方正书宋简体" panose="02000000000000000000" charset="-122"/>
              </a:defRPr>
            </a:lvl1pPr>
            <a:lvl2pPr marL="457200" indent="0">
              <a:buFontTx/>
              <a:buNone/>
              <a:defRPr sz="1600">
                <a:solidFill>
                  <a:schemeClr val="bg2">
                    <a:lumMod val="25000"/>
                  </a:schemeClr>
                </a:solidFill>
                <a:ea typeface="方正书宋简体" panose="02000000000000000000" charset="-122"/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  <a:ea typeface="方正书宋简体" panose="02000000000000000000" charset="-122"/>
              </a:defRPr>
            </a:lvl3pPr>
            <a:lvl4pPr>
              <a:defRPr sz="1600">
                <a:solidFill>
                  <a:schemeClr val="bg2">
                    <a:lumMod val="25000"/>
                  </a:schemeClr>
                </a:solidFill>
                <a:ea typeface="方正书宋简体" panose="02000000000000000000" charset="-122"/>
              </a:defRPr>
            </a:lvl4pPr>
            <a:lvl5pPr>
              <a:defRPr sz="1600">
                <a:solidFill>
                  <a:schemeClr val="bg2">
                    <a:lumMod val="25000"/>
                  </a:schemeClr>
                </a:solidFill>
                <a:ea typeface="方正书宋简体" panose="02000000000000000000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</p:txBody>
      </p:sp>
      <p:sp>
        <p:nvSpPr>
          <p:cNvPr id="30" name="内容占位符 2"/>
          <p:cNvSpPr>
            <a:spLocks noGrp="1"/>
          </p:cNvSpPr>
          <p:nvPr>
            <p:ph idx="15"/>
          </p:nvPr>
        </p:nvSpPr>
        <p:spPr>
          <a:xfrm>
            <a:off x="6522849" y="2248593"/>
            <a:ext cx="2306782" cy="406330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5">
                    <a:lumMod val="50000"/>
                  </a:schemeClr>
                </a:solidFill>
                <a:ea typeface="方正书宋简体" panose="02000000000000000000" charset="-122"/>
              </a:defRPr>
            </a:lvl1pPr>
            <a:lvl2pPr marL="457200" indent="0">
              <a:buFontTx/>
              <a:buNone/>
              <a:defRPr sz="1600">
                <a:solidFill>
                  <a:schemeClr val="bg2">
                    <a:lumMod val="25000"/>
                  </a:schemeClr>
                </a:solidFill>
                <a:ea typeface="方正书宋简体" panose="02000000000000000000" charset="-122"/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  <a:ea typeface="方正书宋简体" panose="02000000000000000000" charset="-122"/>
              </a:defRPr>
            </a:lvl3pPr>
            <a:lvl4pPr>
              <a:defRPr sz="1600">
                <a:solidFill>
                  <a:schemeClr val="bg2">
                    <a:lumMod val="25000"/>
                  </a:schemeClr>
                </a:solidFill>
                <a:ea typeface="方正书宋简体" panose="02000000000000000000" charset="-122"/>
              </a:defRPr>
            </a:lvl4pPr>
            <a:lvl5pPr>
              <a:defRPr sz="1600">
                <a:solidFill>
                  <a:schemeClr val="bg2">
                    <a:lumMod val="25000"/>
                  </a:schemeClr>
                </a:solidFill>
                <a:ea typeface="方正书宋简体" panose="02000000000000000000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</p:txBody>
      </p:sp>
      <p:sp>
        <p:nvSpPr>
          <p:cNvPr id="31" name="内容占位符 2"/>
          <p:cNvSpPr>
            <a:spLocks noGrp="1"/>
          </p:cNvSpPr>
          <p:nvPr>
            <p:ph idx="16"/>
          </p:nvPr>
        </p:nvSpPr>
        <p:spPr>
          <a:xfrm>
            <a:off x="9412263" y="2248593"/>
            <a:ext cx="2306782" cy="406330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accent5">
                    <a:lumMod val="50000"/>
                  </a:schemeClr>
                </a:solidFill>
                <a:ea typeface="方正书宋简体" panose="02000000000000000000" charset="-122"/>
              </a:defRPr>
            </a:lvl1pPr>
            <a:lvl2pPr marL="457200" indent="0">
              <a:buFontTx/>
              <a:buNone/>
              <a:defRPr sz="1600">
                <a:solidFill>
                  <a:schemeClr val="bg2">
                    <a:lumMod val="25000"/>
                  </a:schemeClr>
                </a:solidFill>
                <a:ea typeface="方正书宋简体" panose="02000000000000000000" charset="-122"/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  <a:ea typeface="方正书宋简体" panose="02000000000000000000" charset="-122"/>
              </a:defRPr>
            </a:lvl3pPr>
            <a:lvl4pPr>
              <a:defRPr sz="1600">
                <a:solidFill>
                  <a:schemeClr val="bg2">
                    <a:lumMod val="25000"/>
                  </a:schemeClr>
                </a:solidFill>
                <a:ea typeface="方正书宋简体" panose="02000000000000000000" charset="-122"/>
              </a:defRPr>
            </a:lvl4pPr>
            <a:lvl5pPr>
              <a:defRPr sz="1600">
                <a:solidFill>
                  <a:schemeClr val="bg2">
                    <a:lumMod val="25000"/>
                  </a:schemeClr>
                </a:solidFill>
                <a:ea typeface="方正书宋简体" panose="02000000000000000000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</p:txBody>
      </p:sp>
      <p:sp>
        <p:nvSpPr>
          <p:cNvPr id="32" name="内容占位符 28"/>
          <p:cNvSpPr>
            <a:spLocks noGrp="1"/>
          </p:cNvSpPr>
          <p:nvPr>
            <p:ph sz="quarter" idx="18"/>
          </p:nvPr>
        </p:nvSpPr>
        <p:spPr>
          <a:xfrm>
            <a:off x="620384" y="1660634"/>
            <a:ext cx="1996691" cy="3882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lang="zh-CN" altLang="en-US" sz="2000" kern="1200" dirty="0" smtClean="0">
                <a:solidFill>
                  <a:schemeClr val="bg1"/>
                </a:solidFill>
                <a:latin typeface="+mn-lt"/>
                <a:ea typeface="方正书宋简体" panose="02000000000000000000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33" name="内容占位符 28"/>
          <p:cNvSpPr>
            <a:spLocks noGrp="1"/>
          </p:cNvSpPr>
          <p:nvPr>
            <p:ph sz="quarter" idx="19"/>
          </p:nvPr>
        </p:nvSpPr>
        <p:spPr>
          <a:xfrm>
            <a:off x="3589556" y="1655379"/>
            <a:ext cx="1996691" cy="3882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lang="zh-CN" altLang="en-US" sz="2000" kern="1200" dirty="0" smtClean="0">
                <a:solidFill>
                  <a:schemeClr val="bg1"/>
                </a:solidFill>
                <a:latin typeface="+mn-lt"/>
                <a:ea typeface="方正书宋简体" panose="02000000000000000000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34" name="内容占位符 28"/>
          <p:cNvSpPr>
            <a:spLocks noGrp="1"/>
          </p:cNvSpPr>
          <p:nvPr>
            <p:ph sz="quarter" idx="20"/>
          </p:nvPr>
        </p:nvSpPr>
        <p:spPr>
          <a:xfrm>
            <a:off x="6532453" y="1655378"/>
            <a:ext cx="1996691" cy="3882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lang="zh-CN" altLang="en-US" sz="2000" kern="1200" dirty="0" smtClean="0">
                <a:solidFill>
                  <a:schemeClr val="bg1"/>
                </a:solidFill>
                <a:latin typeface="+mn-lt"/>
                <a:ea typeface="方正书宋简体" panose="02000000000000000000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35" name="内容占位符 28"/>
          <p:cNvSpPr>
            <a:spLocks noGrp="1"/>
          </p:cNvSpPr>
          <p:nvPr>
            <p:ph sz="quarter" idx="21"/>
          </p:nvPr>
        </p:nvSpPr>
        <p:spPr>
          <a:xfrm>
            <a:off x="9443818" y="1655379"/>
            <a:ext cx="1996691" cy="3882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lang="zh-CN" altLang="en-US" sz="2000" kern="1200" dirty="0" smtClean="0">
                <a:solidFill>
                  <a:schemeClr val="bg1"/>
                </a:solidFill>
                <a:latin typeface="+mn-lt"/>
                <a:ea typeface="方正书宋简体" panose="02000000000000000000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列大数字配文_3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7" hasCustomPrompt="1"/>
            <p:custDataLst>
              <p:tags r:id="rId3"/>
            </p:custDataLst>
          </p:nvPr>
        </p:nvSpPr>
        <p:spPr>
          <a:xfrm>
            <a:off x="609600" y="1892300"/>
            <a:ext cx="3251200" cy="1334008"/>
          </a:xfrm>
          <a:prstGeom prst="rect">
            <a:avLst/>
          </a:prstGeo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1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80%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3531108"/>
            <a:ext cx="32512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8" hasCustomPrompt="1"/>
            <p:custDataLst>
              <p:tags r:id="rId5"/>
            </p:custDataLst>
          </p:nvPr>
        </p:nvSpPr>
        <p:spPr>
          <a:xfrm>
            <a:off x="609600" y="4039108"/>
            <a:ext cx="3251200" cy="18288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4470400" y="1892300"/>
            <a:ext cx="3251200" cy="1334008"/>
          </a:xfrm>
          <a:prstGeom prst="rect">
            <a:avLst/>
          </a:prstGeo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1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10W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4470400" y="3531108"/>
            <a:ext cx="32512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4470400" y="4039108"/>
            <a:ext cx="3251200" cy="18288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3" hasCustomPrompt="1"/>
            <p:custDataLst>
              <p:tags r:id="rId9"/>
            </p:custDataLst>
          </p:nvPr>
        </p:nvSpPr>
        <p:spPr>
          <a:xfrm>
            <a:off x="8331200" y="1892300"/>
            <a:ext cx="3251200" cy="1334008"/>
          </a:xfrm>
          <a:prstGeom prst="rect">
            <a:avLst/>
          </a:prstGeo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1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1/2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8331200" y="3531108"/>
            <a:ext cx="32512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4" hasCustomPrompt="1"/>
            <p:custDataLst>
              <p:tags r:id="rId11"/>
            </p:custDataLst>
          </p:nvPr>
        </p:nvSpPr>
        <p:spPr>
          <a:xfrm>
            <a:off x="8331200" y="4039108"/>
            <a:ext cx="3251200" cy="18288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卡片和总结_2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87" hasCustomPrompt="1"/>
            <p:custDataLst>
              <p:tags r:id="rId3"/>
            </p:custDataLst>
          </p:nvPr>
        </p:nvSpPr>
        <p:spPr>
          <a:xfrm>
            <a:off x="609600" y="1524000"/>
            <a:ext cx="5334000" cy="3352800"/>
          </a:xfrm>
          <a:custGeom>
            <a:avLst/>
            <a:gdLst>
              <a:gd name="connisteX0" fmla="*/ 0 w 5334000"/>
              <a:gd name="connsiteY0" fmla="*/ 203200 h 3352800"/>
              <a:gd name="connisteX1" fmla="*/ 203200 w 5334000"/>
              <a:gd name="connsiteY1" fmla="*/ 0 h 3352800"/>
              <a:gd name="connisteX2" fmla="*/ 5130800 w 5334000"/>
              <a:gd name="connsiteY2" fmla="*/ 0 h 3352800"/>
              <a:gd name="connisteX3" fmla="*/ 5334000 w 5334000"/>
              <a:gd name="connsiteY3" fmla="*/ 203200 h 3352800"/>
              <a:gd name="connisteX4" fmla="*/ 5334000 w 5334000"/>
              <a:gd name="connsiteY4" fmla="*/ 3149600 h 3352800"/>
              <a:gd name="connisteX5" fmla="*/ 5130800 w 5334000"/>
              <a:gd name="connsiteY5" fmla="*/ 3352800 h 3352800"/>
              <a:gd name="connisteX6" fmla="*/ 203200 w 5334000"/>
              <a:gd name="connsiteY6" fmla="*/ 3352800 h 3352800"/>
              <a:gd name="connisteX7" fmla="*/ 0 w 5334000"/>
              <a:gd name="connsiteY7" fmla="*/ 3149600 h 3352800"/>
              <a:gd name="connisteX8" fmla="*/ 0 w 5334000"/>
              <a:gd name="connsiteY8" fmla="*/ 203200 h 335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335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149600"/>
                </a:lnTo>
                <a:cubicBezTo>
                  <a:pt x="5334000" y="3261824"/>
                  <a:pt x="5243024" y="3352800"/>
                  <a:pt x="5130800" y="3352800"/>
                </a:cubicBezTo>
                <a:lnTo>
                  <a:pt x="203200" y="3352800"/>
                </a:lnTo>
                <a:cubicBezTo>
                  <a:pt x="90976" y="3352800"/>
                  <a:pt x="0" y="3261824"/>
                  <a:pt x="0" y="3149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内容占位符 7"/>
          <p:cNvSpPr>
            <a:spLocks noGrp="1"/>
          </p:cNvSpPr>
          <p:nvPr>
            <p:ph idx="16388" hasCustomPrompt="1"/>
            <p:custDataLst>
              <p:tags r:id="rId4"/>
            </p:custDataLst>
          </p:nvPr>
        </p:nvSpPr>
        <p:spPr>
          <a:xfrm>
            <a:off x="6248400" y="1524000"/>
            <a:ext cx="5334000" cy="3352800"/>
          </a:xfrm>
          <a:custGeom>
            <a:avLst/>
            <a:gdLst>
              <a:gd name="connisteX0" fmla="*/ 0 w 5334000"/>
              <a:gd name="connsiteY0" fmla="*/ 203200 h 3352800"/>
              <a:gd name="connisteX1" fmla="*/ 203200 w 5334000"/>
              <a:gd name="connsiteY1" fmla="*/ 0 h 3352800"/>
              <a:gd name="connisteX2" fmla="*/ 5130800 w 5334000"/>
              <a:gd name="connsiteY2" fmla="*/ 0 h 3352800"/>
              <a:gd name="connisteX3" fmla="*/ 5334000 w 5334000"/>
              <a:gd name="connsiteY3" fmla="*/ 203200 h 3352800"/>
              <a:gd name="connisteX4" fmla="*/ 5334000 w 5334000"/>
              <a:gd name="connsiteY4" fmla="*/ 3149600 h 3352800"/>
              <a:gd name="connisteX5" fmla="*/ 5130800 w 5334000"/>
              <a:gd name="connsiteY5" fmla="*/ 3352800 h 3352800"/>
              <a:gd name="connisteX6" fmla="*/ 203200 w 5334000"/>
              <a:gd name="connsiteY6" fmla="*/ 3352800 h 3352800"/>
              <a:gd name="connisteX7" fmla="*/ 0 w 5334000"/>
              <a:gd name="connsiteY7" fmla="*/ 3149600 h 3352800"/>
              <a:gd name="connisteX8" fmla="*/ 0 w 5334000"/>
              <a:gd name="connsiteY8" fmla="*/ 203200 h 335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335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149600"/>
                </a:lnTo>
                <a:cubicBezTo>
                  <a:pt x="5334000" y="3261824"/>
                  <a:pt x="5243024" y="3352800"/>
                  <a:pt x="5130800" y="3352800"/>
                </a:cubicBezTo>
                <a:lnTo>
                  <a:pt x="203200" y="3352800"/>
                </a:lnTo>
                <a:cubicBezTo>
                  <a:pt x="90976" y="3352800"/>
                  <a:pt x="0" y="3261824"/>
                  <a:pt x="0" y="3149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609600" y="5334000"/>
            <a:ext cx="10972800" cy="914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列内容_3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89" hasCustomPrompt="1"/>
            <p:custDataLst>
              <p:tags r:id="rId3"/>
            </p:custDataLst>
          </p:nvPr>
        </p:nvSpPr>
        <p:spPr>
          <a:xfrm>
            <a:off x="609600" y="1524000"/>
            <a:ext cx="3454400" cy="4114800"/>
          </a:xfrm>
          <a:custGeom>
            <a:avLst/>
            <a:gdLst>
              <a:gd name="connisteX0" fmla="*/ 0 w 3454400"/>
              <a:gd name="connsiteY0" fmla="*/ 203200 h 4114800"/>
              <a:gd name="connisteX1" fmla="*/ 203200 w 3454400"/>
              <a:gd name="connsiteY1" fmla="*/ 0 h 4114800"/>
              <a:gd name="connisteX2" fmla="*/ 3251200 w 3454400"/>
              <a:gd name="connsiteY2" fmla="*/ 0 h 4114800"/>
              <a:gd name="connisteX3" fmla="*/ 3454400 w 3454400"/>
              <a:gd name="connsiteY3" fmla="*/ 203200 h 4114800"/>
              <a:gd name="connisteX4" fmla="*/ 3454400 w 3454400"/>
              <a:gd name="connsiteY4" fmla="*/ 3911600 h 4114800"/>
              <a:gd name="connisteX5" fmla="*/ 3251200 w 3454400"/>
              <a:gd name="connsiteY5" fmla="*/ 4114800 h 4114800"/>
              <a:gd name="connisteX6" fmla="*/ 203200 w 3454400"/>
              <a:gd name="connsiteY6" fmla="*/ 4114800 h 4114800"/>
              <a:gd name="connisteX7" fmla="*/ 0 w 3454400"/>
              <a:gd name="connsiteY7" fmla="*/ 3911600 h 4114800"/>
              <a:gd name="connisteX8" fmla="*/ 0 w 3454400"/>
              <a:gd name="connsiteY8" fmla="*/ 203200 h 411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1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11600"/>
                </a:lnTo>
                <a:cubicBezTo>
                  <a:pt x="3454400" y="4023824"/>
                  <a:pt x="3363424" y="4114800"/>
                  <a:pt x="3251200" y="4114800"/>
                </a:cubicBezTo>
                <a:lnTo>
                  <a:pt x="203200" y="4114800"/>
                </a:lnTo>
                <a:cubicBezTo>
                  <a:pt x="90976" y="4114800"/>
                  <a:pt x="0" y="4023824"/>
                  <a:pt x="0" y="3911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5943600"/>
            <a:ext cx="3454400" cy="3048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9" name="内容占位符 8"/>
          <p:cNvSpPr>
            <a:spLocks noGrp="1"/>
          </p:cNvSpPr>
          <p:nvPr>
            <p:ph idx="16390" hasCustomPrompt="1"/>
            <p:custDataLst>
              <p:tags r:id="rId5"/>
            </p:custDataLst>
          </p:nvPr>
        </p:nvSpPr>
        <p:spPr>
          <a:xfrm>
            <a:off x="4368800" y="1524000"/>
            <a:ext cx="3454400" cy="4114800"/>
          </a:xfrm>
          <a:custGeom>
            <a:avLst/>
            <a:gdLst>
              <a:gd name="connisteX0" fmla="*/ 0 w 3454400"/>
              <a:gd name="connsiteY0" fmla="*/ 203200 h 4114800"/>
              <a:gd name="connisteX1" fmla="*/ 203200 w 3454400"/>
              <a:gd name="connsiteY1" fmla="*/ 0 h 4114800"/>
              <a:gd name="connisteX2" fmla="*/ 3251200 w 3454400"/>
              <a:gd name="connsiteY2" fmla="*/ 0 h 4114800"/>
              <a:gd name="connisteX3" fmla="*/ 3454400 w 3454400"/>
              <a:gd name="connsiteY3" fmla="*/ 203200 h 4114800"/>
              <a:gd name="connisteX4" fmla="*/ 3454400 w 3454400"/>
              <a:gd name="connsiteY4" fmla="*/ 3911600 h 4114800"/>
              <a:gd name="connisteX5" fmla="*/ 3251200 w 3454400"/>
              <a:gd name="connsiteY5" fmla="*/ 4114800 h 4114800"/>
              <a:gd name="connisteX6" fmla="*/ 203200 w 3454400"/>
              <a:gd name="connsiteY6" fmla="*/ 4114800 h 4114800"/>
              <a:gd name="connisteX7" fmla="*/ 0 w 3454400"/>
              <a:gd name="connsiteY7" fmla="*/ 3911600 h 4114800"/>
              <a:gd name="connisteX8" fmla="*/ 0 w 3454400"/>
              <a:gd name="connsiteY8" fmla="*/ 203200 h 411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1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11600"/>
                </a:lnTo>
                <a:cubicBezTo>
                  <a:pt x="3454400" y="4023824"/>
                  <a:pt x="3363424" y="4114800"/>
                  <a:pt x="3251200" y="4114800"/>
                </a:cubicBezTo>
                <a:lnTo>
                  <a:pt x="203200" y="4114800"/>
                </a:lnTo>
                <a:cubicBezTo>
                  <a:pt x="90976" y="4114800"/>
                  <a:pt x="0" y="4023824"/>
                  <a:pt x="0" y="3911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4368800" y="5943600"/>
            <a:ext cx="3454400" cy="3048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idx="16391" hasCustomPrompt="1"/>
            <p:custDataLst>
              <p:tags r:id="rId7"/>
            </p:custDataLst>
          </p:nvPr>
        </p:nvSpPr>
        <p:spPr>
          <a:xfrm>
            <a:off x="8128000" y="1524000"/>
            <a:ext cx="3454400" cy="4114800"/>
          </a:xfrm>
          <a:custGeom>
            <a:avLst/>
            <a:gdLst>
              <a:gd name="connisteX0" fmla="*/ 0 w 3454400"/>
              <a:gd name="connsiteY0" fmla="*/ 203200 h 4114800"/>
              <a:gd name="connisteX1" fmla="*/ 203200 w 3454400"/>
              <a:gd name="connsiteY1" fmla="*/ 0 h 4114800"/>
              <a:gd name="connisteX2" fmla="*/ 3251200 w 3454400"/>
              <a:gd name="connsiteY2" fmla="*/ 0 h 4114800"/>
              <a:gd name="connisteX3" fmla="*/ 3454400 w 3454400"/>
              <a:gd name="connsiteY3" fmla="*/ 203200 h 4114800"/>
              <a:gd name="connisteX4" fmla="*/ 3454400 w 3454400"/>
              <a:gd name="connsiteY4" fmla="*/ 3911600 h 4114800"/>
              <a:gd name="connisteX5" fmla="*/ 3251200 w 3454400"/>
              <a:gd name="connsiteY5" fmla="*/ 4114800 h 4114800"/>
              <a:gd name="connisteX6" fmla="*/ 203200 w 3454400"/>
              <a:gd name="connsiteY6" fmla="*/ 4114800 h 4114800"/>
              <a:gd name="connisteX7" fmla="*/ 0 w 3454400"/>
              <a:gd name="connsiteY7" fmla="*/ 3911600 h 4114800"/>
              <a:gd name="connisteX8" fmla="*/ 0 w 3454400"/>
              <a:gd name="connsiteY8" fmla="*/ 203200 h 411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1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11600"/>
                </a:lnTo>
                <a:cubicBezTo>
                  <a:pt x="3454400" y="4023824"/>
                  <a:pt x="3363424" y="4114800"/>
                  <a:pt x="3251200" y="4114800"/>
                </a:cubicBezTo>
                <a:lnTo>
                  <a:pt x="203200" y="4114800"/>
                </a:lnTo>
                <a:cubicBezTo>
                  <a:pt x="90976" y="4114800"/>
                  <a:pt x="0" y="4023824"/>
                  <a:pt x="0" y="3911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8128000" y="5943600"/>
            <a:ext cx="3454400" cy="3048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image" Target="../media/image5.png"/><Relationship Id="rId7" Type="http://schemas.openxmlformats.org/officeDocument/2006/relationships/tags" Target="../tags/tag24.xml"/><Relationship Id="rId6" Type="http://schemas.openxmlformats.org/officeDocument/2006/relationships/image" Target="../media/image4.png"/><Relationship Id="rId5" Type="http://schemas.openxmlformats.org/officeDocument/2006/relationships/tags" Target="../tags/tag23.xml"/><Relationship Id="rId4" Type="http://schemas.openxmlformats.org/officeDocument/2006/relationships/image" Target="../media/image3.png"/><Relationship Id="rId3" Type="http://schemas.openxmlformats.org/officeDocument/2006/relationships/tags" Target="../tags/tag22.xml"/><Relationship Id="rId2" Type="http://schemas.openxmlformats.org/officeDocument/2006/relationships/image" Target="../media/image2.svg"/><Relationship Id="rId13" Type="http://schemas.openxmlformats.org/officeDocument/2006/relationships/slideLayout" Target="../slideLayouts/slideLayout6.xml"/><Relationship Id="rId12" Type="http://schemas.openxmlformats.org/officeDocument/2006/relationships/image" Target="../media/image7.png"/><Relationship Id="rId11" Type="http://schemas.openxmlformats.org/officeDocument/2006/relationships/tags" Target="../tags/tag26.xml"/><Relationship Id="rId10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9.png"/><Relationship Id="rId3" Type="http://schemas.openxmlformats.org/officeDocument/2006/relationships/image" Target="../media/image3.png"/><Relationship Id="rId2" Type="http://schemas.openxmlformats.org/officeDocument/2006/relationships/tags" Target="../tags/tag27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3" Type="http://schemas.openxmlformats.org/officeDocument/2006/relationships/image" Target="../media/image4.png"/><Relationship Id="rId2" Type="http://schemas.openxmlformats.org/officeDocument/2006/relationships/tags" Target="../tags/tag28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1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Relationship Id="rId3" Type="http://schemas.openxmlformats.org/officeDocument/2006/relationships/image" Target="../media/image5.png"/><Relationship Id="rId2" Type="http://schemas.openxmlformats.org/officeDocument/2006/relationships/tags" Target="../tags/tag29.xml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8" Type="http://schemas.openxmlformats.org/officeDocument/2006/relationships/slideLayout" Target="../slideLayouts/slideLayout9.xml"/><Relationship Id="rId17" Type="http://schemas.openxmlformats.org/officeDocument/2006/relationships/tags" Target="../tags/tag43.xml"/><Relationship Id="rId16" Type="http://schemas.openxmlformats.org/officeDocument/2006/relationships/tags" Target="../tags/tag42.xml"/><Relationship Id="rId15" Type="http://schemas.openxmlformats.org/officeDocument/2006/relationships/tags" Target="../tags/tag41.xml"/><Relationship Id="rId14" Type="http://schemas.openxmlformats.org/officeDocument/2006/relationships/tags" Target="../tags/tag40.xml"/><Relationship Id="rId13" Type="http://schemas.openxmlformats.org/officeDocument/2006/relationships/tags" Target="../tags/tag39.xml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chart" Target="../charts/char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4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1" Type="http://schemas.openxmlformats.org/officeDocument/2006/relationships/slideLayout" Target="../slideLayouts/slideLayout6.xml"/><Relationship Id="rId10" Type="http://schemas.openxmlformats.org/officeDocument/2006/relationships/tags" Target="../tags/tag51.xml"/><Relationship Id="rId1" Type="http://schemas.openxmlformats.org/officeDocument/2006/relationships/chart" Target="../charts/char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3" Type="http://schemas.openxmlformats.org/officeDocument/2006/relationships/image" Target="../media/image6.png"/><Relationship Id="rId2" Type="http://schemas.openxmlformats.org/officeDocument/2006/relationships/tags" Target="../tags/tag52.xml"/><Relationship Id="rId1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3.png"/><Relationship Id="rId1" Type="http://schemas.openxmlformats.org/officeDocument/2006/relationships/image" Target="../media/image3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4.png"/><Relationship Id="rId1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1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37.png"/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84785" y="597535"/>
            <a:ext cx="5320665" cy="6915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汉仪力量黑简" panose="00020600040101010101" charset="-122"/>
                <a:ea typeface="汉仪力量黑简" panose="00020600040101010101" charset="-122"/>
                <a:sym typeface="方正书宋简体" panose="02000000000000000000" charset="-122"/>
              </a:rPr>
              <a:t>数字经济与开源创新</a:t>
            </a:r>
            <a:r>
              <a:rPr lang="zh-CN" altLang="en-US" sz="1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  <a:sym typeface="方正书宋简体" panose="02000000000000000000" charset="-122"/>
              </a:rPr>
              <a:t>话题</a:t>
            </a:r>
            <a:r>
              <a:rPr lang="en-US" altLang="zh-CN" sz="1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  <a:sym typeface="方正书宋简体" panose="02000000000000000000" charset="-122"/>
              </a:rPr>
              <a:t>9</a:t>
            </a:r>
            <a:endParaRPr lang="en-US" altLang="zh-CN" sz="18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  <a:sym typeface="方正书宋简体" panose="02000000000000000000" charset="-122"/>
            </a:endParaRPr>
          </a:p>
          <a:p>
            <a:endParaRPr lang="en-US" altLang="zh-CN" sz="18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  <a:sym typeface="方正书宋简体" panose="02000000000000000000" charset="-122"/>
            </a:endParaRPr>
          </a:p>
        </p:txBody>
      </p:sp>
      <p:pic>
        <p:nvPicPr>
          <p:cNvPr id="18" name="图形 1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7270" y="-88"/>
            <a:ext cx="2825913" cy="597347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8171815" y="63665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5448F3-9227-A24E-A7AC-BA1AE8DA4B3D}" type="slidenum">
              <a:rPr kumimoji="1" lang="zh-CN" altLang="en-US" smtClean="0"/>
            </a:fld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184785" y="1546860"/>
            <a:ext cx="722439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zh-CN" altLang="en-US" sz="4000" b="1" dirty="0">
              <a:solidFill>
                <a:schemeClr val="accent1"/>
              </a:solidFill>
              <a:latin typeface="汉仪力量黑简" panose="00020600040101010101" charset="-122"/>
              <a:ea typeface="汉仪力量黑简" panose="00020600040101010101" charset="-122"/>
              <a:sym typeface="方正书宋简体" panose="02000000000000000000" charset="-122"/>
            </a:endParaRPr>
          </a:p>
          <a:p>
            <a:r>
              <a:rPr lang="zh-CN" altLang="en-US" sz="4000" dirty="0">
                <a:solidFill>
                  <a:schemeClr val="accent1"/>
                </a:solidFill>
                <a:latin typeface="汉仪力量黑简" panose="00020600040101010101" charset="-122"/>
                <a:ea typeface="汉仪力量黑简" panose="00020600040101010101" charset="-122"/>
              </a:rPr>
              <a:t>开源</a:t>
            </a:r>
            <a:r>
              <a:rPr lang="zh-CN" altLang="en-US" sz="40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与</a:t>
            </a:r>
            <a:r>
              <a:rPr lang="zh-CN" altLang="en-US" sz="4000" dirty="0">
                <a:solidFill>
                  <a:schemeClr val="accent1"/>
                </a:solidFill>
                <a:latin typeface="汉仪力量黑简" panose="00020600040101010101" charset="-122"/>
                <a:ea typeface="汉仪力量黑简" panose="00020600040101010101" charset="-122"/>
              </a:rPr>
              <a:t>数字经济</a:t>
            </a:r>
            <a:endParaRPr lang="zh-CN" altLang="en-US" sz="4000" dirty="0">
              <a:solidFill>
                <a:schemeClr val="accent1"/>
              </a:solidFill>
              <a:latin typeface="汉仪力量黑简" panose="00020600040101010101" charset="-122"/>
              <a:ea typeface="汉仪力量黑简" panose="00020600040101010101" charset="-122"/>
            </a:endParaRPr>
          </a:p>
          <a:p>
            <a:r>
              <a:rPr lang="zh-CN" altLang="en-US" sz="4000" dirty="0">
                <a:solidFill>
                  <a:srgbClr val="C00000"/>
                </a:solidFill>
                <a:latin typeface="汉仪力量黑简" panose="00020600040101010101" charset="-122"/>
                <a:ea typeface="汉仪力量黑简" panose="00020600040101010101" charset="-122"/>
              </a:rPr>
              <a:t>全球竞争</a:t>
            </a:r>
            <a:endParaRPr lang="zh-CN" altLang="en-US" sz="4000" dirty="0">
              <a:solidFill>
                <a:srgbClr val="C00000"/>
              </a:solidFill>
              <a:latin typeface="汉仪力量黑简" panose="00020600040101010101" charset="-122"/>
              <a:ea typeface="汉仪力量黑简" panose="00020600040101010101" charset="-122"/>
            </a:endParaRPr>
          </a:p>
        </p:txBody>
      </p:sp>
      <p:pic>
        <p:nvPicPr>
          <p:cNvPr id="68" name="图片 67" descr="生成乌合麒麟风格历史剪影油画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52701" t="-16456" r="14906" b="-152"/>
          <a:stretch>
            <a:fillRect/>
          </a:stretch>
        </p:blipFill>
        <p:spPr>
          <a:xfrm>
            <a:off x="3945890" y="-1161415"/>
            <a:ext cx="3967480" cy="8081645"/>
          </a:xfrm>
          <a:prstGeom prst="parallelogram">
            <a:avLst/>
          </a:prstGeom>
        </p:spPr>
      </p:pic>
      <p:pic>
        <p:nvPicPr>
          <p:cNvPr id="70" name="图片 69" descr="生成乌合麒麟风格历史剪影油画 (1)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l="51008" t="-341" r="17131" b="1503"/>
          <a:stretch>
            <a:fillRect/>
          </a:stretch>
        </p:blipFill>
        <p:spPr>
          <a:xfrm>
            <a:off x="5374640" y="-74930"/>
            <a:ext cx="4010025" cy="6995160"/>
          </a:xfrm>
          <a:prstGeom prst="parallelogram">
            <a:avLst/>
          </a:prstGeom>
        </p:spPr>
      </p:pic>
      <p:pic>
        <p:nvPicPr>
          <p:cNvPr id="77" name="图片 76" descr="生成乌合麒麟风格历史剪影油画 (2)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l="1870" t="-6197" r="62932" b="-3335"/>
          <a:stretch>
            <a:fillRect/>
          </a:stretch>
        </p:blipFill>
        <p:spPr>
          <a:xfrm>
            <a:off x="6896100" y="-484505"/>
            <a:ext cx="4291330" cy="7693025"/>
          </a:xfrm>
          <a:prstGeom prst="parallelogram">
            <a:avLst/>
          </a:prstGeom>
        </p:spPr>
      </p:pic>
      <p:pic>
        <p:nvPicPr>
          <p:cNvPr id="78" name="图片 77" descr="生成乌合麒麟风格历史剪影油画 (4)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rcRect l="27443" t="-4187" r="40245" b="-2964"/>
          <a:stretch>
            <a:fillRect/>
          </a:stretch>
        </p:blipFill>
        <p:spPr>
          <a:xfrm>
            <a:off x="8623935" y="-353695"/>
            <a:ext cx="4090670" cy="7561580"/>
          </a:xfrm>
          <a:prstGeom prst="parallelogram">
            <a:avLst/>
          </a:prstGeom>
        </p:spPr>
      </p:pic>
      <p:pic>
        <p:nvPicPr>
          <p:cNvPr id="79" name="图片 78" descr="生成乌合麒麟风格历史剪影油画 (5)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rcRect r="68630"/>
          <a:stretch>
            <a:fillRect/>
          </a:stretch>
        </p:blipFill>
        <p:spPr>
          <a:xfrm>
            <a:off x="10180955" y="-74930"/>
            <a:ext cx="3824605" cy="7057390"/>
          </a:xfrm>
          <a:prstGeom prst="parallelogram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52400" y="6489700"/>
            <a:ext cx="34055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25368082   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邵鹏翔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流程图: 数据 3"/>
          <p:cNvSpPr/>
          <p:nvPr/>
        </p:nvSpPr>
        <p:spPr>
          <a:xfrm>
            <a:off x="11809095" y="-282575"/>
            <a:ext cx="4582160" cy="7490460"/>
          </a:xfrm>
          <a:prstGeom prst="flowChartInputOutpu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17170" y="2730500"/>
            <a:ext cx="12562205" cy="1229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zh-CN" altLang="en-US" sz="4000" b="1" dirty="0">
              <a:solidFill>
                <a:schemeClr val="accent1"/>
              </a:solidFill>
              <a:latin typeface="汉仪力量黑简" panose="00020600040101010101" charset="-122"/>
              <a:ea typeface="汉仪力量黑简" panose="00020600040101010101" charset="-122"/>
              <a:sym typeface="方正书宋简体" panose="02000000000000000000" charset="-122"/>
            </a:endParaRPr>
          </a:p>
          <a:p>
            <a:r>
              <a:rPr lang="en-US" altLang="zh-CN" sz="1600" dirty="0">
                <a:solidFill>
                  <a:srgbClr val="4472C4"/>
                </a:solidFill>
                <a:latin typeface="汉仪力量黑简" panose="00020600040101010101" charset="-122"/>
                <a:ea typeface="汉仪力量黑简" panose="00020600040101010101" charset="-122"/>
              </a:rPr>
              <a:t>Open Source</a:t>
            </a:r>
            <a:r>
              <a:rPr lang="en-US" altLang="zh-CN" sz="1600" dirty="0">
                <a:solidFill>
                  <a:srgbClr val="C00000"/>
                </a:solidFill>
                <a:latin typeface="汉仪力量黑简" panose="00020600040101010101" charset="-122"/>
                <a:ea typeface="汉仪力量黑简" panose="00020600040101010101" charset="-122"/>
              </a:rPr>
              <a:t> </a:t>
            </a:r>
            <a:r>
              <a:rPr lang="zh-CN" altLang="en-US" sz="1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and</a:t>
            </a:r>
            <a:r>
              <a:rPr lang="en-US" altLang="zh-CN" sz="1600" dirty="0">
                <a:solidFill>
                  <a:srgbClr val="C00000"/>
                </a:solidFill>
                <a:latin typeface="汉仪力量黑简" panose="00020600040101010101" charset="-122"/>
                <a:ea typeface="汉仪力量黑简" panose="00020600040101010101" charset="-122"/>
              </a:rPr>
              <a:t> </a:t>
            </a:r>
            <a:r>
              <a:rPr lang="en-US" altLang="zh-CN" sz="1600" dirty="0">
                <a:solidFill>
                  <a:srgbClr val="4472C4"/>
                </a:solidFill>
                <a:latin typeface="汉仪力量黑简" panose="00020600040101010101" charset="-122"/>
                <a:ea typeface="汉仪力量黑简" panose="00020600040101010101" charset="-122"/>
              </a:rPr>
              <a:t>Digital Economy</a:t>
            </a:r>
            <a:endParaRPr lang="en-US" altLang="zh-CN" sz="1600" dirty="0">
              <a:solidFill>
                <a:srgbClr val="C00000"/>
              </a:solidFill>
              <a:latin typeface="汉仪力量黑简" panose="00020600040101010101" charset="-122"/>
              <a:ea typeface="汉仪力量黑简" panose="00020600040101010101" charset="-122"/>
            </a:endParaRPr>
          </a:p>
          <a:p>
            <a:r>
              <a:rPr lang="en-US" altLang="zh-CN" sz="1600" dirty="0">
                <a:solidFill>
                  <a:srgbClr val="C00000"/>
                </a:solidFill>
                <a:latin typeface="汉仪力量黑简" panose="00020600040101010101" charset="-122"/>
                <a:ea typeface="汉仪力量黑简" panose="00020600040101010101" charset="-122"/>
              </a:rPr>
              <a:t>Global Competition</a:t>
            </a:r>
            <a:endParaRPr lang="en-US" altLang="zh-CN" sz="1600" dirty="0">
              <a:solidFill>
                <a:srgbClr val="C00000"/>
              </a:solidFill>
              <a:latin typeface="汉仪力量黑简" panose="00020600040101010101" charset="-122"/>
              <a:ea typeface="汉仪力量黑简" panose="0002060004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油画风格斯诺登大头照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V="1">
            <a:off x="-993775" y="0"/>
            <a:ext cx="13185775" cy="741362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-375920" y="4798060"/>
            <a:ext cx="13783945" cy="2373630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" name="图片 1" descr="生成乌合麒麟风格历史剪影油画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13473" b="15050"/>
          <a:stretch>
            <a:fillRect/>
          </a:stretch>
        </p:blipFill>
        <p:spPr>
          <a:xfrm>
            <a:off x="-55880" y="0"/>
            <a:ext cx="12247880" cy="492188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文本框 3"/>
          <p:cNvSpPr txBox="1"/>
          <p:nvPr/>
        </p:nvSpPr>
        <p:spPr>
          <a:xfrm>
            <a:off x="-55880" y="4921885"/>
            <a:ext cx="14712315" cy="156845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r>
              <a:rPr lang="zh-CN" altLang="en-US" sz="96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世界历史中</a:t>
            </a:r>
            <a:r>
              <a:rPr lang="zh-CN" altLang="en-US" sz="960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的</a:t>
            </a:r>
            <a:r>
              <a:rPr lang="zh-CN" altLang="en-US" sz="96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技术</a:t>
            </a:r>
            <a:r>
              <a:rPr lang="zh-CN" altLang="en-US" sz="96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中立</a:t>
            </a:r>
            <a:endParaRPr lang="zh-CN" altLang="en-US" sz="96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汉仪力量黑简" panose="00020600040101010101" charset="-122"/>
              <a:ea typeface="汉仪力量黑简" panose="0002060004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rcRect t="-3797" r="77695"/>
          <a:stretch>
            <a:fillRect/>
          </a:stretch>
        </p:blipFill>
        <p:spPr>
          <a:xfrm>
            <a:off x="11561445" y="6233160"/>
            <a:ext cx="630555" cy="624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7" name="图片 6" descr="藏蓝底色开源与世界历史时间曲线 (2)"/>
          <p:cNvPicPr>
            <a:picLocks noChangeAspect="1"/>
          </p:cNvPicPr>
          <p:nvPr/>
        </p:nvPicPr>
        <p:blipFill>
          <a:blip r:embed="rId1"/>
          <a:srcRect b="6855"/>
          <a:stretch>
            <a:fillRect/>
          </a:stretch>
        </p:blipFill>
        <p:spPr>
          <a:xfrm>
            <a:off x="-485775" y="0"/>
            <a:ext cx="13164185" cy="688467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720850" y="307340"/>
            <a:ext cx="8750935" cy="1718310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>
                <a:alpha val="100000"/>
              </a:schemeClr>
            </a:outerShdw>
          </a:effectLst>
        </p:spPr>
        <p:txBody>
          <a:bodyPr wrap="square" rtlCol="0">
            <a:noAutofit/>
          </a:bodyPr>
          <a:p>
            <a:pPr algn="dist"/>
            <a:r>
              <a:rPr lang="zh-CN" altLang="en-US" sz="5400">
                <a:solidFill>
                  <a:srgbClr val="B9A676"/>
                </a:solidFill>
                <a:latin typeface="汉仪力量黑简" panose="00020600040101010101" charset="-122"/>
                <a:ea typeface="汉仪力量黑简" panose="00020600040101010101" charset="-122"/>
              </a:rPr>
              <a:t>历史的终结</a:t>
            </a:r>
            <a:r>
              <a:rPr lang="en-US" altLang="zh-CN" sz="5400">
                <a:solidFill>
                  <a:srgbClr val="B9A676"/>
                </a:solidFill>
                <a:latin typeface="汉仪力量黑简" panose="00020600040101010101" charset="-122"/>
                <a:ea typeface="汉仪力量黑简" panose="00020600040101010101" charset="-122"/>
              </a:rPr>
              <a:t> </a:t>
            </a:r>
            <a:r>
              <a:rPr lang="zh-CN" altLang="en-US" sz="5400">
                <a:solidFill>
                  <a:srgbClr val="E5E4D4"/>
                </a:solidFill>
                <a:latin typeface="汉仪力量黑简" panose="00020600040101010101" charset="-122"/>
                <a:ea typeface="汉仪力量黑简" panose="00020600040101010101" charset="-122"/>
              </a:rPr>
              <a:t>技术的民主</a:t>
            </a:r>
            <a:endParaRPr lang="zh-CN" altLang="en-US" sz="5400">
              <a:solidFill>
                <a:srgbClr val="E5E4D4"/>
              </a:solidFill>
              <a:latin typeface="汉仪力量黑简" panose="00020600040101010101" charset="-122"/>
              <a:ea typeface="汉仪力量黑简" panose="00020600040101010101" charset="-122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H="1" flipV="1">
            <a:off x="1106170" y="2395855"/>
            <a:ext cx="26670" cy="1198245"/>
          </a:xfrm>
          <a:prstGeom prst="straightConnector1">
            <a:avLst/>
          </a:prstGeom>
          <a:ln w="19050">
            <a:solidFill>
              <a:srgbClr val="F5E999"/>
            </a:solidFill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-955040" y="1901825"/>
            <a:ext cx="42970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>
                <a:solidFill>
                  <a:srgbClr val="F5E999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GNU </a:t>
            </a:r>
            <a:r>
              <a:rPr lang="zh-CN" altLang="en-US" sz="1400">
                <a:solidFill>
                  <a:srgbClr val="F5E999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项目</a:t>
            </a:r>
            <a:endParaRPr lang="zh-CN" altLang="en-US" sz="1400">
              <a:solidFill>
                <a:srgbClr val="F5E999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  <a:p>
            <a:pPr algn="ctr"/>
            <a:r>
              <a:rPr lang="zh-CN" altLang="en-US" sz="1400">
                <a:solidFill>
                  <a:srgbClr val="F5E999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提出“自由软件”理念</a:t>
            </a:r>
            <a:endParaRPr lang="zh-CN" altLang="en-US" sz="1400">
              <a:solidFill>
                <a:srgbClr val="F5E999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 rot="10800000" flipH="1" flipV="1">
            <a:off x="2257425" y="4383405"/>
            <a:ext cx="12065" cy="1316355"/>
          </a:xfrm>
          <a:prstGeom prst="straightConnector1">
            <a:avLst/>
          </a:prstGeom>
          <a:ln w="19050">
            <a:solidFill>
              <a:srgbClr val="FFFEF4"/>
            </a:solidFill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114935" y="5699760"/>
            <a:ext cx="42970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rgbClr val="FFFEF4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苏联解体，冷战结束</a:t>
            </a:r>
            <a:endParaRPr lang="zh-CN" altLang="en-US" sz="1400">
              <a:solidFill>
                <a:srgbClr val="FFFEF4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 flipH="1" flipV="1">
            <a:off x="2330450" y="2025650"/>
            <a:ext cx="12065" cy="1316355"/>
          </a:xfrm>
          <a:prstGeom prst="straightConnector1">
            <a:avLst/>
          </a:prstGeom>
          <a:ln w="19050">
            <a:solidFill>
              <a:srgbClr val="F5E999"/>
            </a:solidFill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187960" y="1647190"/>
            <a:ext cx="42970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400">
                <a:solidFill>
                  <a:srgbClr val="F5E999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Linux</a:t>
            </a:r>
            <a:r>
              <a:rPr lang="zh-CN" altLang="en-US" sz="1400">
                <a:solidFill>
                  <a:srgbClr val="F5E999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内核</a:t>
            </a:r>
            <a:r>
              <a:rPr lang="en-US" altLang="zh-CN" sz="1400">
                <a:solidFill>
                  <a:srgbClr val="F5E999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 </a:t>
            </a:r>
            <a:r>
              <a:rPr lang="zh-CN" altLang="en-US" sz="1400">
                <a:solidFill>
                  <a:srgbClr val="F5E999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诞生</a:t>
            </a:r>
            <a:endParaRPr lang="zh-CN" altLang="en-US" sz="1400">
              <a:solidFill>
                <a:srgbClr val="F5E999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</p:txBody>
      </p:sp>
      <p:cxnSp>
        <p:nvCxnSpPr>
          <p:cNvPr id="22" name="直接箭头连接符 21"/>
          <p:cNvCxnSpPr/>
          <p:nvPr/>
        </p:nvCxnSpPr>
        <p:spPr>
          <a:xfrm flipH="1" flipV="1">
            <a:off x="3652520" y="1953895"/>
            <a:ext cx="5715" cy="793750"/>
          </a:xfrm>
          <a:prstGeom prst="straightConnector1">
            <a:avLst/>
          </a:prstGeom>
          <a:ln w="19050">
            <a:solidFill>
              <a:srgbClr val="F5E999"/>
            </a:solidFill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H="1" flipV="1">
            <a:off x="5471160" y="2207895"/>
            <a:ext cx="5715" cy="703580"/>
          </a:xfrm>
          <a:prstGeom prst="straightConnector1">
            <a:avLst/>
          </a:prstGeom>
          <a:ln w="19050">
            <a:solidFill>
              <a:srgbClr val="F5E999"/>
            </a:solidFill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3342005" y="1647190"/>
            <a:ext cx="42970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rgbClr val="F5E999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互联网商业</a:t>
            </a:r>
            <a:r>
              <a:rPr lang="zh-CN" altLang="en-US" sz="1400">
                <a:solidFill>
                  <a:srgbClr val="F5E999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爆发</a:t>
            </a:r>
            <a:endParaRPr lang="zh-CN" altLang="en-US" sz="1400">
              <a:solidFill>
                <a:srgbClr val="F5E999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  <a:p>
            <a:pPr algn="ctr"/>
            <a:r>
              <a:rPr lang="zh-CN" altLang="en-US" sz="1400">
                <a:solidFill>
                  <a:srgbClr val="F5E999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网景公司</a:t>
            </a:r>
            <a:r>
              <a:rPr lang="zh-CN" altLang="en-US" sz="1400">
                <a:solidFill>
                  <a:srgbClr val="F5E999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上市</a:t>
            </a:r>
            <a:endParaRPr lang="zh-CN" altLang="en-US" sz="1400">
              <a:solidFill>
                <a:srgbClr val="F5E999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06855" y="1647190"/>
            <a:ext cx="42970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>
                <a:solidFill>
                  <a:srgbClr val="F5E999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Apach</a:t>
            </a:r>
            <a:r>
              <a:rPr lang="zh-CN" altLang="en-US" sz="1400">
                <a:solidFill>
                  <a:srgbClr val="F5E999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上市</a:t>
            </a:r>
            <a:r>
              <a:rPr lang="zh-CN" altLang="en-US" sz="1400">
                <a:solidFill>
                  <a:srgbClr val="F5E999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发布</a:t>
            </a:r>
            <a:endParaRPr lang="zh-CN" altLang="en-US" sz="1400">
              <a:solidFill>
                <a:srgbClr val="F5E999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</p:txBody>
      </p:sp>
      <p:cxnSp>
        <p:nvCxnSpPr>
          <p:cNvPr id="3" name="直接箭头连接符 2"/>
          <p:cNvCxnSpPr/>
          <p:nvPr/>
        </p:nvCxnSpPr>
        <p:spPr>
          <a:xfrm flipH="1">
            <a:off x="7254875" y="4996180"/>
            <a:ext cx="5715" cy="703580"/>
          </a:xfrm>
          <a:prstGeom prst="straightConnector1">
            <a:avLst/>
          </a:prstGeom>
          <a:ln w="19050">
            <a:solidFill>
              <a:srgbClr val="F5E999"/>
            </a:solidFill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箭头连接符 3"/>
          <p:cNvCxnSpPr/>
          <p:nvPr/>
        </p:nvCxnSpPr>
        <p:spPr>
          <a:xfrm flipH="1">
            <a:off x="8533130" y="4783455"/>
            <a:ext cx="5715" cy="703580"/>
          </a:xfrm>
          <a:prstGeom prst="straightConnector1">
            <a:avLst/>
          </a:prstGeom>
          <a:ln w="19050">
            <a:solidFill>
              <a:srgbClr val="F5E999"/>
            </a:solidFill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 flipH="1">
            <a:off x="10666095" y="3912235"/>
            <a:ext cx="5715" cy="703580"/>
          </a:xfrm>
          <a:prstGeom prst="straightConnector1">
            <a:avLst/>
          </a:prstGeom>
          <a:ln w="19050">
            <a:solidFill>
              <a:srgbClr val="F5E999"/>
            </a:solidFill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5109210" y="5699760"/>
            <a:ext cx="42970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>
                <a:solidFill>
                  <a:srgbClr val="F5E999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Git</a:t>
            </a:r>
            <a:r>
              <a:rPr lang="zh-CN" altLang="en-US" sz="1400">
                <a:solidFill>
                  <a:srgbClr val="F5E999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版本控制系统</a:t>
            </a:r>
            <a:endParaRPr lang="zh-CN" altLang="en-US" sz="1400">
              <a:solidFill>
                <a:srgbClr val="F5E999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  <a:p>
            <a:pPr algn="ctr"/>
            <a:r>
              <a:rPr lang="zh-CN" altLang="en-US" sz="1400">
                <a:solidFill>
                  <a:srgbClr val="F5E999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由</a:t>
            </a:r>
            <a:r>
              <a:rPr lang="en-US" altLang="zh-CN" sz="1400">
                <a:solidFill>
                  <a:srgbClr val="F5E999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Linus Torvalds</a:t>
            </a:r>
            <a:r>
              <a:rPr lang="zh-CN" altLang="en-US" sz="1400">
                <a:solidFill>
                  <a:srgbClr val="F5E999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开发</a:t>
            </a:r>
            <a:endParaRPr lang="zh-CN" altLang="en-US" sz="1400">
              <a:solidFill>
                <a:srgbClr val="F5E999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374765" y="5487035"/>
            <a:ext cx="42970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>
                <a:solidFill>
                  <a:srgbClr val="F5E999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GitHub</a:t>
            </a:r>
            <a:r>
              <a:rPr lang="zh-CN" altLang="en-US" sz="1400">
                <a:solidFill>
                  <a:srgbClr val="F5E999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结束测试</a:t>
            </a:r>
            <a:endParaRPr lang="zh-CN" altLang="en-US" sz="1400">
              <a:solidFill>
                <a:srgbClr val="F5E999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  <a:p>
            <a:pPr algn="ctr"/>
            <a:r>
              <a:rPr lang="zh-CN" altLang="en-US" sz="1400">
                <a:solidFill>
                  <a:srgbClr val="F5E999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正式推出</a:t>
            </a:r>
            <a:endParaRPr lang="zh-CN" altLang="en-US" sz="1400">
              <a:solidFill>
                <a:srgbClr val="F5E999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456295" y="4687570"/>
            <a:ext cx="429704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rgbClr val="F5E999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 阿里巴巴</a:t>
            </a:r>
            <a:r>
              <a:rPr lang="zh-CN" altLang="en-US" sz="1400">
                <a:solidFill>
                  <a:srgbClr val="F5E999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上市</a:t>
            </a:r>
            <a:endParaRPr lang="zh-CN" altLang="en-US" sz="1400">
              <a:solidFill>
                <a:srgbClr val="F5E999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  <a:p>
            <a:pPr algn="ctr"/>
            <a:r>
              <a:rPr lang="zh-CN" altLang="en-US" sz="1400">
                <a:solidFill>
                  <a:srgbClr val="F5E999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中国互联网企业</a:t>
            </a:r>
            <a:endParaRPr lang="zh-CN" altLang="en-US" sz="1400">
              <a:solidFill>
                <a:srgbClr val="F5E999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  <a:p>
            <a:pPr algn="ctr"/>
            <a:r>
              <a:rPr lang="zh-CN" altLang="en-US" sz="1400">
                <a:solidFill>
                  <a:srgbClr val="F5E999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开始大规模参与</a:t>
            </a:r>
            <a:r>
              <a:rPr lang="zh-CN" altLang="en-US" sz="1400">
                <a:solidFill>
                  <a:srgbClr val="F5E999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开源</a:t>
            </a:r>
            <a:endParaRPr lang="zh-CN" altLang="en-US" sz="1400">
              <a:solidFill>
                <a:srgbClr val="F5E999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 flipH="1">
            <a:off x="4189095" y="5194935"/>
            <a:ext cx="5715" cy="772795"/>
          </a:xfrm>
          <a:prstGeom prst="straightConnector1">
            <a:avLst/>
          </a:prstGeom>
          <a:ln w="19050">
            <a:solidFill>
              <a:srgbClr val="FFFEF4"/>
            </a:solidFill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H="1" flipV="1">
            <a:off x="7289800" y="1776095"/>
            <a:ext cx="5715" cy="772795"/>
          </a:xfrm>
          <a:prstGeom prst="straightConnector1">
            <a:avLst/>
          </a:prstGeom>
          <a:ln w="19050">
            <a:solidFill>
              <a:srgbClr val="FFFEF4"/>
            </a:solidFill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 flipH="1" flipV="1">
            <a:off x="8781415" y="2138680"/>
            <a:ext cx="20320" cy="711200"/>
          </a:xfrm>
          <a:prstGeom prst="straightConnector1">
            <a:avLst/>
          </a:prstGeom>
          <a:ln w="19050">
            <a:solidFill>
              <a:srgbClr val="FFFEF4"/>
            </a:solidFill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H="1">
            <a:off x="1205230" y="3878580"/>
            <a:ext cx="8255" cy="1286510"/>
          </a:xfrm>
          <a:prstGeom prst="straightConnector1">
            <a:avLst/>
          </a:prstGeom>
          <a:ln w="19050">
            <a:solidFill>
              <a:srgbClr val="FFFEF4"/>
            </a:solidFill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-955040" y="5278755"/>
            <a:ext cx="42970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rgbClr val="FFFEF4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福山提出</a:t>
            </a:r>
            <a:endParaRPr lang="zh-CN" altLang="en-US" sz="1400">
              <a:solidFill>
                <a:srgbClr val="FFFEF4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  <a:p>
            <a:pPr algn="ctr"/>
            <a:r>
              <a:rPr lang="zh-CN" altLang="en-US" sz="1400">
                <a:solidFill>
                  <a:srgbClr val="FFFEF4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《</a:t>
            </a:r>
            <a:r>
              <a:rPr lang="zh-CN" altLang="en-US" sz="1400">
                <a:solidFill>
                  <a:srgbClr val="FFFEF4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历史的终结》</a:t>
            </a:r>
            <a:endParaRPr lang="zh-CN" altLang="en-US" sz="1400">
              <a:solidFill>
                <a:srgbClr val="FFFEF4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077720" y="6006465"/>
            <a:ext cx="42970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>
                <a:solidFill>
                  <a:srgbClr val="FFFEF4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WTO</a:t>
            </a:r>
            <a:r>
              <a:rPr lang="zh-CN" altLang="en-US" sz="1400">
                <a:solidFill>
                  <a:srgbClr val="FFFEF4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成立</a:t>
            </a:r>
            <a:endParaRPr lang="zh-CN" altLang="en-US" sz="1400">
              <a:solidFill>
                <a:srgbClr val="FFFEF4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697345" y="1588770"/>
            <a:ext cx="42970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rgbClr val="FFFEF4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次贷危机</a:t>
            </a:r>
            <a:endParaRPr lang="zh-CN" altLang="en-US" sz="1400">
              <a:solidFill>
                <a:srgbClr val="FFFEF4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  <a:p>
            <a:pPr algn="ctr"/>
            <a:r>
              <a:rPr lang="zh-CN" altLang="en-US" sz="1400">
                <a:solidFill>
                  <a:srgbClr val="FFFEF4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雷曼兄弟破产</a:t>
            </a:r>
            <a:endParaRPr lang="zh-CN" altLang="en-US" sz="1400">
              <a:solidFill>
                <a:srgbClr val="FFFEF4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144135" y="1254125"/>
            <a:ext cx="42970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>
                <a:solidFill>
                  <a:srgbClr val="FFFEF4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911</a:t>
            </a:r>
            <a:r>
              <a:rPr lang="zh-CN" altLang="en-US" sz="1400">
                <a:solidFill>
                  <a:srgbClr val="FFFEF4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事件</a:t>
            </a:r>
            <a:endParaRPr lang="zh-CN" altLang="en-US" sz="1400">
              <a:solidFill>
                <a:srgbClr val="FFFEF4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</p:txBody>
      </p:sp>
      <p:cxnSp>
        <p:nvCxnSpPr>
          <p:cNvPr id="28" name="直接箭头连接符 27"/>
          <p:cNvCxnSpPr/>
          <p:nvPr/>
        </p:nvCxnSpPr>
        <p:spPr>
          <a:xfrm flipH="1" flipV="1">
            <a:off x="10671810" y="1901825"/>
            <a:ext cx="26035" cy="698500"/>
          </a:xfrm>
          <a:prstGeom prst="straightConnector1">
            <a:avLst/>
          </a:prstGeom>
          <a:ln w="19050">
            <a:solidFill>
              <a:srgbClr val="FFFEF4"/>
            </a:solidFill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8533130" y="1379855"/>
            <a:ext cx="42970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>
                <a:solidFill>
                  <a:srgbClr val="FFFEF4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“</a:t>
            </a:r>
            <a:r>
              <a:rPr lang="zh-CN" altLang="en-US" sz="1400">
                <a:solidFill>
                  <a:srgbClr val="FFFEF4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棱镜</a:t>
            </a:r>
            <a:r>
              <a:rPr lang="en-US" altLang="zh-CN" sz="1400">
                <a:solidFill>
                  <a:srgbClr val="FFFEF4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”</a:t>
            </a:r>
            <a:r>
              <a:rPr lang="zh-CN" altLang="en-US" sz="1400">
                <a:solidFill>
                  <a:srgbClr val="FFFEF4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计划</a:t>
            </a:r>
            <a:endParaRPr lang="zh-CN" altLang="en-US" sz="1400">
              <a:solidFill>
                <a:srgbClr val="FFFEF4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油画风格斯诺登大头照"/>
          <p:cNvPicPr>
            <a:picLocks noChangeAspect="1"/>
          </p:cNvPicPr>
          <p:nvPr/>
        </p:nvPicPr>
        <p:blipFill>
          <a:blip r:embed="rId1"/>
          <a:srcRect b="6642"/>
          <a:stretch>
            <a:fillRect/>
          </a:stretch>
        </p:blipFill>
        <p:spPr>
          <a:xfrm>
            <a:off x="-970915" y="-454660"/>
            <a:ext cx="13931265" cy="731266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483860" y="2294255"/>
            <a:ext cx="683069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ln w="12700" cmpd="sng">
                  <a:noFill/>
                  <a:prstDash val="solid"/>
                </a:ln>
                <a:latin typeface="Aa油画棒" panose="02010600010101010101" charset="-122"/>
                <a:ea typeface="Aa油画棒" panose="02010600010101010101" charset="-122"/>
                <a:cs typeface="Aa油画棒" panose="02010600010101010101" charset="-122"/>
              </a:rPr>
              <a:t>“我宁愿牺牲一切，因为良心无法允许美国政府侵犯全球民众隐私和互联网自由……我的唯一动机是告知公众以（保护）他们的名义所做的事。</a:t>
            </a:r>
            <a:r>
              <a:rPr lang="zh-CN" altLang="en-US" sz="2800">
                <a:ln>
                  <a:noFill/>
                </a:ln>
                <a:latin typeface="Aa油画棒" panose="02010600010101010101" charset="-122"/>
                <a:ea typeface="Aa油画棒" panose="02010600010101010101" charset="-122"/>
                <a:cs typeface="Aa油画棒" panose="02010600010101010101" charset="-122"/>
              </a:rPr>
              <a:t>”</a:t>
            </a:r>
            <a:endParaRPr lang="zh-CN" altLang="en-US" sz="2800">
              <a:ln>
                <a:noFill/>
              </a:ln>
              <a:latin typeface="Aa油画棒" panose="02010600010101010101" charset="-122"/>
              <a:ea typeface="Aa油画棒" panose="02010600010101010101" charset="-122"/>
              <a:cs typeface="Aa油画棒" panose="02010600010101010101" charset="-122"/>
            </a:endParaRPr>
          </a:p>
          <a:p>
            <a:endParaRPr lang="zh-CN" altLang="en-US" sz="2800">
              <a:ln>
                <a:noFill/>
              </a:ln>
              <a:latin typeface="Aa油画棒" panose="02010600010101010101" charset="-122"/>
              <a:ea typeface="Aa油画棒" panose="02010600010101010101" charset="-122"/>
              <a:cs typeface="Aa油画棒" panose="02010600010101010101" charset="-122"/>
            </a:endParaRPr>
          </a:p>
          <a:p>
            <a:pPr algn="r"/>
            <a:r>
              <a:rPr lang="en-US" altLang="zh-CN" sz="2800">
                <a:ln>
                  <a:noFill/>
                </a:ln>
                <a:solidFill>
                  <a:schemeClr val="bg1"/>
                </a:solidFill>
                <a:latin typeface="Aa油画棒" panose="02010600010101010101" charset="-122"/>
                <a:ea typeface="Aa油画棒" panose="02010600010101010101" charset="-122"/>
                <a:cs typeface="Aa油画棒" panose="02010600010101010101" charset="-122"/>
              </a:rPr>
              <a:t>------</a:t>
            </a:r>
            <a:r>
              <a:rPr lang="zh-CN" altLang="en-US" sz="2800">
                <a:ln>
                  <a:noFill/>
                </a:ln>
                <a:solidFill>
                  <a:schemeClr val="bg1"/>
                </a:solidFill>
                <a:latin typeface="Aa油画棒" panose="02010600010101010101" charset="-122"/>
                <a:ea typeface="Aa油画棒" panose="02010600010101010101" charset="-122"/>
                <a:cs typeface="Aa油画棒" panose="02010600010101010101" charset="-122"/>
              </a:rPr>
              <a:t>爱德华·约瑟夫·斯诺登</a:t>
            </a:r>
            <a:endParaRPr lang="zh-CN" altLang="en-US" sz="2800">
              <a:ln>
                <a:noFill/>
              </a:ln>
              <a:solidFill>
                <a:schemeClr val="bg1"/>
              </a:solidFill>
              <a:latin typeface="Aa油画棒" panose="02010600010101010101" charset="-122"/>
              <a:ea typeface="Aa油画棒" panose="02010600010101010101" charset="-122"/>
              <a:cs typeface="Aa油画棒" panose="0201060001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生成油画质感世界地图重整分裂图"/>
          <p:cNvPicPr>
            <a:picLocks noChangeAspect="1"/>
          </p:cNvPicPr>
          <p:nvPr/>
        </p:nvPicPr>
        <p:blipFill>
          <a:blip r:embed="rId1"/>
          <a:srcRect b="5565"/>
          <a:stretch>
            <a:fillRect/>
          </a:stretch>
        </p:blipFill>
        <p:spPr>
          <a:xfrm>
            <a:off x="-536575" y="0"/>
            <a:ext cx="1326515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生成油画质感世界地图重整分裂图 (1)"/>
          <p:cNvPicPr>
            <a:picLocks noChangeAspect="1"/>
          </p:cNvPicPr>
          <p:nvPr/>
        </p:nvPicPr>
        <p:blipFill>
          <a:blip r:embed="rId1"/>
          <a:srcRect b="6048"/>
          <a:stretch>
            <a:fillRect/>
          </a:stretch>
        </p:blipFill>
        <p:spPr>
          <a:xfrm>
            <a:off x="-1133475" y="-402590"/>
            <a:ext cx="13763625" cy="726059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28600" y="1238250"/>
            <a:ext cx="11768455" cy="6317615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3600">
                <a:latin typeface="汉仪力量黑简" panose="00020600040101010101" charset="-122"/>
                <a:ea typeface="汉仪力量黑简" panose="00020600040101010101" charset="-122"/>
                <a:cs typeface="汉仪力量黑简" panose="00020600040101010101" charset="-122"/>
              </a:rPr>
              <a:t>技术中立从来不是历史的</a:t>
            </a:r>
            <a:r>
              <a:rPr lang="zh-CN" altLang="en-US" sz="3600">
                <a:latin typeface="汉仪力量黑简" panose="00020600040101010101" charset="-122"/>
                <a:ea typeface="汉仪力量黑简" panose="00020600040101010101" charset="-122"/>
                <a:cs typeface="汉仪力量黑简" panose="00020600040101010101" charset="-122"/>
              </a:rPr>
              <a:t>答案，而是特定时期政治信任的产物。</a:t>
            </a:r>
            <a:endParaRPr lang="zh-CN" altLang="en-US" sz="3600">
              <a:latin typeface="汉仪力量黑简" panose="00020600040101010101" charset="-122"/>
              <a:ea typeface="汉仪力量黑简" panose="00020600040101010101" charset="-122"/>
              <a:cs typeface="汉仪力量黑简" panose="00020600040101010101" charset="-122"/>
            </a:endParaRPr>
          </a:p>
          <a:p>
            <a:endParaRPr lang="zh-CN" altLang="en-US" sz="3600">
              <a:latin typeface="汉仪力量黑简" panose="00020600040101010101" charset="-122"/>
              <a:ea typeface="汉仪力量黑简" panose="00020600040101010101" charset="-122"/>
              <a:cs typeface="汉仪力量黑简" panose="00020600040101010101" charset="-122"/>
            </a:endParaRPr>
          </a:p>
          <a:p>
            <a:r>
              <a:rPr lang="zh-CN" altLang="en-US" sz="3600">
                <a:latin typeface="汉仪力量黑简" panose="00020600040101010101" charset="-122"/>
                <a:ea typeface="汉仪力量黑简" panose="00020600040101010101" charset="-122"/>
                <a:cs typeface="汉仪力量黑简" panose="00020600040101010101" charset="-122"/>
              </a:rPr>
              <a:t>当信任崩塌，以</a:t>
            </a:r>
            <a:r>
              <a:rPr lang="en-US" altLang="zh-CN" sz="3600">
                <a:latin typeface="汉仪力量黑简" panose="00020600040101010101" charset="-122"/>
                <a:ea typeface="汉仪力量黑简" panose="00020600040101010101" charset="-122"/>
                <a:cs typeface="汉仪力量黑简" panose="00020600040101010101" charset="-122"/>
              </a:rPr>
              <a:t>“</a:t>
            </a:r>
            <a:r>
              <a:rPr lang="zh-CN" altLang="en-US" sz="3600">
                <a:latin typeface="汉仪力量黑简" panose="00020600040101010101" charset="-122"/>
                <a:ea typeface="汉仪力量黑简" panose="00020600040101010101" charset="-122"/>
                <a:cs typeface="汉仪力量黑简" panose="00020600040101010101" charset="-122"/>
              </a:rPr>
              <a:t>开放</a:t>
            </a:r>
            <a:r>
              <a:rPr lang="en-US" altLang="zh-CN" sz="3600">
                <a:latin typeface="汉仪力量黑简" panose="00020600040101010101" charset="-122"/>
                <a:ea typeface="汉仪力量黑简" panose="00020600040101010101" charset="-122"/>
                <a:cs typeface="汉仪力量黑简" panose="00020600040101010101" charset="-122"/>
              </a:rPr>
              <a:t>”“</a:t>
            </a:r>
            <a:r>
              <a:rPr lang="zh-CN" altLang="en-US" sz="3600">
                <a:latin typeface="汉仪力量黑简" panose="00020600040101010101" charset="-122"/>
                <a:ea typeface="汉仪力量黑简" panose="00020600040101010101" charset="-122"/>
                <a:cs typeface="汉仪力量黑简" panose="00020600040101010101" charset="-122"/>
              </a:rPr>
              <a:t>平等</a:t>
            </a:r>
            <a:r>
              <a:rPr lang="en-US" altLang="zh-CN" sz="3600">
                <a:latin typeface="汉仪力量黑简" panose="00020600040101010101" charset="-122"/>
                <a:ea typeface="汉仪力量黑简" panose="00020600040101010101" charset="-122"/>
                <a:cs typeface="汉仪力量黑简" panose="00020600040101010101" charset="-122"/>
              </a:rPr>
              <a:t>”</a:t>
            </a:r>
            <a:r>
              <a:rPr lang="zh-CN" altLang="en-US" sz="3600">
                <a:latin typeface="汉仪力量黑简" panose="00020600040101010101" charset="-122"/>
                <a:ea typeface="汉仪力量黑简" panose="00020600040101010101" charset="-122"/>
                <a:cs typeface="汉仪力量黑简" panose="00020600040101010101" charset="-122"/>
              </a:rPr>
              <a:t>闻名的开源精神也变成了历史</a:t>
            </a:r>
            <a:r>
              <a:rPr lang="zh-CN" altLang="en-US" sz="3600">
                <a:latin typeface="汉仪力量黑简" panose="00020600040101010101" charset="-122"/>
                <a:ea typeface="汉仪力量黑简" panose="00020600040101010101" charset="-122"/>
                <a:cs typeface="汉仪力量黑简" panose="00020600040101010101" charset="-122"/>
              </a:rPr>
              <a:t>洪流中的</a:t>
            </a:r>
            <a:r>
              <a:rPr lang="zh-CN" altLang="en-US" sz="3600">
                <a:latin typeface="汉仪力量黑简" panose="00020600040101010101" charset="-122"/>
                <a:ea typeface="汉仪力量黑简" panose="00020600040101010101" charset="-122"/>
                <a:cs typeface="汉仪力量黑简" panose="00020600040101010101" charset="-122"/>
              </a:rPr>
              <a:t>小角色。</a:t>
            </a:r>
            <a:endParaRPr lang="zh-CN" altLang="en-US" sz="3600">
              <a:latin typeface="汉仪力量黑简" panose="00020600040101010101" charset="-122"/>
              <a:ea typeface="汉仪力量黑简" panose="00020600040101010101" charset="-122"/>
              <a:cs typeface="汉仪力量黑简" panose="00020600040101010101" charset="-122"/>
            </a:endParaRPr>
          </a:p>
          <a:p>
            <a:endParaRPr lang="zh-CN" altLang="en-US" sz="3600">
              <a:latin typeface="汉仪力量黑简" panose="00020600040101010101" charset="-122"/>
              <a:ea typeface="汉仪力量黑简" panose="00020600040101010101" charset="-122"/>
              <a:cs typeface="汉仪力量黑简" panose="00020600040101010101" charset="-122"/>
            </a:endParaRPr>
          </a:p>
          <a:p>
            <a:r>
              <a:rPr lang="zh-CN" altLang="en-US" sz="3600">
                <a:latin typeface="汉仪力量黑简" panose="00020600040101010101" charset="-122"/>
                <a:ea typeface="汉仪力量黑简" panose="00020600040101010101" charset="-122"/>
                <a:cs typeface="汉仪力量黑简" panose="00020600040101010101" charset="-122"/>
              </a:rPr>
              <a:t>而接下来，我们将进入这个</a:t>
            </a:r>
            <a:r>
              <a:rPr lang="zh-CN" altLang="en-US" sz="3600">
                <a:latin typeface="汉仪力量黑简" panose="00020600040101010101" charset="-122"/>
                <a:ea typeface="汉仪力量黑简" panose="00020600040101010101" charset="-122"/>
                <a:cs typeface="汉仪力量黑简" panose="00020600040101010101" charset="-122"/>
              </a:rPr>
              <a:t>开源政治角斗场的核心。</a:t>
            </a:r>
            <a:endParaRPr lang="zh-CN" altLang="en-US" sz="3600">
              <a:latin typeface="汉仪力量黑简" panose="00020600040101010101" charset="-122"/>
              <a:ea typeface="汉仪力量黑简" panose="00020600040101010101" charset="-122"/>
              <a:cs typeface="汉仪力量黑简" panose="0002060004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油画风格斯诺登大头照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V="1">
            <a:off x="-993775" y="0"/>
            <a:ext cx="13185775" cy="7413625"/>
          </a:xfrm>
          <a:prstGeom prst="rect">
            <a:avLst/>
          </a:prstGeom>
        </p:spPr>
      </p:pic>
      <p:pic>
        <p:nvPicPr>
          <p:cNvPr id="2" name="图片 1" descr="生成乌合麒麟风格历史剪影油画 (1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-2619" b="19161"/>
          <a:stretch>
            <a:fillRect/>
          </a:stretch>
        </p:blipFill>
        <p:spPr>
          <a:xfrm>
            <a:off x="0" y="-861695"/>
            <a:ext cx="12247245" cy="574738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文本框 3"/>
          <p:cNvSpPr txBox="1"/>
          <p:nvPr/>
        </p:nvSpPr>
        <p:spPr>
          <a:xfrm>
            <a:off x="1607185" y="5090160"/>
            <a:ext cx="10518140" cy="156845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r>
              <a:rPr lang="zh-CN" altLang="en-US" sz="96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开源</a:t>
            </a:r>
            <a:r>
              <a:rPr lang="zh-CN" altLang="en-US" sz="960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与</a:t>
            </a:r>
            <a:r>
              <a:rPr lang="zh-CN" altLang="en-US" sz="96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全球</a:t>
            </a:r>
            <a:r>
              <a:rPr lang="zh-CN" altLang="en-US" sz="960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竞争</a:t>
            </a:r>
            <a:endParaRPr lang="zh-CN" altLang="en-US" sz="9600"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汉仪力量黑简" panose="00020600040101010101" charset="-122"/>
              <a:ea typeface="汉仪力量黑简" panose="00020600040101010101" charset="-122"/>
            </a:endParaRPr>
          </a:p>
        </p:txBody>
      </p:sp>
      <p:pic>
        <p:nvPicPr>
          <p:cNvPr id="18" name="图形 17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72975" y="6260377"/>
            <a:ext cx="2825913" cy="5973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8" name="图片 7" descr="技术中立破灭后美国制裁中国的质感优化图生成"/>
          <p:cNvPicPr>
            <a:picLocks noChangeAspect="1"/>
          </p:cNvPicPr>
          <p:nvPr/>
        </p:nvPicPr>
        <p:blipFill>
          <a:blip r:embed="rId1"/>
          <a:srcRect b="6522"/>
          <a:stretch>
            <a:fillRect/>
          </a:stretch>
        </p:blipFill>
        <p:spPr>
          <a:xfrm>
            <a:off x="-912495" y="-424180"/>
            <a:ext cx="13855700" cy="7282180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2565400" y="1554480"/>
            <a:ext cx="6899910" cy="3977005"/>
          </a:xfrm>
          <a:prstGeom prst="roundRect">
            <a:avLst/>
          </a:prstGeom>
          <a:solidFill>
            <a:schemeClr val="bg1">
              <a:alpha val="41000"/>
            </a:schemeClr>
          </a:solidFill>
          <a:ln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glow rad="139700">
              <a:srgbClr val="FFFEF4">
                <a:alpha val="46000"/>
              </a:srgbClr>
            </a:glow>
            <a:softEdge rad="127000"/>
          </a:effectLst>
          <a:scene3d>
            <a:camera prst="orthographicFront"/>
            <a:lightRig rig="threePt" dir="t"/>
          </a:scene3d>
          <a:sp3d prstMaterial="clear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99665" y="2508250"/>
            <a:ext cx="10170160" cy="163449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p>
            <a:r>
              <a:rPr lang="zh-CN" altLang="en-US" sz="13800">
                <a:ln>
                  <a:solidFill>
                    <a:schemeClr val="bg2"/>
                  </a:solidFill>
                </a:ln>
                <a:gradFill>
                  <a:gsLst>
                    <a:gs pos="0">
                      <a:srgbClr val="FFFF00"/>
                    </a:gs>
                    <a:gs pos="31000">
                      <a:srgbClr val="E51E2E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中</a:t>
            </a:r>
            <a:r>
              <a:rPr lang="zh-CN" altLang="en-US" sz="13800">
                <a:ln>
                  <a:solidFill>
                    <a:schemeClr val="bg2"/>
                  </a:solidFill>
                </a:ln>
                <a:gradFill>
                  <a:gsLst>
                    <a:gs pos="65000">
                      <a:srgbClr val="434CFF"/>
                    </a:gs>
                    <a:gs pos="14000">
                      <a:schemeClr val="bg1"/>
                    </a:gs>
                    <a:gs pos="82000">
                      <a:srgbClr val="E51E2E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美</a:t>
            </a:r>
            <a:r>
              <a:rPr lang="zh-CN" altLang="en-US" sz="13800">
                <a:ln>
                  <a:solidFill>
                    <a:schemeClr val="bg2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竞争</a:t>
            </a:r>
            <a:endParaRPr lang="zh-CN" altLang="en-US" sz="13800">
              <a:ln>
                <a:solidFill>
                  <a:schemeClr val="bg2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汉仪力量黑简" panose="00020600040101010101" charset="-122"/>
              <a:ea typeface="汉仪力量黑简" panose="00020600040101010101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image-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233670" y="3058160"/>
            <a:ext cx="10170160" cy="163449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p>
            <a:r>
              <a:rPr lang="zh-CN" altLang="en-US" sz="600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特朗普对外战略</a:t>
            </a:r>
            <a:endParaRPr lang="zh-CN" altLang="en-US" sz="6000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汉仪力量黑简" panose="00020600040101010101" charset="-122"/>
              <a:ea typeface="汉仪力量黑简" panose="00020600040101010101" charset="-122"/>
            </a:endParaRPr>
          </a:p>
          <a:p>
            <a:r>
              <a:rPr lang="zh-CN" altLang="en-US" sz="600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美国优先、务实交易</a:t>
            </a:r>
            <a:endParaRPr lang="zh-CN" altLang="en-US" sz="6000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汉仪力量黑简" panose="00020600040101010101" charset="-122"/>
              <a:ea typeface="汉仪力量黑简" panose="0002060004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20F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82575" y="389255"/>
            <a:ext cx="7906385" cy="1048385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p>
            <a:r>
              <a:rPr lang="zh-CN" altLang="en-US" sz="600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特朗普</a:t>
            </a:r>
            <a:r>
              <a:rPr lang="zh-CN" altLang="en-US" sz="600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政策工具</a:t>
            </a:r>
            <a:endParaRPr lang="zh-CN" altLang="en-US" sz="6000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汉仪力量黑简" panose="00020600040101010101" charset="-122"/>
              <a:ea typeface="汉仪力量黑简" panose="0002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74345" y="2028190"/>
            <a:ext cx="42970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3600">
                <a:solidFill>
                  <a:srgbClr val="E5E4D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实体清单</a:t>
            </a:r>
            <a:endParaRPr lang="zh-CN" altLang="en-US" sz="3600">
              <a:solidFill>
                <a:srgbClr val="E5E4D4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09870" y="2028190"/>
            <a:ext cx="71158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3600">
                <a:solidFill>
                  <a:srgbClr val="E5E4D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外国直接产品规则（</a:t>
            </a:r>
            <a:r>
              <a:rPr lang="en-US" altLang="zh-CN" sz="3600">
                <a:solidFill>
                  <a:srgbClr val="E5E4D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FDRP）</a:t>
            </a:r>
            <a:endParaRPr lang="en-US" altLang="zh-CN" sz="3600">
              <a:solidFill>
                <a:srgbClr val="E5E4D4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8625" y="3429000"/>
            <a:ext cx="78359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n>
                  <a:noFill/>
                </a:ln>
                <a:solidFill>
                  <a:schemeClr val="bg1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将华为、中兴等中国科技企业</a:t>
            </a:r>
            <a:endParaRPr lang="zh-CN" altLang="en-US" sz="2400">
              <a:ln>
                <a:noFill/>
              </a:ln>
              <a:solidFill>
                <a:schemeClr val="bg1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  <a:p>
            <a:r>
              <a:rPr lang="zh-CN" altLang="en-US" sz="2400">
                <a:ln>
                  <a:noFill/>
                </a:ln>
                <a:solidFill>
                  <a:schemeClr val="bg1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及关联机构</a:t>
            </a:r>
            <a:endParaRPr lang="zh-CN" altLang="en-US" sz="2400">
              <a:ln>
                <a:noFill/>
              </a:ln>
              <a:solidFill>
                <a:schemeClr val="bg1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  <a:p>
            <a:r>
              <a:rPr lang="zh-CN" altLang="en-US" sz="2400">
                <a:ln>
                  <a:noFill/>
                </a:ln>
                <a:solidFill>
                  <a:schemeClr val="bg1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列入出口管制黑名单</a:t>
            </a:r>
            <a:endParaRPr lang="zh-CN" altLang="en-US" sz="2400">
              <a:ln>
                <a:noFill/>
              </a:ln>
              <a:solidFill>
                <a:schemeClr val="bg1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  <a:p>
            <a:r>
              <a:rPr lang="zh-CN" altLang="en-US" sz="2400">
                <a:ln>
                  <a:noFill/>
                </a:ln>
                <a:solidFill>
                  <a:schemeClr val="bg1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限制其获取美国技术和产品</a:t>
            </a:r>
            <a:endParaRPr lang="zh-CN" altLang="en-US" sz="2400">
              <a:ln>
                <a:noFill/>
              </a:ln>
              <a:solidFill>
                <a:schemeClr val="bg1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199380" y="3429000"/>
            <a:ext cx="78359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n>
                  <a:noFill/>
                </a:ln>
                <a:solidFill>
                  <a:schemeClr val="bg1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规定任何使用了美国技术或设备的芯片</a:t>
            </a:r>
            <a:endParaRPr lang="zh-CN" altLang="en-US" sz="2400">
              <a:ln>
                <a:noFill/>
              </a:ln>
              <a:solidFill>
                <a:schemeClr val="bg1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  <a:p>
            <a:r>
              <a:rPr lang="zh-CN" altLang="en-US" sz="2400">
                <a:ln>
                  <a:noFill/>
                </a:ln>
                <a:solidFill>
                  <a:schemeClr val="bg1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即使在美国境外制造</a:t>
            </a:r>
            <a:endParaRPr lang="zh-CN" altLang="en-US" sz="2400">
              <a:ln>
                <a:noFill/>
              </a:ln>
              <a:solidFill>
                <a:schemeClr val="bg1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  <a:p>
            <a:r>
              <a:rPr lang="zh-CN" altLang="en-US" sz="2400">
                <a:ln>
                  <a:noFill/>
                </a:ln>
                <a:solidFill>
                  <a:schemeClr val="bg1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向华为等实体清单企业供货也须获美国许可</a:t>
            </a:r>
            <a:endParaRPr lang="zh-CN" altLang="en-US" sz="2400">
              <a:ln>
                <a:noFill/>
              </a:ln>
              <a:solidFill>
                <a:schemeClr val="bg1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  <a:p>
            <a:r>
              <a:rPr lang="zh-CN" altLang="en-US" sz="2400">
                <a:ln>
                  <a:noFill/>
                </a:ln>
                <a:solidFill>
                  <a:schemeClr val="bg1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将管制延伸至全球供应链</a:t>
            </a:r>
            <a:endParaRPr lang="zh-CN" altLang="en-US" sz="2400">
              <a:ln>
                <a:noFill/>
              </a:ln>
              <a:solidFill>
                <a:schemeClr val="bg1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20F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63220" y="1991360"/>
            <a:ext cx="71158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3600">
                <a:solidFill>
                  <a:srgbClr val="E5E4D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关税大棒</a:t>
            </a:r>
            <a:endParaRPr lang="zh-CN" altLang="en-US" sz="3600">
              <a:solidFill>
                <a:srgbClr val="E5E4D4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479030" y="1991360"/>
            <a:ext cx="71158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3600">
                <a:solidFill>
                  <a:srgbClr val="E5E4D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人才</a:t>
            </a:r>
            <a:r>
              <a:rPr lang="zh-CN" altLang="en-US" sz="3600">
                <a:solidFill>
                  <a:srgbClr val="E5E4D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限制</a:t>
            </a:r>
            <a:endParaRPr lang="zh-CN" altLang="en-US" sz="3600">
              <a:solidFill>
                <a:srgbClr val="E5E4D4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2575" y="389255"/>
            <a:ext cx="7906385" cy="1048385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p>
            <a:r>
              <a:rPr lang="zh-CN" altLang="en-US" sz="600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特朗普</a:t>
            </a:r>
            <a:r>
              <a:rPr lang="zh-CN" altLang="en-US" sz="600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政策工具</a:t>
            </a:r>
            <a:endParaRPr lang="zh-CN" altLang="en-US" sz="6000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汉仪力量黑简" panose="00020600040101010101" charset="-122"/>
              <a:ea typeface="汉仪力量黑简" panose="0002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8625" y="3429000"/>
            <a:ext cx="78359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n>
                  <a:noFill/>
                </a:ln>
                <a:solidFill>
                  <a:schemeClr val="bg1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对中国商品加征惩罚性关税</a:t>
            </a:r>
            <a:endParaRPr lang="zh-CN" altLang="en-US" sz="2400">
              <a:ln>
                <a:noFill/>
              </a:ln>
              <a:solidFill>
                <a:schemeClr val="bg1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  <a:p>
            <a:r>
              <a:rPr lang="zh-CN" altLang="en-US" sz="2400">
                <a:ln>
                  <a:noFill/>
                </a:ln>
                <a:solidFill>
                  <a:schemeClr val="bg1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施压中国让步并促使制造业回流美国</a:t>
            </a:r>
            <a:endParaRPr lang="zh-CN" altLang="en-US" sz="2400">
              <a:ln>
                <a:noFill/>
              </a:ln>
              <a:solidFill>
                <a:schemeClr val="bg1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58940" y="3429000"/>
            <a:ext cx="78359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n>
                  <a:noFill/>
                </a:ln>
                <a:solidFill>
                  <a:schemeClr val="bg1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收紧中国相关</a:t>
            </a:r>
            <a:r>
              <a:rPr lang="zh-CN" altLang="en-US" sz="2400">
                <a:ln>
                  <a:noFill/>
                </a:ln>
                <a:solidFill>
                  <a:schemeClr val="bg1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学者签证</a:t>
            </a:r>
            <a:endParaRPr lang="zh-CN" altLang="en-US" sz="2400">
              <a:ln>
                <a:noFill/>
              </a:ln>
              <a:solidFill>
                <a:schemeClr val="bg1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  <a:p>
            <a:r>
              <a:rPr lang="zh-CN" altLang="en-US" sz="2400">
                <a:ln>
                  <a:noFill/>
                </a:ln>
                <a:solidFill>
                  <a:schemeClr val="bg1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切断</a:t>
            </a:r>
            <a:r>
              <a:rPr lang="zh-CN" altLang="en-US" sz="2400">
                <a:ln>
                  <a:noFill/>
                </a:ln>
                <a:solidFill>
                  <a:schemeClr val="bg1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人才交流</a:t>
            </a:r>
            <a:endParaRPr lang="zh-CN" altLang="en-US" sz="2400">
              <a:ln>
                <a:noFill/>
              </a:ln>
              <a:solidFill>
                <a:schemeClr val="bg1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image-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2860" y="-395605"/>
            <a:ext cx="12238355" cy="764921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67970" y="2459990"/>
            <a:ext cx="10990580" cy="2050415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p>
            <a:r>
              <a:rPr lang="zh-CN" altLang="en-US" sz="660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拜登对外战略</a:t>
            </a:r>
            <a:endParaRPr lang="zh-CN" altLang="en-US" sz="6600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汉仪力量黑简" panose="00020600040101010101" charset="-122"/>
              <a:ea typeface="汉仪力量黑简" panose="00020600040101010101" charset="-122"/>
            </a:endParaRPr>
          </a:p>
          <a:p>
            <a:r>
              <a:rPr lang="zh-CN" altLang="en-US" sz="660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新冷战、</a:t>
            </a:r>
            <a:r>
              <a:rPr lang="zh-CN" altLang="en-US" sz="660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小院高墙</a:t>
            </a:r>
            <a:endParaRPr lang="zh-CN" altLang="en-US" sz="6600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汉仪力量黑简" panose="00020600040101010101" charset="-122"/>
              <a:ea typeface="汉仪力量黑简" panose="00020600040101010101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245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17170" y="2028190"/>
            <a:ext cx="42970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3600">
                <a:solidFill>
                  <a:srgbClr val="E5E4D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芯片法案</a:t>
            </a:r>
            <a:endParaRPr lang="zh-CN" altLang="en-US" sz="3600">
              <a:solidFill>
                <a:srgbClr val="E5E4D4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329805" y="2028190"/>
            <a:ext cx="42970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3600">
                <a:solidFill>
                  <a:srgbClr val="E5E4D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多边协同联盟</a:t>
            </a:r>
            <a:endParaRPr lang="zh-CN" altLang="en-US" sz="3600">
              <a:solidFill>
                <a:srgbClr val="E5E4D4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17170" y="411480"/>
            <a:ext cx="609600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600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  <a:sym typeface="+mn-ea"/>
              </a:rPr>
              <a:t>拜登政策工具</a:t>
            </a:r>
            <a:endParaRPr lang="zh-CN" altLang="en-US" sz="6000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汉仪力量黑简" panose="00020600040101010101" charset="-122"/>
              <a:ea typeface="汉仪力量黑简" panose="00020600040101010101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8625" y="3429000"/>
            <a:ext cx="78359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n>
                  <a:noFill/>
                </a:ln>
                <a:solidFill>
                  <a:schemeClr val="bg1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通过《芯片与科学法案》等法律</a:t>
            </a:r>
            <a:endParaRPr lang="zh-CN" altLang="en-US" sz="2400">
              <a:ln>
                <a:noFill/>
              </a:ln>
              <a:solidFill>
                <a:schemeClr val="bg1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  <a:p>
            <a:r>
              <a:rPr lang="zh-CN" altLang="en-US" sz="2400">
                <a:ln>
                  <a:noFill/>
                </a:ln>
                <a:solidFill>
                  <a:schemeClr val="bg1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系统化限制先进芯片</a:t>
            </a:r>
            <a:endParaRPr lang="zh-CN" altLang="en-US" sz="2400">
              <a:ln>
                <a:noFill/>
              </a:ln>
              <a:solidFill>
                <a:schemeClr val="bg1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  <a:p>
            <a:r>
              <a:rPr lang="zh-CN" altLang="en-US" sz="2400">
                <a:ln>
                  <a:noFill/>
                </a:ln>
                <a:solidFill>
                  <a:schemeClr val="bg1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制造设备</a:t>
            </a:r>
            <a:endParaRPr lang="zh-CN" altLang="en-US" sz="2400">
              <a:ln>
                <a:noFill/>
              </a:ln>
              <a:solidFill>
                <a:schemeClr val="bg1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  <a:p>
            <a:r>
              <a:rPr lang="en-US" altLang="zh-CN" sz="2400">
                <a:ln>
                  <a:noFill/>
                </a:ln>
                <a:solidFill>
                  <a:schemeClr val="bg1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EDA</a:t>
            </a:r>
            <a:r>
              <a:rPr lang="zh-CN" altLang="en-US" sz="2400">
                <a:ln>
                  <a:noFill/>
                </a:ln>
                <a:solidFill>
                  <a:schemeClr val="bg1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软件对华出口</a:t>
            </a:r>
            <a:endParaRPr lang="zh-CN" altLang="en-US" sz="2400">
              <a:ln>
                <a:noFill/>
              </a:ln>
              <a:solidFill>
                <a:schemeClr val="bg1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032625" y="3429000"/>
            <a:ext cx="78359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n>
                  <a:noFill/>
                </a:ln>
                <a:solidFill>
                  <a:schemeClr val="bg1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组建</a:t>
            </a:r>
            <a:r>
              <a:rPr lang="en-US" altLang="zh-CN" sz="2400">
                <a:ln>
                  <a:noFill/>
                </a:ln>
                <a:solidFill>
                  <a:schemeClr val="bg1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Chip 4（</a:t>
            </a:r>
            <a:r>
              <a:rPr lang="zh-CN" altLang="en-US" sz="2400">
                <a:ln>
                  <a:noFill/>
                </a:ln>
                <a:solidFill>
                  <a:schemeClr val="bg1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美日韩台）</a:t>
            </a:r>
            <a:endParaRPr lang="zh-CN" altLang="en-US" sz="2400">
              <a:ln>
                <a:noFill/>
              </a:ln>
              <a:solidFill>
                <a:schemeClr val="bg1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  <a:p>
            <a:r>
              <a:rPr lang="zh-CN" altLang="en-US" sz="2400">
                <a:ln>
                  <a:noFill/>
                </a:ln>
                <a:solidFill>
                  <a:schemeClr val="bg1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美日荷半导体设备同盟等</a:t>
            </a:r>
            <a:endParaRPr lang="zh-CN" altLang="en-US" sz="2400">
              <a:ln>
                <a:noFill/>
              </a:ln>
              <a:solidFill>
                <a:schemeClr val="bg1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245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17170" y="2028190"/>
            <a:ext cx="51816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3600">
                <a:solidFill>
                  <a:srgbClr val="E5E4D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出口管制规则和</a:t>
            </a:r>
            <a:r>
              <a:rPr lang="zh-CN" altLang="en-US" sz="3600">
                <a:solidFill>
                  <a:srgbClr val="E5E4D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立法</a:t>
            </a:r>
            <a:endParaRPr lang="zh-CN" altLang="en-US" sz="3600">
              <a:solidFill>
                <a:srgbClr val="E5E4D4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13220" y="2028190"/>
            <a:ext cx="51816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3600">
                <a:solidFill>
                  <a:srgbClr val="E5E4D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《AI</a:t>
            </a:r>
            <a:r>
              <a:rPr lang="zh-CN" altLang="en-US" sz="3600">
                <a:solidFill>
                  <a:srgbClr val="E5E4D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扩散框架规则》</a:t>
            </a:r>
            <a:endParaRPr lang="zh-CN" altLang="en-US" sz="3600">
              <a:solidFill>
                <a:srgbClr val="E5E4D4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17170" y="411480"/>
            <a:ext cx="609600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600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  <a:sym typeface="+mn-ea"/>
              </a:rPr>
              <a:t>拜登政策工具</a:t>
            </a:r>
            <a:endParaRPr lang="zh-CN" altLang="en-US" sz="6000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汉仪力量黑简" panose="00020600040101010101" charset="-122"/>
              <a:ea typeface="汉仪力量黑简" panose="00020600040101010101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905625" y="3429000"/>
            <a:ext cx="78359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n>
                  <a:noFill/>
                </a:ln>
                <a:solidFill>
                  <a:schemeClr val="bg1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首次将</a:t>
            </a:r>
            <a:r>
              <a:rPr lang="en-US" altLang="zh-CN" sz="2400">
                <a:ln>
                  <a:noFill/>
                </a:ln>
                <a:solidFill>
                  <a:schemeClr val="bg1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AI</a:t>
            </a:r>
            <a:r>
              <a:rPr lang="zh-CN" altLang="en-US" sz="2400">
                <a:ln>
                  <a:noFill/>
                </a:ln>
                <a:solidFill>
                  <a:schemeClr val="bg1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模型权重（参数）</a:t>
            </a:r>
            <a:endParaRPr lang="zh-CN" altLang="en-US" sz="2400">
              <a:ln>
                <a:noFill/>
              </a:ln>
              <a:solidFill>
                <a:schemeClr val="bg1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  <a:p>
            <a:r>
              <a:rPr lang="zh-CN" altLang="en-US" sz="2400">
                <a:ln>
                  <a:noFill/>
                </a:ln>
                <a:solidFill>
                  <a:schemeClr val="bg1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纳入出口管制</a:t>
            </a:r>
            <a:endParaRPr lang="zh-CN" altLang="en-US" sz="2400">
              <a:ln>
                <a:noFill/>
              </a:ln>
              <a:solidFill>
                <a:schemeClr val="bg1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  <a:p>
            <a:r>
              <a:rPr lang="zh-CN" altLang="en-US" sz="2400">
                <a:ln>
                  <a:noFill/>
                </a:ln>
                <a:solidFill>
                  <a:schemeClr val="bg1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限制强大开源模型的全球传播</a:t>
            </a:r>
            <a:endParaRPr lang="zh-CN" altLang="en-US" sz="2400">
              <a:ln>
                <a:noFill/>
              </a:ln>
              <a:solidFill>
                <a:schemeClr val="bg1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17170" y="3556000"/>
            <a:ext cx="78359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n>
                  <a:noFill/>
                </a:ln>
                <a:solidFill>
                  <a:schemeClr val="bg1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禁止美国资本投资</a:t>
            </a:r>
            <a:endParaRPr lang="zh-CN" altLang="en-US" sz="2400">
              <a:ln>
                <a:noFill/>
              </a:ln>
              <a:solidFill>
                <a:schemeClr val="bg1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  <a:p>
            <a:r>
              <a:rPr lang="zh-CN" altLang="en-US" sz="2400">
                <a:ln>
                  <a:noFill/>
                </a:ln>
                <a:solidFill>
                  <a:schemeClr val="bg1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中国半导体、</a:t>
            </a:r>
            <a:r>
              <a:rPr lang="en-US" altLang="zh-CN" sz="2400">
                <a:ln>
                  <a:noFill/>
                </a:ln>
                <a:solidFill>
                  <a:schemeClr val="bg1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AI、</a:t>
            </a:r>
            <a:r>
              <a:rPr lang="zh-CN" altLang="en-US" sz="2400">
                <a:ln>
                  <a:noFill/>
                </a:ln>
                <a:solidFill>
                  <a:schemeClr val="bg1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量子计算等领域</a:t>
            </a:r>
            <a:endParaRPr lang="zh-CN" altLang="en-US" sz="2400">
              <a:ln>
                <a:noFill/>
              </a:ln>
              <a:solidFill>
                <a:schemeClr val="bg1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  <a:p>
            <a:r>
              <a:rPr lang="zh-CN" altLang="en-US" sz="2400">
                <a:ln>
                  <a:noFill/>
                </a:ln>
                <a:solidFill>
                  <a:schemeClr val="bg1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切断技术创新的资金与人才网络</a:t>
            </a:r>
            <a:endParaRPr lang="zh-CN" altLang="en-US" sz="2400">
              <a:ln>
                <a:noFill/>
              </a:ln>
              <a:solidFill>
                <a:schemeClr val="bg1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技术中立破灭后美国制裁中国的质感优化图生成 (1)"/>
          <p:cNvPicPr>
            <a:picLocks noChangeAspect="1"/>
          </p:cNvPicPr>
          <p:nvPr/>
        </p:nvPicPr>
        <p:blipFill>
          <a:blip r:embed="rId1"/>
          <a:srcRect b="5808"/>
          <a:stretch>
            <a:fillRect/>
          </a:stretch>
        </p:blipFill>
        <p:spPr>
          <a:xfrm>
            <a:off x="-375920" y="3175"/>
            <a:ext cx="12943205" cy="6854825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2554605" y="1554480"/>
            <a:ext cx="6899910" cy="3977005"/>
          </a:xfrm>
          <a:prstGeom prst="roundRect">
            <a:avLst/>
          </a:prstGeom>
          <a:solidFill>
            <a:schemeClr val="bg1">
              <a:alpha val="41000"/>
            </a:schemeClr>
          </a:solidFill>
          <a:ln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glow rad="139700">
              <a:srgbClr val="FFFEF4">
                <a:alpha val="46000"/>
              </a:srgbClr>
            </a:glow>
            <a:softEdge rad="127000"/>
          </a:effectLst>
          <a:scene3d>
            <a:camera prst="orthographicFront"/>
            <a:lightRig rig="threePt" dir="t"/>
          </a:scene3d>
          <a:sp3d prstMaterial="clear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40810" y="2613660"/>
            <a:ext cx="10170160" cy="163449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p>
            <a:endParaRPr lang="zh-CN" altLang="en-US" sz="6000">
              <a:solidFill>
                <a:srgbClr val="7030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汉仪力量黑简" panose="00020600040101010101" charset="-122"/>
              <a:ea typeface="汉仪力量黑简" panose="0002060004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99665" y="2508250"/>
            <a:ext cx="10170160" cy="163449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p>
            <a:r>
              <a:rPr lang="zh-CN" altLang="en-US" sz="13800">
                <a:ln w="0">
                  <a:solidFill>
                    <a:schemeClr val="bg1"/>
                  </a:solidFill>
                </a:ln>
                <a:gradFill>
                  <a:gsLst>
                    <a:gs pos="0">
                      <a:srgbClr val="434CFF"/>
                    </a:gs>
                    <a:gs pos="17000">
                      <a:schemeClr val="bg1"/>
                    </a:gs>
                    <a:gs pos="43000">
                      <a:srgbClr val="FF0000"/>
                    </a:gs>
                  </a:gsLst>
                  <a:lin ang="0" scaled="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俄</a:t>
            </a:r>
            <a:r>
              <a:rPr lang="zh-CN" altLang="en-US" sz="13800">
                <a:ln w="0">
                  <a:solidFill>
                    <a:schemeClr val="bg1"/>
                  </a:solidFill>
                </a:ln>
                <a:gradFill>
                  <a:gsLst>
                    <a:gs pos="31000">
                      <a:srgbClr val="434CFF"/>
                    </a:gs>
                    <a:gs pos="83000">
                      <a:srgbClr val="D3A707"/>
                    </a:gs>
                  </a:gsLst>
                  <a:lin ang="5400000" scaled="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乌</a:t>
            </a:r>
            <a:r>
              <a:rPr lang="zh-CN" altLang="en-US" sz="13800">
                <a:ln w="0">
                  <a:solidFill>
                    <a:schemeClr val="bg1"/>
                  </a:solidFill>
                </a:ln>
                <a:solidFill>
                  <a:srgbClr val="C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战争</a:t>
            </a:r>
            <a:endParaRPr lang="zh-CN" altLang="en-US" sz="13800">
              <a:ln w="0">
                <a:solidFill>
                  <a:schemeClr val="bg1"/>
                </a:solidFill>
              </a:ln>
              <a:solidFill>
                <a:srgbClr val="C0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汉仪力量黑简" panose="00020600040101010101" charset="-122"/>
              <a:ea typeface="汉仪力量黑简" panose="00020600040101010101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40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82575" y="389255"/>
            <a:ext cx="12009755" cy="1048385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p>
            <a:r>
              <a:rPr lang="zh-CN" altLang="en-US" sz="480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首次</a:t>
            </a:r>
            <a:r>
              <a:rPr lang="zh-CN" altLang="en-US" sz="480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规模化的</a:t>
            </a:r>
            <a:r>
              <a:rPr lang="zh-CN" altLang="en-US" sz="480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、</a:t>
            </a:r>
            <a:r>
              <a:rPr lang="zh-CN" altLang="en-US" sz="480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彻底的</a:t>
            </a:r>
            <a:r>
              <a:rPr lang="zh-CN" altLang="en-US" sz="480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、开源社区</a:t>
            </a:r>
            <a:r>
              <a:rPr lang="zh-CN" altLang="en-US" sz="480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政治事件</a:t>
            </a:r>
            <a:endParaRPr lang="zh-CN" altLang="en-US" sz="4800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汉仪力量黑简" panose="00020600040101010101" charset="-122"/>
              <a:ea typeface="汉仪力量黑简" panose="0002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7170" y="2028190"/>
            <a:ext cx="1080833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3600">
                <a:solidFill>
                  <a:srgbClr val="E5E4D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此前开源世界默认：代码是自由的，社区是跨国的，许可证保护着中立的协作。但俄乌战争后，再也没人能天真地说</a:t>
            </a:r>
            <a:r>
              <a:rPr lang="zh-CN" altLang="en-US" sz="3600"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“开源不掺和政治”</a:t>
            </a:r>
            <a:r>
              <a:rPr lang="zh-CN" altLang="en-US" sz="3600">
                <a:solidFill>
                  <a:srgbClr val="E5E4D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了。</a:t>
            </a:r>
            <a:endParaRPr lang="zh-CN" altLang="en-US" sz="3600">
              <a:solidFill>
                <a:srgbClr val="E5E4D4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  <a:p>
            <a:pPr algn="l"/>
            <a:endParaRPr lang="zh-CN" altLang="en-US" sz="3600">
              <a:solidFill>
                <a:srgbClr val="E5E4D4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  <a:p>
            <a:pPr algn="l"/>
            <a:r>
              <a:rPr lang="zh-CN" altLang="en-US" sz="3600">
                <a:solidFill>
                  <a:srgbClr val="E5E4D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正如</a:t>
            </a:r>
            <a:r>
              <a:rPr lang="en-US" altLang="zh-CN" sz="3600">
                <a:solidFill>
                  <a:srgbClr val="E5E4D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TechTarget</a:t>
            </a:r>
            <a:r>
              <a:rPr lang="zh-CN" altLang="en-US" sz="3600">
                <a:solidFill>
                  <a:srgbClr val="E5E4D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在报道事件时所说：“如果这能发生在俄罗斯人身上，</a:t>
            </a:r>
            <a:r>
              <a:rPr lang="zh-CN" altLang="en-US" sz="3600"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也能发生在你身上</a:t>
            </a:r>
            <a:r>
              <a:rPr lang="zh-CN" altLang="en-US" sz="3600">
                <a:solidFill>
                  <a:srgbClr val="E5E4D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。”</a:t>
            </a:r>
            <a:endParaRPr lang="zh-CN" altLang="en-US" sz="3600">
              <a:solidFill>
                <a:srgbClr val="E5E4D4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技术中立破灭后美国制裁中国的质感优化图生成 (2)"/>
          <p:cNvPicPr>
            <a:picLocks noChangeAspect="1"/>
          </p:cNvPicPr>
          <p:nvPr/>
        </p:nvPicPr>
        <p:blipFill>
          <a:blip r:embed="rId1"/>
          <a:srcRect b="6410"/>
          <a:stretch>
            <a:fillRect/>
          </a:stretch>
        </p:blipFill>
        <p:spPr>
          <a:xfrm>
            <a:off x="-429260" y="635"/>
            <a:ext cx="13049885" cy="6857365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2554605" y="1554480"/>
            <a:ext cx="6899910" cy="3977005"/>
          </a:xfrm>
          <a:prstGeom prst="roundRect">
            <a:avLst/>
          </a:prstGeom>
          <a:solidFill>
            <a:schemeClr val="bg1">
              <a:alpha val="41000"/>
            </a:schemeClr>
          </a:solidFill>
          <a:ln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glow rad="139700">
              <a:srgbClr val="FFFEF4">
                <a:alpha val="46000"/>
              </a:srgbClr>
            </a:glow>
            <a:softEdge rad="127000"/>
          </a:effectLst>
          <a:scene3d>
            <a:camera prst="orthographicFront"/>
            <a:lightRig rig="threePt" dir="t"/>
          </a:scene3d>
          <a:sp3d prstMaterial="clear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99665" y="2508250"/>
            <a:ext cx="10170160" cy="163449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p>
            <a:r>
              <a:rPr lang="zh-CN" altLang="en-US" sz="13800">
                <a:ln>
                  <a:solidFill>
                    <a:schemeClr val="bg2"/>
                  </a:solidFill>
                </a:ln>
                <a:gradFill>
                  <a:gsLst>
                    <a:gs pos="0">
                      <a:srgbClr val="FFFF00"/>
                    </a:gs>
                    <a:gs pos="31000">
                      <a:srgbClr val="014C96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欧盟</a:t>
            </a:r>
            <a:r>
              <a:rPr lang="zh-CN" altLang="en-US" sz="13800">
                <a:ln>
                  <a:solidFill>
                    <a:schemeClr val="bg2"/>
                  </a:solidFill>
                </a:ln>
                <a:solidFill>
                  <a:srgbClr val="024D9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战略</a:t>
            </a:r>
            <a:endParaRPr lang="zh-CN" altLang="en-US" sz="13800">
              <a:ln>
                <a:solidFill>
                  <a:schemeClr val="bg2"/>
                </a:solidFill>
              </a:ln>
              <a:solidFill>
                <a:srgbClr val="024D9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汉仪力量黑简" panose="00020600040101010101" charset="-122"/>
              <a:ea typeface="汉仪力量黑简" panose="00020600040101010101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 descr="技术中立破灭后美国制裁中国的质感优化图生成 (3)"/>
          <p:cNvPicPr>
            <a:picLocks noChangeAspect="1"/>
          </p:cNvPicPr>
          <p:nvPr/>
        </p:nvPicPr>
        <p:blipFill>
          <a:blip r:embed="rId1"/>
          <a:srcRect t="6030" b="6503"/>
          <a:stretch>
            <a:fillRect/>
          </a:stretch>
        </p:blipFill>
        <p:spPr>
          <a:xfrm>
            <a:off x="-885190" y="635"/>
            <a:ext cx="13962380" cy="685736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47370" y="215900"/>
            <a:ext cx="8750935" cy="1718310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>
                <a:alpha val="100000"/>
              </a:schemeClr>
            </a:outerShdw>
          </a:effectLst>
        </p:spPr>
        <p:txBody>
          <a:bodyPr wrap="square" rtlCol="0">
            <a:noAutofit/>
          </a:bodyPr>
          <a:p>
            <a:pPr lvl="5" algn="ctr"/>
            <a:r>
              <a:rPr lang="zh-CN" altLang="en-US" sz="4400">
                <a:solidFill>
                  <a:srgbClr val="E5E4D4"/>
                </a:solidFill>
                <a:latin typeface="汉仪力量黑简" panose="00020600040101010101" charset="-122"/>
                <a:ea typeface="汉仪力量黑简" panose="00020600040101010101" charset="-122"/>
              </a:rPr>
              <a:t>欧洲独立数字空间</a:t>
            </a:r>
            <a:endParaRPr lang="zh-CN" altLang="en-US" sz="4400">
              <a:solidFill>
                <a:srgbClr val="E5E4D4"/>
              </a:solidFill>
              <a:latin typeface="汉仪力量黑简" panose="00020600040101010101" charset="-122"/>
              <a:ea typeface="汉仪力量黑简" panose="00020600040101010101" charset="-122"/>
            </a:endParaRPr>
          </a:p>
          <a:p>
            <a:pPr lvl="5" algn="ctr"/>
            <a:r>
              <a:rPr lang="zh-CN" altLang="en-US" sz="4400">
                <a:solidFill>
                  <a:srgbClr val="8BB8D7"/>
                </a:solidFill>
                <a:latin typeface="汉仪力量黑简" panose="00020600040101010101" charset="-122"/>
                <a:ea typeface="汉仪力量黑简" panose="00020600040101010101" charset="-122"/>
              </a:rPr>
              <a:t>三层武器库</a:t>
            </a:r>
            <a:endParaRPr lang="zh-CN" altLang="en-US" sz="4400">
              <a:solidFill>
                <a:srgbClr val="8BB8D7"/>
              </a:solidFill>
              <a:latin typeface="汉仪力量黑简" panose="00020600040101010101" charset="-122"/>
              <a:ea typeface="汉仪力量黑简" panose="00020600040101010101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947160" y="5272405"/>
            <a:ext cx="42970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600">
                <a:solidFill>
                  <a:srgbClr val="E5E4D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规则和立法</a:t>
            </a:r>
            <a:endParaRPr lang="zh-CN" altLang="en-US" sz="3600">
              <a:solidFill>
                <a:srgbClr val="E5E4D4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074160" y="4058285"/>
            <a:ext cx="42970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600">
                <a:solidFill>
                  <a:srgbClr val="E5E4D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扶持本土技术生态</a:t>
            </a:r>
            <a:endParaRPr lang="zh-CN" altLang="en-US" sz="3600">
              <a:solidFill>
                <a:srgbClr val="E5E4D4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947160" y="2673350"/>
            <a:ext cx="42970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600">
                <a:solidFill>
                  <a:srgbClr val="E5E4D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商业生态</a:t>
            </a:r>
            <a:endParaRPr lang="zh-CN" altLang="en-US" sz="3600">
              <a:solidFill>
                <a:srgbClr val="E5E4D4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43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文本框 23"/>
          <p:cNvSpPr txBox="1"/>
          <p:nvPr/>
        </p:nvSpPr>
        <p:spPr>
          <a:xfrm>
            <a:off x="2019935" y="1998345"/>
            <a:ext cx="815276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600">
                <a:solidFill>
                  <a:srgbClr val="E5E4D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设立</a:t>
            </a:r>
            <a:r>
              <a:rPr lang="en-US" altLang="zh-CN" sz="3600">
                <a:solidFill>
                  <a:srgbClr val="E5E4D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EU-FOSSA</a:t>
            </a:r>
            <a:r>
              <a:rPr lang="zh-CN" altLang="en-US" sz="3600">
                <a:solidFill>
                  <a:srgbClr val="E5E4D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项目</a:t>
            </a:r>
            <a:endParaRPr lang="zh-CN" altLang="en-US" sz="3600">
              <a:solidFill>
                <a:srgbClr val="E5E4D4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  <a:p>
            <a:pPr algn="ctr"/>
            <a:r>
              <a:rPr lang="zh-CN" altLang="en-US" sz="3600">
                <a:solidFill>
                  <a:srgbClr val="E5E4D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定期审计关键开源组件</a:t>
            </a:r>
            <a:endParaRPr lang="zh-CN" altLang="en-US" sz="3600">
              <a:solidFill>
                <a:srgbClr val="E5E4D4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  <a:p>
            <a:pPr algn="ctr"/>
            <a:r>
              <a:rPr lang="zh-CN" altLang="en-US" sz="3600">
                <a:solidFill>
                  <a:srgbClr val="E5E4D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（如</a:t>
            </a:r>
            <a:r>
              <a:rPr lang="en-US" altLang="zh-CN" sz="3600">
                <a:solidFill>
                  <a:srgbClr val="E5E4D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Apache、Nginx）</a:t>
            </a:r>
            <a:endParaRPr lang="en-US" altLang="zh-CN" sz="3600">
              <a:solidFill>
                <a:srgbClr val="E5E4D4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  <a:p>
            <a:pPr algn="ctr"/>
            <a:r>
              <a:rPr lang="zh-CN" altLang="en-US" sz="3600">
                <a:solidFill>
                  <a:srgbClr val="E5E4D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安全漏洞</a:t>
            </a:r>
            <a:endParaRPr lang="zh-CN" altLang="en-US" sz="3600">
              <a:solidFill>
                <a:srgbClr val="E5E4D4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  <a:p>
            <a:pPr algn="ctr"/>
            <a:r>
              <a:rPr lang="zh-CN" altLang="en-US" sz="3600">
                <a:solidFill>
                  <a:srgbClr val="E5E4D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并设立漏洞赏金计划</a:t>
            </a:r>
            <a:endParaRPr lang="zh-CN" altLang="en-US" sz="3600">
              <a:solidFill>
                <a:srgbClr val="E5E4D4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-132080" y="542925"/>
            <a:ext cx="10005060" cy="971550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>
                <a:alpha val="100000"/>
              </a:schemeClr>
            </a:outerShdw>
          </a:effectLst>
        </p:spPr>
        <p:txBody>
          <a:bodyPr wrap="square" rtlCol="0">
            <a:noAutofit/>
          </a:bodyPr>
          <a:p>
            <a:pPr lvl="5" algn="ctr"/>
            <a:r>
              <a:rPr lang="zh-CN" altLang="en-US" sz="4400">
                <a:solidFill>
                  <a:srgbClr val="E5E4D4"/>
                </a:solidFill>
                <a:latin typeface="汉仪力量黑简" panose="00020600040101010101" charset="-122"/>
                <a:ea typeface="汉仪力量黑简" panose="00020600040101010101" charset="-122"/>
              </a:rPr>
              <a:t>欧盟的</a:t>
            </a:r>
            <a:r>
              <a:rPr lang="en-US" altLang="zh-CN" sz="4400">
                <a:solidFill>
                  <a:srgbClr val="E5E4D4"/>
                </a:solidFill>
                <a:latin typeface="汉仪力量黑简" panose="00020600040101010101" charset="-122"/>
                <a:ea typeface="汉仪力量黑简" panose="00020600040101010101" charset="-122"/>
              </a:rPr>
              <a:t>“</a:t>
            </a:r>
            <a:r>
              <a:rPr lang="zh-CN" altLang="en-US" sz="4400">
                <a:solidFill>
                  <a:srgbClr val="E5E4D4"/>
                </a:solidFill>
                <a:latin typeface="汉仪力量黑简" panose="00020600040101010101" charset="-122"/>
                <a:ea typeface="汉仪力量黑简" panose="00020600040101010101" charset="-122"/>
              </a:rPr>
              <a:t>安全守夜人</a:t>
            </a:r>
            <a:r>
              <a:rPr lang="en-US" altLang="zh-CN" sz="4400">
                <a:solidFill>
                  <a:srgbClr val="E5E4D4"/>
                </a:solidFill>
                <a:latin typeface="汉仪力量黑简" panose="00020600040101010101" charset="-122"/>
                <a:ea typeface="汉仪力量黑简" panose="00020600040101010101" charset="-122"/>
              </a:rPr>
              <a:t>”</a:t>
            </a:r>
            <a:r>
              <a:rPr lang="zh-CN" altLang="en-US" sz="4400">
                <a:solidFill>
                  <a:srgbClr val="E5E4D4"/>
                </a:solidFill>
                <a:latin typeface="汉仪力量黑简" panose="00020600040101010101" charset="-122"/>
                <a:ea typeface="汉仪力量黑简" panose="00020600040101010101" charset="-122"/>
              </a:rPr>
              <a:t>特色</a:t>
            </a:r>
            <a:endParaRPr lang="zh-CN" altLang="en-US" sz="4400">
              <a:solidFill>
                <a:srgbClr val="E5E4D4"/>
              </a:solidFill>
              <a:latin typeface="汉仪力量黑简" panose="00020600040101010101" charset="-122"/>
              <a:ea typeface="汉仪力量黑简" panose="00020600040101010101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生成油画质感世界地图重整分裂图 (3)"/>
          <p:cNvPicPr>
            <a:picLocks noChangeAspect="1"/>
          </p:cNvPicPr>
          <p:nvPr/>
        </p:nvPicPr>
        <p:blipFill>
          <a:blip r:embed="rId1"/>
          <a:srcRect b="7143"/>
          <a:stretch>
            <a:fillRect/>
          </a:stretch>
        </p:blipFill>
        <p:spPr>
          <a:xfrm>
            <a:off x="0" y="6350"/>
            <a:ext cx="13140690" cy="6851015"/>
          </a:xfrm>
          <a:prstGeom prst="rect">
            <a:avLst/>
          </a:prstGeom>
        </p:spPr>
      </p:pic>
      <p:pic>
        <p:nvPicPr>
          <p:cNvPr id="4" name="图片 3" descr="生成油画质感世界地图重整分裂图 (1)"/>
          <p:cNvPicPr>
            <a:picLocks noChangeAspect="1"/>
          </p:cNvPicPr>
          <p:nvPr/>
        </p:nvPicPr>
        <p:blipFill>
          <a:blip r:embed="rId2"/>
          <a:srcRect b="6048"/>
          <a:stretch>
            <a:fillRect/>
          </a:stretch>
        </p:blipFill>
        <p:spPr>
          <a:xfrm>
            <a:off x="-1133475" y="-402590"/>
            <a:ext cx="13763625" cy="726059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97815" y="845185"/>
            <a:ext cx="11768455" cy="6317615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3600">
                <a:latin typeface="汉仪力量黑简" panose="00020600040101010101" charset="-122"/>
                <a:ea typeface="汉仪力量黑简" panose="00020600040101010101" charset="-122"/>
                <a:cs typeface="汉仪力量黑简" panose="00020600040101010101" charset="-122"/>
              </a:rPr>
              <a:t>未来的开源图景，不会是“一个公地”。</a:t>
            </a:r>
            <a:endParaRPr lang="zh-CN" altLang="en-US" sz="3600">
              <a:latin typeface="汉仪力量黑简" panose="00020600040101010101" charset="-122"/>
              <a:ea typeface="汉仪力量黑简" panose="00020600040101010101" charset="-122"/>
              <a:cs typeface="汉仪力量黑简" panose="00020600040101010101" charset="-122"/>
            </a:endParaRPr>
          </a:p>
          <a:p>
            <a:endParaRPr lang="zh-CN" altLang="en-US" sz="3600">
              <a:latin typeface="汉仪力量黑简" panose="00020600040101010101" charset="-122"/>
              <a:ea typeface="汉仪力量黑简" panose="00020600040101010101" charset="-122"/>
              <a:cs typeface="汉仪力量黑简" panose="00020600040101010101" charset="-122"/>
            </a:endParaRPr>
          </a:p>
          <a:p>
            <a:r>
              <a:rPr lang="zh-CN" altLang="en-US" sz="3600">
                <a:latin typeface="汉仪力量黑简" panose="00020600040101010101" charset="-122"/>
                <a:ea typeface="汉仪力量黑简" panose="00020600040101010101" charset="-122"/>
                <a:cs typeface="汉仪力量黑简" panose="00020600040101010101" charset="-122"/>
              </a:rPr>
              <a:t>而是 多个公地通过标准、协议与信任机制互联。</a:t>
            </a:r>
            <a:endParaRPr lang="zh-CN" altLang="en-US" sz="3600">
              <a:latin typeface="汉仪力量黑简" panose="00020600040101010101" charset="-122"/>
              <a:ea typeface="汉仪力量黑简" panose="00020600040101010101" charset="-122"/>
              <a:cs typeface="汉仪力量黑简" panose="00020600040101010101" charset="-122"/>
            </a:endParaRPr>
          </a:p>
          <a:p>
            <a:endParaRPr lang="zh-CN" altLang="en-US" sz="3600">
              <a:latin typeface="汉仪力量黑简" panose="00020600040101010101" charset="-122"/>
              <a:ea typeface="汉仪力量黑简" panose="00020600040101010101" charset="-122"/>
              <a:cs typeface="汉仪力量黑简" panose="00020600040101010101" charset="-122"/>
            </a:endParaRPr>
          </a:p>
          <a:p>
            <a:r>
              <a:rPr lang="zh-CN" altLang="en-US" sz="3600">
                <a:latin typeface="汉仪力量黑简" panose="00020600040101010101" charset="-122"/>
                <a:ea typeface="汉仪力量黑简" panose="00020600040101010101" charset="-122"/>
                <a:cs typeface="汉仪力量黑简" panose="00020600040101010101" charset="-122"/>
              </a:rPr>
              <a:t>多极化不是分裂的代名词，</a:t>
            </a:r>
            <a:endParaRPr lang="zh-CN" altLang="en-US" sz="3600">
              <a:latin typeface="汉仪力量黑简" panose="00020600040101010101" charset="-122"/>
              <a:ea typeface="汉仪力量黑简" panose="00020600040101010101" charset="-122"/>
              <a:cs typeface="汉仪力量黑简" panose="00020600040101010101" charset="-122"/>
            </a:endParaRPr>
          </a:p>
          <a:p>
            <a:endParaRPr lang="zh-CN" altLang="en-US" sz="3600">
              <a:latin typeface="汉仪力量黑简" panose="00020600040101010101" charset="-122"/>
              <a:ea typeface="汉仪力量黑简" panose="00020600040101010101" charset="-122"/>
              <a:cs typeface="汉仪力量黑简" panose="00020600040101010101" charset="-122"/>
            </a:endParaRPr>
          </a:p>
          <a:p>
            <a:r>
              <a:rPr lang="zh-CN" altLang="en-US" sz="3600">
                <a:latin typeface="汉仪力量黑简" panose="00020600040101010101" charset="-122"/>
                <a:ea typeface="汉仪力量黑简" panose="00020600040101010101" charset="-122"/>
                <a:cs typeface="汉仪力量黑简" panose="00020600040101010101" charset="-122"/>
              </a:rPr>
              <a:t>而是全球技术治理</a:t>
            </a:r>
            <a:endParaRPr lang="zh-CN" altLang="en-US" sz="3600">
              <a:latin typeface="汉仪力量黑简" panose="00020600040101010101" charset="-122"/>
              <a:ea typeface="汉仪力量黑简" panose="00020600040101010101" charset="-122"/>
              <a:cs typeface="汉仪力量黑简" panose="00020600040101010101" charset="-122"/>
            </a:endParaRPr>
          </a:p>
          <a:p>
            <a:r>
              <a:rPr lang="zh-CN" altLang="en-US" sz="3600">
                <a:latin typeface="汉仪力量黑简" panose="00020600040101010101" charset="-122"/>
                <a:ea typeface="汉仪力量黑简" panose="00020600040101010101" charset="-122"/>
                <a:cs typeface="汉仪力量黑简" panose="00020600040101010101" charset="-122"/>
              </a:rPr>
              <a:t>从“霸权稳定”走向“多元共治”的必经之路。</a:t>
            </a:r>
            <a:endParaRPr lang="zh-CN" altLang="en-US" sz="3600">
              <a:latin typeface="汉仪力量黑简" panose="00020600040101010101" charset="-122"/>
              <a:ea typeface="汉仪力量黑简" panose="00020600040101010101" charset="-122"/>
              <a:cs typeface="汉仪力量黑简" panose="00020600040101010101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油画风格斯诺登大头照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93775" y="0"/>
            <a:ext cx="13185775" cy="7413625"/>
          </a:xfrm>
          <a:prstGeom prst="rect">
            <a:avLst/>
          </a:prstGeom>
        </p:spPr>
      </p:pic>
      <p:pic>
        <p:nvPicPr>
          <p:cNvPr id="2" name="图片 1" descr="生成乌合麒麟风格历史剪影油画 (2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15887" b="7865"/>
          <a:stretch>
            <a:fillRect/>
          </a:stretch>
        </p:blipFill>
        <p:spPr>
          <a:xfrm>
            <a:off x="0" y="0"/>
            <a:ext cx="12192000" cy="522668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文本框 3"/>
          <p:cNvSpPr txBox="1"/>
          <p:nvPr/>
        </p:nvSpPr>
        <p:spPr>
          <a:xfrm>
            <a:off x="1772285" y="5226685"/>
            <a:ext cx="11633835" cy="156845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r>
              <a:rPr lang="zh-CN" altLang="en-US" sz="9600"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开源</a:t>
            </a:r>
            <a:r>
              <a:rPr lang="zh-CN" altLang="en-US" sz="960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与</a:t>
            </a:r>
            <a:r>
              <a:rPr lang="zh-CN" altLang="en-US" sz="9600">
                <a:solidFill>
                  <a:srgbClr val="93471D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数字鸿沟</a:t>
            </a:r>
            <a:endParaRPr lang="zh-CN" altLang="en-US" sz="9600">
              <a:solidFill>
                <a:srgbClr val="93471D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汉仪力量黑简" panose="00020600040101010101" charset="-122"/>
              <a:ea typeface="汉仪力量黑简" panose="00020600040101010101" charset="-122"/>
            </a:endParaRPr>
          </a:p>
        </p:txBody>
      </p:sp>
      <p:pic>
        <p:nvPicPr>
          <p:cNvPr id="18" name="图形 17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4565" y="6260377"/>
            <a:ext cx="2825913" cy="59734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9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" name="图片 3" descr="技术中立破灭后美国制裁中国的质感优化图生成 (7)"/>
          <p:cNvPicPr>
            <a:picLocks noChangeAspect="1"/>
          </p:cNvPicPr>
          <p:nvPr/>
        </p:nvPicPr>
        <p:blipFill>
          <a:blip r:embed="rId1"/>
          <a:srcRect b="5892"/>
          <a:stretch>
            <a:fillRect/>
          </a:stretch>
        </p:blipFill>
        <p:spPr>
          <a:xfrm>
            <a:off x="-761365" y="-399415"/>
            <a:ext cx="13714730" cy="7256780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2565400" y="1554480"/>
            <a:ext cx="6899910" cy="3977005"/>
          </a:xfrm>
          <a:prstGeom prst="roundRect">
            <a:avLst/>
          </a:prstGeom>
          <a:solidFill>
            <a:schemeClr val="bg1">
              <a:alpha val="41000"/>
            </a:schemeClr>
          </a:solidFill>
          <a:ln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glow rad="139700">
              <a:srgbClr val="FFFEF4">
                <a:alpha val="46000"/>
              </a:srgbClr>
            </a:glow>
            <a:softEdge rad="127000"/>
          </a:effectLst>
          <a:scene3d>
            <a:camera prst="orthographicFront"/>
            <a:lightRig rig="threePt" dir="t"/>
          </a:scene3d>
          <a:sp3d prstMaterial="clear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99665" y="2508250"/>
            <a:ext cx="10170160" cy="163449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p>
            <a:r>
              <a:rPr lang="zh-CN" altLang="en-US" sz="13800">
                <a:ln>
                  <a:solidFill>
                    <a:schemeClr val="accent4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关于</a:t>
            </a:r>
            <a:r>
              <a:rPr lang="zh-CN" altLang="en-US" sz="13800">
                <a:ln>
                  <a:solidFill>
                    <a:schemeClr val="accent4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非洲</a:t>
            </a:r>
            <a:endParaRPr lang="zh-CN" altLang="en-US" sz="13800">
              <a:ln>
                <a:solidFill>
                  <a:schemeClr val="bg2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汉仪力量黑简" panose="00020600040101010101" charset="-122"/>
              <a:ea typeface="汉仪力量黑简" panose="00020600040101010101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7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4294967295"/>
            <p:custDataLst>
              <p:tags r:id="rId4"/>
            </p:custDataLst>
          </p:nvPr>
        </p:nvSpPr>
        <p:spPr>
          <a:xfrm>
            <a:off x="12242800" y="0"/>
            <a:ext cx="3251200" cy="1334135"/>
          </a:xfrm>
        </p:spPr>
        <p:txBody>
          <a:bodyPr>
            <a:noAutofit/>
          </a:bodyPr>
          <a:p>
            <a:r>
              <a:rPr lang="en-US" altLang="zh-CN"/>
              <a:t>22</a:t>
            </a:r>
            <a:r>
              <a:rPr lang="zh-CN" altLang="en-US"/>
              <a:t>%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4294967295"/>
            <p:custDataLst>
              <p:tags r:id="rId5"/>
            </p:custDataLst>
          </p:nvPr>
        </p:nvSpPr>
        <p:spPr>
          <a:xfrm>
            <a:off x="12242800" y="1334135"/>
            <a:ext cx="3251200" cy="406400"/>
          </a:xfrm>
        </p:spPr>
        <p:txBody>
          <a:bodyPr>
            <a:noAutofit/>
          </a:bodyPr>
          <a:p>
            <a:r>
              <a:rPr lang="en-US" altLang="zh-CN"/>
              <a:t>3G</a:t>
            </a:r>
            <a:r>
              <a:rPr lang="zh-CN" altLang="en-US"/>
              <a:t>使用率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6"/>
            </p:custDataLst>
          </p:nvPr>
        </p:nvSpPr>
        <p:spPr>
          <a:xfrm>
            <a:off x="1381125" y="5541645"/>
            <a:ext cx="1911350" cy="304800"/>
          </a:xfrm>
        </p:spPr>
        <p:txBody>
          <a:bodyPr>
            <a:noAutofit/>
          </a:bodyPr>
          <a:p>
            <a:r>
              <a:rPr lang="zh-CN" altLang="en-US">
                <a:latin typeface="汉仪力量黑简" panose="00020600040101010101" charset="-122"/>
                <a:ea typeface="汉仪力量黑简" panose="00020600040101010101" charset="-122"/>
              </a:rPr>
              <a:t>智能终端覆盖率低</a:t>
            </a:r>
            <a:endParaRPr lang="zh-CN" altLang="en-US">
              <a:latin typeface="汉仪力量黑简" panose="00020600040101010101" charset="-122"/>
              <a:ea typeface="汉仪力量黑简" panose="00020600040101010101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4294967295"/>
            <p:custDataLst>
              <p:tags r:id="rId7"/>
            </p:custDataLst>
          </p:nvPr>
        </p:nvSpPr>
        <p:spPr>
          <a:xfrm>
            <a:off x="12242800" y="1740535"/>
            <a:ext cx="3251200" cy="1334135"/>
          </a:xfrm>
        </p:spPr>
        <p:txBody>
          <a:bodyPr>
            <a:noAutofit/>
          </a:bodyPr>
          <a:p>
            <a:r>
              <a:rPr lang="en-US" altLang="zh-CN"/>
              <a:t>24%</a:t>
            </a:r>
            <a:endParaRPr lang="en-US" altLang="zh-CN"/>
          </a:p>
        </p:txBody>
      </p:sp>
      <p:sp>
        <p:nvSpPr>
          <p:cNvPr id="7" name="文本占位符 6"/>
          <p:cNvSpPr>
            <a:spLocks noGrp="1"/>
          </p:cNvSpPr>
          <p:nvPr>
            <p:ph type="body" idx="4294967295"/>
            <p:custDataLst>
              <p:tags r:id="rId8"/>
            </p:custDataLst>
          </p:nvPr>
        </p:nvSpPr>
        <p:spPr>
          <a:xfrm>
            <a:off x="12242800" y="3074670"/>
            <a:ext cx="3251200" cy="406400"/>
          </a:xfrm>
        </p:spPr>
        <p:txBody>
          <a:bodyPr>
            <a:noAutofit/>
          </a:bodyPr>
          <a:p>
            <a:r>
              <a:rPr lang="zh-CN" altLang="en-US"/>
              <a:t>智能手机</a:t>
            </a:r>
            <a:r>
              <a:rPr lang="zh-CN" altLang="en-US"/>
              <a:t>拥有率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4294967295"/>
            <p:custDataLst>
              <p:tags r:id="rId9"/>
            </p:custDataLst>
          </p:nvPr>
        </p:nvSpPr>
        <p:spPr>
          <a:xfrm>
            <a:off x="12242800" y="3481070"/>
            <a:ext cx="3251200" cy="1334135"/>
          </a:xfrm>
        </p:spPr>
        <p:txBody>
          <a:bodyPr>
            <a:noAutofit/>
          </a:bodyPr>
          <a:p>
            <a:r>
              <a:rPr lang="en-US" altLang="zh-CN"/>
              <a:t>87%</a:t>
            </a:r>
            <a:endParaRPr lang="en-US" altLang="zh-CN"/>
          </a:p>
        </p:txBody>
      </p:sp>
      <p:sp>
        <p:nvSpPr>
          <p:cNvPr id="10" name="文本占位符 9"/>
          <p:cNvSpPr>
            <a:spLocks noGrp="1"/>
          </p:cNvSpPr>
          <p:nvPr>
            <p:ph type="body" idx="4294967295"/>
            <p:custDataLst>
              <p:tags r:id="rId10"/>
            </p:custDataLst>
          </p:nvPr>
        </p:nvSpPr>
        <p:spPr>
          <a:xfrm>
            <a:off x="12242800" y="4815205"/>
            <a:ext cx="3251200" cy="406400"/>
          </a:xfrm>
        </p:spPr>
        <p:txBody>
          <a:bodyPr>
            <a:noAutofit/>
          </a:bodyPr>
          <a:p>
            <a:r>
              <a:rPr lang="zh-CN" altLang="en-US"/>
              <a:t>入门级智能手机</a:t>
            </a:r>
            <a:endParaRPr lang="zh-CN" altLang="en-US"/>
          </a:p>
          <a:p>
            <a:r>
              <a:rPr lang="zh-CN" altLang="en-US"/>
              <a:t>占</a:t>
            </a:r>
            <a:r>
              <a:rPr lang="zh-CN" altLang="en-US"/>
              <a:t>收入百分比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142490" y="389255"/>
            <a:ext cx="7906385" cy="1048385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p>
            <a:r>
              <a:rPr lang="zh-CN" altLang="en-US" sz="60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非洲</a:t>
            </a:r>
            <a:r>
              <a:rPr lang="en-US" altLang="zh-CN" sz="60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·</a:t>
            </a:r>
            <a:r>
              <a:rPr lang="zh-CN" altLang="en-US" sz="60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基础连接鸿沟</a:t>
            </a:r>
            <a:endParaRPr lang="zh-CN" altLang="en-US" sz="60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汉仪力量黑简" panose="00020600040101010101" charset="-122"/>
              <a:ea typeface="汉仪力量黑简" panose="00020600040101010101" charset="-122"/>
            </a:endParaRPr>
          </a:p>
        </p:txBody>
      </p:sp>
      <p:graphicFrame>
        <p:nvGraphicFramePr>
          <p:cNvPr id="21" name="内容占位符 20" descr="7b0a202020202263686172745265734964223a20223530303731333034220a7d0a"/>
          <p:cNvGraphicFramePr/>
          <p:nvPr>
            <p:ph idx="16389"/>
            <p:custDataLst>
              <p:tags r:id="rId11"/>
            </p:custDataLst>
          </p:nvPr>
        </p:nvGraphicFramePr>
        <p:xfrm>
          <a:off x="609600" y="1524000"/>
          <a:ext cx="34544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32" name="图表 31" descr="7b0a202020202263686172745265734964223a20223530303731333034220a7d0a"/>
          <p:cNvGraphicFramePr/>
          <p:nvPr>
            <p:custDataLst>
              <p:tags r:id="rId12"/>
            </p:custDataLst>
          </p:nvPr>
        </p:nvGraphicFramePr>
        <p:xfrm>
          <a:off x="4467860" y="1579245"/>
          <a:ext cx="34544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5" name="图表 34" descr="7b0a202020202263686172745265734964223a20223530303731333034220a7d0a"/>
          <p:cNvGraphicFramePr/>
          <p:nvPr>
            <p:custDataLst>
              <p:tags r:id="rId13"/>
            </p:custDataLst>
          </p:nvPr>
        </p:nvGraphicFramePr>
        <p:xfrm>
          <a:off x="8128000" y="1437640"/>
          <a:ext cx="34544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6" name="文本占位符 4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5239385" y="5552440"/>
            <a:ext cx="1911350" cy="304800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 algn="l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>
                <a:latin typeface="汉仪力量黑简" panose="00020600040101010101" charset="-122"/>
                <a:ea typeface="汉仪力量黑简" panose="00020600040101010101" charset="-122"/>
              </a:rPr>
              <a:t>移动</a:t>
            </a:r>
            <a:r>
              <a:rPr lang="zh-CN" altLang="en-US">
                <a:latin typeface="汉仪力量黑简" panose="00020600040101010101" charset="-122"/>
                <a:ea typeface="汉仪力量黑简" panose="00020600040101010101" charset="-122"/>
              </a:rPr>
              <a:t>互联网</a:t>
            </a:r>
            <a:endParaRPr lang="zh-CN" altLang="en-US">
              <a:latin typeface="汉仪力量黑简" panose="00020600040101010101" charset="-122"/>
              <a:ea typeface="汉仪力量黑简" panose="00020600040101010101" charset="-122"/>
            </a:endParaRPr>
          </a:p>
          <a:p>
            <a:pPr algn="ctr"/>
            <a:r>
              <a:rPr lang="zh-CN" altLang="en-US">
                <a:latin typeface="汉仪力量黑简" panose="00020600040101010101" charset="-122"/>
                <a:ea typeface="汉仪力量黑简" panose="00020600040101010101" charset="-122"/>
              </a:rPr>
              <a:t>有效使用率低</a:t>
            </a:r>
            <a:endParaRPr lang="zh-CN" altLang="en-US">
              <a:latin typeface="汉仪力量黑简" panose="00020600040101010101" charset="-122"/>
              <a:ea typeface="汉仪力量黑简" panose="00020600040101010101" charset="-122"/>
            </a:endParaRPr>
          </a:p>
        </p:txBody>
      </p:sp>
      <p:sp>
        <p:nvSpPr>
          <p:cNvPr id="37" name="文本占位符 4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9191625" y="5552440"/>
            <a:ext cx="1911350" cy="304800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 algn="l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latin typeface="汉仪力量黑简" panose="00020600040101010101" charset="-122"/>
                <a:ea typeface="汉仪力量黑简" panose="00020600040101010101" charset="-122"/>
              </a:rPr>
              <a:t>智能终端覆价格</a:t>
            </a:r>
            <a:r>
              <a:rPr lang="zh-CN" altLang="en-US">
                <a:latin typeface="汉仪力量黑简" panose="00020600040101010101" charset="-122"/>
                <a:ea typeface="汉仪力量黑简" panose="00020600040101010101" charset="-122"/>
              </a:rPr>
              <a:t>较高</a:t>
            </a:r>
            <a:endParaRPr lang="zh-CN" altLang="en-US">
              <a:latin typeface="汉仪力量黑简" panose="00020600040101010101" charset="-122"/>
              <a:ea typeface="汉仪力量黑简" panose="00020600040101010101" charset="-122"/>
            </a:endParaRPr>
          </a:p>
        </p:txBody>
      </p:sp>
      <p:sp>
        <p:nvSpPr>
          <p:cNvPr id="39" name="文本占位符 4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9483090" y="6198870"/>
            <a:ext cx="3400425" cy="304800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 algn="l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latin typeface="汉仪力量黑简" panose="00020600040101010101" charset="-122"/>
                <a:ea typeface="汉仪力量黑简" panose="00020600040101010101" charset="-122"/>
              </a:rPr>
              <a:t>数据来源：</a:t>
            </a:r>
            <a:r>
              <a:rPr lang="en-US" altLang="zh-CN">
                <a:latin typeface="汉仪力量黑简" panose="00020600040101010101" charset="-122"/>
                <a:ea typeface="汉仪力量黑简" panose="00020600040101010101" charset="-122"/>
              </a:rPr>
              <a:t>world </a:t>
            </a:r>
            <a:r>
              <a:rPr lang="en-US" altLang="zh-CN">
                <a:latin typeface="汉仪力量黑简" panose="00020600040101010101" charset="-122"/>
                <a:ea typeface="汉仪力量黑简" panose="00020600040101010101" charset="-122"/>
              </a:rPr>
              <a:t>bank</a:t>
            </a:r>
            <a:endParaRPr lang="en-US" altLang="zh-CN">
              <a:latin typeface="汉仪力量黑简" panose="00020600040101010101" charset="-122"/>
              <a:ea typeface="汉仪力量黑简" panose="00020600040101010101" charset="-122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7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文本框 11"/>
          <p:cNvSpPr txBox="1"/>
          <p:nvPr/>
        </p:nvSpPr>
        <p:spPr>
          <a:xfrm>
            <a:off x="1347470" y="389255"/>
            <a:ext cx="9497695" cy="1048385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p>
            <a:r>
              <a:rPr lang="zh-CN" altLang="en-US" sz="60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非洲</a:t>
            </a:r>
            <a:r>
              <a:rPr lang="en-US" altLang="zh-CN" sz="60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·</a:t>
            </a:r>
            <a:r>
              <a:rPr lang="zh-CN" altLang="en-US" sz="60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开源作为生存</a:t>
            </a:r>
            <a:r>
              <a:rPr lang="zh-CN" altLang="en-US" sz="60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工具</a:t>
            </a:r>
            <a:endParaRPr lang="zh-CN" altLang="en-US" sz="60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汉仪力量黑简" panose="00020600040101010101" charset="-122"/>
              <a:ea typeface="汉仪力量黑简" panose="00020600040101010101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104515" y="1882140"/>
            <a:ext cx="50933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600">
                <a:solidFill>
                  <a:srgbClr val="E5E4D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开源项目的</a:t>
            </a:r>
            <a:r>
              <a:rPr lang="zh-CN" altLang="en-US" sz="3600">
                <a:solidFill>
                  <a:srgbClr val="E5E4D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直接使用</a:t>
            </a:r>
            <a:endParaRPr lang="zh-CN" altLang="en-US" sz="3600">
              <a:solidFill>
                <a:srgbClr val="E5E4D4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39165" y="3618230"/>
            <a:ext cx="78359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n>
                  <a:noFill/>
                </a:ln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开源数字身份系统</a:t>
            </a:r>
            <a:r>
              <a:rPr lang="en-US" altLang="zh-CN" sz="2400">
                <a:ln>
                  <a:noFill/>
                </a:ln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MOSIP</a:t>
            </a:r>
            <a:endParaRPr lang="en-US" altLang="zh-CN" sz="2400">
              <a:ln>
                <a:noFill/>
              </a:ln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  <a:p>
            <a:r>
              <a:rPr lang="zh-CN" altLang="en-US" sz="2400">
                <a:ln>
                  <a:noFill/>
                </a:ln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已在9个非洲国家部署</a:t>
            </a:r>
            <a:endParaRPr lang="zh-CN" altLang="en-US" sz="2400">
              <a:ln>
                <a:noFill/>
              </a:ln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  <a:p>
            <a:r>
              <a:rPr lang="zh-CN" altLang="en-US" sz="2400">
                <a:ln>
                  <a:noFill/>
                </a:ln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实施成本降低40%</a:t>
            </a:r>
            <a:endParaRPr lang="zh-CN" altLang="en-US" sz="2400">
              <a:ln>
                <a:noFill/>
              </a:ln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  <a:p>
            <a:pPr algn="r"/>
            <a:endParaRPr lang="zh-CN" altLang="en-US" sz="2400">
              <a:ln>
                <a:noFill/>
              </a:ln>
              <a:solidFill>
                <a:schemeClr val="bg1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973570" y="3618230"/>
            <a:ext cx="78359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n>
                  <a:noFill/>
                </a:ln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开源</a:t>
            </a:r>
            <a:r>
              <a:rPr lang="en-US" altLang="zh-CN" sz="2400">
                <a:ln>
                  <a:noFill/>
                </a:ln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AI（</a:t>
            </a:r>
            <a:r>
              <a:rPr lang="zh-CN" altLang="en-US" sz="2400">
                <a:ln>
                  <a:noFill/>
                </a:ln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如</a:t>
            </a:r>
            <a:r>
              <a:rPr lang="en-US" altLang="zh-CN" sz="2400">
                <a:ln>
                  <a:noFill/>
                </a:ln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Llama）</a:t>
            </a:r>
            <a:endParaRPr lang="en-US" altLang="zh-CN" sz="2400">
              <a:ln>
                <a:noFill/>
              </a:ln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  <a:p>
            <a:r>
              <a:rPr lang="zh-CN" altLang="en-US" sz="2400">
                <a:ln>
                  <a:noFill/>
                </a:ln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落地农业、医疗领域</a:t>
            </a:r>
            <a:endParaRPr lang="zh-CN" altLang="en-US" sz="2400">
              <a:ln>
                <a:noFill/>
              </a:ln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  <a:p>
            <a:r>
              <a:rPr lang="zh-CN" altLang="en-US" sz="2400">
                <a:ln>
                  <a:noFill/>
                </a:ln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降低技术准入门槛。</a:t>
            </a:r>
            <a:endParaRPr lang="zh-CN" altLang="en-US" sz="2400">
              <a:ln>
                <a:noFill/>
              </a:ln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  <a:p>
            <a:pPr algn="r"/>
            <a:endParaRPr lang="zh-CN" altLang="en-US" sz="2400">
              <a:ln>
                <a:noFill/>
              </a:ln>
              <a:solidFill>
                <a:schemeClr val="bg1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技术中立破灭后美国制裁中国的质感优化图生成 (6)"/>
          <p:cNvPicPr>
            <a:picLocks noChangeAspect="1"/>
          </p:cNvPicPr>
          <p:nvPr/>
        </p:nvPicPr>
        <p:blipFill>
          <a:blip r:embed="rId1"/>
          <a:srcRect b="5667"/>
          <a:stretch>
            <a:fillRect/>
          </a:stretch>
        </p:blipFill>
        <p:spPr>
          <a:xfrm>
            <a:off x="-50800" y="-387985"/>
            <a:ext cx="12294235" cy="7245350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2565400" y="1554480"/>
            <a:ext cx="6899910" cy="3977005"/>
          </a:xfrm>
          <a:prstGeom prst="roundRect">
            <a:avLst/>
          </a:prstGeom>
          <a:solidFill>
            <a:schemeClr val="bg1">
              <a:alpha val="41000"/>
            </a:schemeClr>
          </a:solidFill>
          <a:ln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glow rad="139700">
              <a:srgbClr val="FFFEF4">
                <a:alpha val="46000"/>
              </a:srgbClr>
            </a:glow>
            <a:softEdge rad="127000"/>
          </a:effectLst>
          <a:scene3d>
            <a:camera prst="orthographicFront"/>
            <a:lightRig rig="threePt" dir="t"/>
          </a:scene3d>
          <a:sp3d prstMaterial="clear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99665" y="2508250"/>
            <a:ext cx="10170160" cy="163449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p>
            <a:r>
              <a:rPr lang="zh-CN" altLang="en-US" sz="13800">
                <a:ln>
                  <a:solidFill>
                    <a:schemeClr val="bg2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关于</a:t>
            </a:r>
            <a:r>
              <a:rPr lang="zh-CN" altLang="en-US" sz="13800">
                <a:ln>
                  <a:solidFill>
                    <a:schemeClr val="bg2"/>
                  </a:solidFill>
                </a:ln>
                <a:solidFill>
                  <a:srgbClr val="2A512A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拉美</a:t>
            </a:r>
            <a:endParaRPr lang="zh-CN" altLang="en-US" sz="13800">
              <a:ln>
                <a:solidFill>
                  <a:schemeClr val="bg2"/>
                </a:solidFill>
              </a:ln>
              <a:solidFill>
                <a:srgbClr val="2A512A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汉仪力量黑简" panose="00020600040101010101" charset="-122"/>
              <a:ea typeface="汉仪力量黑简" panose="00020600040101010101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8B2B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文本占位符 4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381125" y="5541645"/>
            <a:ext cx="1911350" cy="304800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 algn="l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latin typeface="汉仪力量黑简" panose="00020600040101010101" charset="-122"/>
                <a:ea typeface="汉仪力量黑简" panose="00020600040101010101" charset="-122"/>
              </a:rPr>
              <a:t>移动网络</a:t>
            </a:r>
            <a:r>
              <a:rPr lang="zh-CN" altLang="en-US">
                <a:latin typeface="汉仪力量黑简" panose="00020600040101010101" charset="-122"/>
                <a:ea typeface="汉仪力量黑简" panose="00020600040101010101" charset="-122"/>
              </a:rPr>
              <a:t>基础好</a:t>
            </a:r>
            <a:endParaRPr lang="zh-CN" altLang="en-US">
              <a:latin typeface="汉仪力量黑简" panose="00020600040101010101" charset="-122"/>
              <a:ea typeface="汉仪力量黑简" panose="00020600040101010101" charset="-122"/>
            </a:endParaRPr>
          </a:p>
        </p:txBody>
      </p:sp>
      <p:graphicFrame>
        <p:nvGraphicFramePr>
          <p:cNvPr id="21" name="图表 20" descr="7b0a202020202263686172745265734964223a20223530303731333034220a7d0a"/>
          <p:cNvGraphicFramePr/>
          <p:nvPr>
            <p:custDataLst>
              <p:tags r:id="rId5"/>
            </p:custDataLst>
          </p:nvPr>
        </p:nvGraphicFramePr>
        <p:xfrm>
          <a:off x="609600" y="1524000"/>
          <a:ext cx="34544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32" name="图表 31" descr="7b0a202020202263686172745265734964223a20223530303731333034220a7d0a"/>
          <p:cNvGraphicFramePr/>
          <p:nvPr>
            <p:custDataLst>
              <p:tags r:id="rId6"/>
            </p:custDataLst>
          </p:nvPr>
        </p:nvGraphicFramePr>
        <p:xfrm>
          <a:off x="4467860" y="1579245"/>
          <a:ext cx="34544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6" name="文本占位符 4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5239385" y="5552440"/>
            <a:ext cx="1911350" cy="304800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 algn="l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>
                <a:latin typeface="汉仪力量黑简" panose="00020600040101010101" charset="-122"/>
                <a:ea typeface="汉仪力量黑简" panose="00020600040101010101" charset="-122"/>
              </a:rPr>
              <a:t>移动</a:t>
            </a:r>
            <a:r>
              <a:rPr lang="zh-CN" altLang="en-US">
                <a:latin typeface="汉仪力量黑简" panose="00020600040101010101" charset="-122"/>
                <a:ea typeface="汉仪力量黑简" panose="00020600040101010101" charset="-122"/>
              </a:rPr>
              <a:t>互联网</a:t>
            </a:r>
            <a:endParaRPr lang="zh-CN" altLang="en-US">
              <a:latin typeface="汉仪力量黑简" panose="00020600040101010101" charset="-122"/>
              <a:ea typeface="汉仪力量黑简" panose="00020600040101010101" charset="-122"/>
            </a:endParaRPr>
          </a:p>
          <a:p>
            <a:pPr algn="ctr"/>
            <a:r>
              <a:rPr lang="zh-CN" altLang="en-US">
                <a:latin typeface="汉仪力量黑简" panose="00020600040101010101" charset="-122"/>
                <a:ea typeface="汉仪力量黑简" panose="00020600040101010101" charset="-122"/>
              </a:rPr>
              <a:t>有效使用率低</a:t>
            </a:r>
            <a:endParaRPr lang="zh-CN" altLang="en-US">
              <a:latin typeface="汉仪力量黑简" panose="00020600040101010101" charset="-122"/>
              <a:ea typeface="汉仪力量黑简" panose="00020600040101010101" charset="-122"/>
            </a:endParaRPr>
          </a:p>
        </p:txBody>
      </p:sp>
      <p:sp>
        <p:nvSpPr>
          <p:cNvPr id="37" name="文本占位符 4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9191625" y="5552440"/>
            <a:ext cx="1911350" cy="304800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 algn="l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>
                <a:latin typeface="汉仪力量黑简" panose="00020600040101010101" charset="-122"/>
                <a:ea typeface="汉仪力量黑简" panose="00020600040101010101" charset="-122"/>
              </a:rPr>
              <a:t>有效使用互联网</a:t>
            </a:r>
            <a:endParaRPr lang="zh-CN" altLang="en-US">
              <a:latin typeface="汉仪力量黑简" panose="00020600040101010101" charset="-122"/>
              <a:ea typeface="汉仪力量黑简" panose="00020600040101010101" charset="-122"/>
            </a:endParaRPr>
          </a:p>
          <a:p>
            <a:pPr algn="ctr"/>
            <a:r>
              <a:rPr lang="zh-CN" altLang="en-US">
                <a:latin typeface="汉仪力量黑简" panose="00020600040101010101" charset="-122"/>
                <a:ea typeface="汉仪力量黑简" panose="00020600040101010101" charset="-122"/>
              </a:rPr>
              <a:t>人口较</a:t>
            </a:r>
            <a:r>
              <a:rPr lang="zh-CN" altLang="en-US">
                <a:latin typeface="汉仪力量黑简" panose="00020600040101010101" charset="-122"/>
                <a:ea typeface="汉仪力量黑简" panose="00020600040101010101" charset="-122"/>
              </a:rPr>
              <a:t>少</a:t>
            </a:r>
            <a:endParaRPr lang="zh-CN" altLang="en-US">
              <a:latin typeface="汉仪力量黑简" panose="00020600040101010101" charset="-122"/>
              <a:ea typeface="汉仪力量黑简" panose="00020600040101010101" charset="-122"/>
            </a:endParaRPr>
          </a:p>
        </p:txBody>
      </p:sp>
      <p:graphicFrame>
        <p:nvGraphicFramePr>
          <p:cNvPr id="35" name="图表 34" descr="7b0a202020202263686172745265734964223a20223530303731333034220a7d0a"/>
          <p:cNvGraphicFramePr/>
          <p:nvPr>
            <p:custDataLst>
              <p:tags r:id="rId9"/>
            </p:custDataLst>
          </p:nvPr>
        </p:nvGraphicFramePr>
        <p:xfrm>
          <a:off x="8128000" y="1437640"/>
          <a:ext cx="34544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2142490" y="389255"/>
            <a:ext cx="7906385" cy="1048385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p>
            <a:pPr algn="ctr"/>
            <a:r>
              <a:rPr lang="zh-CN" altLang="en-US" sz="60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拉美</a:t>
            </a:r>
            <a:r>
              <a:rPr lang="en-US" altLang="zh-CN" sz="60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·</a:t>
            </a:r>
            <a:r>
              <a:rPr lang="zh-CN" altLang="en-US" sz="60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使用鸿沟</a:t>
            </a:r>
            <a:endParaRPr lang="zh-CN" altLang="en-US" sz="60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汉仪力量黑简" panose="00020600040101010101" charset="-122"/>
              <a:ea typeface="汉仪力量黑简" panose="00020600040101010101" charset="-122"/>
            </a:endParaRPr>
          </a:p>
        </p:txBody>
      </p:sp>
      <p:sp>
        <p:nvSpPr>
          <p:cNvPr id="39" name="文本占位符 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9483090" y="6198870"/>
            <a:ext cx="3400425" cy="304800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 algn="l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latin typeface="汉仪力量黑简" panose="00020600040101010101" charset="-122"/>
                <a:ea typeface="汉仪力量黑简" panose="00020600040101010101" charset="-122"/>
              </a:rPr>
              <a:t>数据来源：</a:t>
            </a:r>
            <a:r>
              <a:rPr lang="en-US" altLang="zh-CN">
                <a:latin typeface="汉仪力量黑简" panose="00020600040101010101" charset="-122"/>
                <a:ea typeface="汉仪力量黑简" panose="00020600040101010101" charset="-122"/>
              </a:rPr>
              <a:t>world </a:t>
            </a:r>
            <a:r>
              <a:rPr lang="en-US" altLang="zh-CN">
                <a:latin typeface="汉仪力量黑简" panose="00020600040101010101" charset="-122"/>
                <a:ea typeface="汉仪力量黑简" panose="00020600040101010101" charset="-122"/>
              </a:rPr>
              <a:t>bank</a:t>
            </a:r>
            <a:endParaRPr lang="en-US" altLang="zh-CN">
              <a:latin typeface="汉仪力量黑简" panose="00020600040101010101" charset="-122"/>
              <a:ea typeface="汉仪力量黑简" panose="00020600040101010101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8B2B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文本框 23"/>
          <p:cNvSpPr txBox="1"/>
          <p:nvPr/>
        </p:nvSpPr>
        <p:spPr>
          <a:xfrm>
            <a:off x="3104515" y="1882140"/>
            <a:ext cx="50933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600">
                <a:solidFill>
                  <a:srgbClr val="E5E4D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开源项目的</a:t>
            </a:r>
            <a:r>
              <a:rPr lang="zh-CN" altLang="en-US" sz="3600">
                <a:solidFill>
                  <a:srgbClr val="E5E4D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政治化</a:t>
            </a:r>
            <a:endParaRPr lang="zh-CN" altLang="en-US" sz="3600">
              <a:solidFill>
                <a:srgbClr val="E5E4D4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39165" y="3618230"/>
            <a:ext cx="78359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n>
                  <a:noFill/>
                </a:ln>
                <a:solidFill>
                  <a:schemeClr val="bg1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墨西哥国家公共技术仓库</a:t>
            </a:r>
            <a:endParaRPr lang="zh-CN" altLang="en-US" sz="2400">
              <a:ln>
                <a:noFill/>
              </a:ln>
              <a:solidFill>
                <a:schemeClr val="bg1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  <a:p>
            <a:r>
              <a:rPr lang="zh-CN" altLang="en-US" sz="2400">
                <a:ln>
                  <a:noFill/>
                </a:ln>
                <a:solidFill>
                  <a:schemeClr val="bg1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政府代码强制开源</a:t>
            </a:r>
            <a:endParaRPr lang="zh-CN" altLang="en-US" sz="2400">
              <a:ln>
                <a:noFill/>
              </a:ln>
              <a:solidFill>
                <a:schemeClr val="bg1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  <a:p>
            <a:r>
              <a:rPr lang="zh-CN" altLang="en-US" sz="2400">
                <a:ln>
                  <a:noFill/>
                </a:ln>
                <a:solidFill>
                  <a:schemeClr val="bg1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反垄断</a:t>
            </a:r>
            <a:endParaRPr lang="zh-CN" altLang="en-US" sz="2400">
              <a:ln>
                <a:noFill/>
              </a:ln>
              <a:solidFill>
                <a:schemeClr val="bg1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  <a:p>
            <a:r>
              <a:rPr lang="zh-CN" altLang="en-US" sz="2400">
                <a:ln>
                  <a:noFill/>
                </a:ln>
                <a:solidFill>
                  <a:schemeClr val="bg1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强制谷歌取消安卓独家绑定</a:t>
            </a:r>
            <a:endParaRPr lang="zh-CN" altLang="en-US" sz="2400">
              <a:ln>
                <a:noFill/>
              </a:ln>
              <a:solidFill>
                <a:schemeClr val="bg1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973570" y="3618230"/>
            <a:ext cx="78359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n>
                  <a:noFill/>
                </a:ln>
                <a:solidFill>
                  <a:schemeClr val="bg1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巴西</a:t>
            </a:r>
            <a:r>
              <a:rPr lang="en-US" altLang="zh-CN" sz="2400">
                <a:ln>
                  <a:noFill/>
                </a:ln>
                <a:solidFill>
                  <a:schemeClr val="bg1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AI</a:t>
            </a:r>
            <a:r>
              <a:rPr lang="zh-CN" altLang="en-US" sz="2400">
                <a:ln>
                  <a:noFill/>
                </a:ln>
                <a:solidFill>
                  <a:schemeClr val="bg1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主权计划</a:t>
            </a:r>
            <a:endParaRPr lang="zh-CN" altLang="en-US" sz="2400">
              <a:ln>
                <a:noFill/>
              </a:ln>
              <a:solidFill>
                <a:schemeClr val="bg1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  <a:p>
            <a:r>
              <a:rPr lang="zh-CN" altLang="en-US" sz="2400">
                <a:ln>
                  <a:noFill/>
                </a:ln>
                <a:solidFill>
                  <a:schemeClr val="bg1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计划投入40.7亿美元</a:t>
            </a:r>
            <a:endParaRPr lang="zh-CN" altLang="en-US" sz="2400">
              <a:ln>
                <a:noFill/>
              </a:ln>
              <a:solidFill>
                <a:schemeClr val="bg1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  <a:p>
            <a:r>
              <a:rPr lang="zh-CN" altLang="en-US" sz="2400">
                <a:ln>
                  <a:noFill/>
                </a:ln>
                <a:solidFill>
                  <a:schemeClr val="bg1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用于</a:t>
            </a:r>
            <a:r>
              <a:rPr lang="en-US" altLang="zh-CN" sz="2400">
                <a:ln>
                  <a:noFill/>
                </a:ln>
                <a:solidFill>
                  <a:schemeClr val="bg1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AI</a:t>
            </a:r>
            <a:r>
              <a:rPr lang="zh-CN" altLang="en-US" sz="2400">
                <a:ln>
                  <a:noFill/>
                </a:ln>
                <a:solidFill>
                  <a:schemeClr val="bg1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主权云和葡语大模型</a:t>
            </a:r>
            <a:endParaRPr lang="zh-CN" altLang="en-US" sz="2400">
              <a:ln>
                <a:noFill/>
              </a:ln>
              <a:solidFill>
                <a:schemeClr val="bg1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142490" y="389255"/>
            <a:ext cx="7906385" cy="1048385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p>
            <a:pPr algn="ctr"/>
            <a:r>
              <a:rPr lang="zh-CN" altLang="en-US" sz="60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拉美</a:t>
            </a:r>
            <a:r>
              <a:rPr lang="en-US" altLang="zh-CN" sz="60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·</a:t>
            </a:r>
            <a:r>
              <a:rPr lang="zh-CN" altLang="en-US" sz="60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开源的主权</a:t>
            </a:r>
            <a:r>
              <a:rPr lang="zh-CN" altLang="en-US" sz="60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工具</a:t>
            </a:r>
            <a:endParaRPr lang="zh-CN" altLang="en-US" sz="60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汉仪力量黑简" panose="00020600040101010101" charset="-122"/>
              <a:ea typeface="汉仪力量黑简" panose="00020600040101010101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比亚迪王传福油画肖像生成"/>
          <p:cNvPicPr>
            <a:picLocks noChangeAspect="1"/>
          </p:cNvPicPr>
          <p:nvPr/>
        </p:nvPicPr>
        <p:blipFill>
          <a:blip r:embed="rId1"/>
          <a:srcRect r="-11555" b="23729"/>
          <a:stretch>
            <a:fillRect/>
          </a:stretch>
        </p:blipFill>
        <p:spPr>
          <a:xfrm>
            <a:off x="-2000250" y="635"/>
            <a:ext cx="15847695" cy="685736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361305" y="3718560"/>
            <a:ext cx="683069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ln>
                  <a:noFill/>
                </a:ln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“</a:t>
            </a:r>
            <a:r>
              <a:rPr lang="zh-CN" altLang="en-US" sz="2800">
                <a:ln>
                  <a:noFill/>
                </a:ln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汽车,说穿了不就是‘一堆钢铁’</a:t>
            </a:r>
            <a:r>
              <a:rPr lang="en-US" altLang="zh-CN" sz="2800">
                <a:ln>
                  <a:noFill/>
                </a:ln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”</a:t>
            </a:r>
            <a:r>
              <a:rPr lang="zh-CN" altLang="en-US" sz="2800">
                <a:ln>
                  <a:noFill/>
                </a:ln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。</a:t>
            </a:r>
            <a:endParaRPr lang="zh-CN" altLang="en-US" sz="2800">
              <a:ln>
                <a:noFill/>
              </a:ln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  <a:p>
            <a:endParaRPr lang="zh-CN" altLang="en-US" sz="2800">
              <a:ln>
                <a:noFill/>
              </a:ln>
              <a:latin typeface="Aa油画棒" panose="02010600010101010101" charset="-122"/>
              <a:ea typeface="Aa油画棒" panose="02010600010101010101" charset="-122"/>
              <a:cs typeface="Aa油画棒" panose="02010600010101010101" charset="-122"/>
            </a:endParaRPr>
          </a:p>
          <a:p>
            <a:pPr algn="r"/>
            <a:r>
              <a:rPr lang="en-US" altLang="zh-CN" sz="2800">
                <a:ln>
                  <a:noFill/>
                </a:ln>
                <a:solidFill>
                  <a:schemeClr val="bg1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------</a:t>
            </a:r>
            <a:r>
              <a:rPr lang="zh-CN" altLang="en-US" sz="2800">
                <a:ln>
                  <a:noFill/>
                </a:ln>
                <a:solidFill>
                  <a:schemeClr val="bg1"/>
                </a:solidFill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王传福</a:t>
            </a:r>
            <a:endParaRPr lang="zh-CN" altLang="en-US" sz="2800">
              <a:ln>
                <a:noFill/>
              </a:ln>
              <a:solidFill>
                <a:schemeClr val="bg1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生成油画质感世界地图重整分裂图 (2)"/>
          <p:cNvPicPr>
            <a:picLocks noChangeAspect="1"/>
          </p:cNvPicPr>
          <p:nvPr/>
        </p:nvPicPr>
        <p:blipFill>
          <a:blip r:embed="rId1"/>
          <a:srcRect b="7143"/>
          <a:stretch>
            <a:fillRect/>
          </a:stretch>
        </p:blipFill>
        <p:spPr>
          <a:xfrm>
            <a:off x="0" y="0"/>
            <a:ext cx="13154025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659380" y="2966085"/>
            <a:ext cx="783590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ln>
                  <a:noFill/>
                </a:ln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是否</a:t>
            </a:r>
            <a:r>
              <a:rPr lang="en-US" altLang="zh-CN" sz="2800">
                <a:ln>
                  <a:noFill/>
                </a:ln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“</a:t>
            </a:r>
            <a:r>
              <a:rPr lang="zh-CN" altLang="en-US" sz="2800">
                <a:ln>
                  <a:noFill/>
                </a:ln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开源软件,说穿了不就是‘一堆</a:t>
            </a:r>
            <a:r>
              <a:rPr lang="en-US" altLang="zh-CN" sz="2800">
                <a:ln>
                  <a:noFill/>
                </a:ln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0</a:t>
            </a:r>
            <a:r>
              <a:rPr lang="zh-CN" altLang="en-US" sz="2800">
                <a:ln>
                  <a:noFill/>
                </a:ln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和</a:t>
            </a:r>
            <a:r>
              <a:rPr lang="en-US" altLang="zh-CN" sz="2800">
                <a:ln>
                  <a:noFill/>
                </a:ln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1</a:t>
            </a:r>
            <a:r>
              <a:rPr lang="zh-CN" altLang="en-US" sz="2800">
                <a:ln>
                  <a:noFill/>
                </a:ln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’</a:t>
            </a:r>
            <a:r>
              <a:rPr lang="en-US" altLang="zh-CN" sz="2800">
                <a:ln>
                  <a:noFill/>
                </a:ln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”</a:t>
            </a:r>
            <a:r>
              <a:rPr lang="zh-CN" altLang="en-US" sz="2800">
                <a:ln>
                  <a:noFill/>
                </a:ln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？</a:t>
            </a:r>
            <a:endParaRPr lang="zh-CN" altLang="en-US" sz="2800">
              <a:ln>
                <a:noFill/>
              </a:ln>
              <a:solidFill>
                <a:srgbClr val="FF0000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  <a:p>
            <a:endParaRPr lang="zh-CN" altLang="en-US" sz="2800">
              <a:ln>
                <a:noFill/>
              </a:ln>
              <a:latin typeface="Aa油画棒" panose="02010600010101010101" charset="-122"/>
              <a:ea typeface="Aa油画棒" panose="02010600010101010101" charset="-122"/>
              <a:cs typeface="Aa油画棒" panose="02010600010101010101" charset="-122"/>
            </a:endParaRPr>
          </a:p>
          <a:p>
            <a:pPr algn="r"/>
            <a:endParaRPr lang="zh-CN" altLang="en-US" sz="2800">
              <a:ln>
                <a:noFill/>
              </a:ln>
              <a:solidFill>
                <a:schemeClr val="bg1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油画风格斯诺登大头照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93775" y="0"/>
            <a:ext cx="13185775" cy="7413625"/>
          </a:xfrm>
          <a:prstGeom prst="rect">
            <a:avLst/>
          </a:prstGeom>
        </p:spPr>
      </p:pic>
      <p:pic>
        <p:nvPicPr>
          <p:cNvPr id="2" name="图片 1" descr="生成乌合麒麟风格历史剪影油画 (4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15396" b="6105"/>
          <a:stretch>
            <a:fillRect/>
          </a:stretch>
        </p:blipFill>
        <p:spPr>
          <a:xfrm>
            <a:off x="0" y="-252095"/>
            <a:ext cx="12192000" cy="538099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8" name="图形 17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4565" y="6260377"/>
            <a:ext cx="2825913" cy="597347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663825" y="5226685"/>
            <a:ext cx="11633835" cy="156845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r>
              <a:rPr lang="zh-CN" altLang="en-US" sz="9600">
                <a:solidFill>
                  <a:srgbClr val="4472C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开源</a:t>
            </a:r>
            <a:r>
              <a:rPr lang="zh-CN" altLang="en-US" sz="960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与</a:t>
            </a:r>
            <a:r>
              <a:rPr lang="zh-CN" altLang="en-US" sz="960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未来</a:t>
            </a:r>
            <a:endParaRPr lang="zh-CN" altLang="en-US" sz="9600">
              <a:solidFill>
                <a:schemeClr val="accent6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汉仪力量黑简" panose="00020600040101010101" charset="-122"/>
              <a:ea typeface="汉仪力量黑简" panose="00020600040101010101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E8C2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 descr="生成油画质感世界地图重整分裂图 (4)"/>
          <p:cNvPicPr>
            <a:picLocks noChangeAspect="1"/>
          </p:cNvPicPr>
          <p:nvPr/>
        </p:nvPicPr>
        <p:blipFill>
          <a:blip r:embed="rId1"/>
          <a:srcRect b="6317"/>
          <a:stretch>
            <a:fillRect/>
          </a:stretch>
        </p:blipFill>
        <p:spPr>
          <a:xfrm>
            <a:off x="-843915" y="-443865"/>
            <a:ext cx="13880465" cy="73012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17170" y="389255"/>
            <a:ext cx="11865610" cy="1048385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p>
            <a:r>
              <a:rPr lang="zh-CN" altLang="en-US" sz="60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全球化重构：多极化成为新常态</a:t>
            </a:r>
            <a:endParaRPr lang="zh-CN" altLang="en-US" sz="60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汉仪力量黑简" panose="00020600040101010101" charset="-122"/>
              <a:ea typeface="汉仪力量黑简" panose="0002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7170" y="2028190"/>
            <a:ext cx="67221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3600">
                <a:solidFill>
                  <a:schemeClr val="bg2">
                    <a:lumMod val="2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GitHub 2025</a:t>
            </a:r>
            <a:r>
              <a:rPr lang="zh-CN" altLang="en-US" sz="3600">
                <a:solidFill>
                  <a:schemeClr val="bg2">
                    <a:lumMod val="2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年</a:t>
            </a:r>
            <a:r>
              <a:rPr lang="en-US" altLang="zh-CN" sz="3600">
                <a:solidFill>
                  <a:schemeClr val="bg2">
                    <a:lumMod val="2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Octoverse</a:t>
            </a:r>
            <a:r>
              <a:rPr lang="zh-CN" altLang="en-US" sz="3600">
                <a:solidFill>
                  <a:schemeClr val="bg2">
                    <a:lumMod val="2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报告</a:t>
            </a:r>
            <a:endParaRPr lang="zh-CN" altLang="en-US" sz="3600">
              <a:solidFill>
                <a:schemeClr val="bg2">
                  <a:lumMod val="2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" y="3123565"/>
            <a:ext cx="11757660" cy="9582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文本框 7"/>
          <p:cNvSpPr txBox="1"/>
          <p:nvPr/>
        </p:nvSpPr>
        <p:spPr>
          <a:xfrm>
            <a:off x="217170" y="4531995"/>
            <a:ext cx="1175766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ln>
                  <a:noFill/>
                </a:ln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全年约3600万新开发者加入</a:t>
            </a:r>
            <a:r>
              <a:rPr lang="en-US" altLang="zh-CN" sz="2800">
                <a:ln>
                  <a:noFill/>
                </a:ln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GitHub，</a:t>
            </a:r>
            <a:r>
              <a:rPr lang="zh-CN" altLang="en-US" sz="2800">
                <a:ln>
                  <a:noFill/>
                </a:ln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仅印度就贡献520万，巴西、印度尼西亚、日本和德国也实现了显著增长。</a:t>
            </a:r>
            <a:endParaRPr lang="zh-CN" altLang="en-US" sz="2800">
              <a:ln>
                <a:noFill/>
              </a:ln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  <a:p>
            <a:pPr algn="r"/>
            <a:endParaRPr lang="zh-CN" altLang="en-US" sz="2800">
              <a:ln>
                <a:noFill/>
              </a:ln>
              <a:solidFill>
                <a:schemeClr val="bg1"/>
              </a:solidFill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E8C2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 descr="生成油画质感世界地图重整分裂图 (4)"/>
          <p:cNvPicPr>
            <a:picLocks noChangeAspect="1"/>
          </p:cNvPicPr>
          <p:nvPr/>
        </p:nvPicPr>
        <p:blipFill>
          <a:blip r:embed="rId1"/>
          <a:srcRect b="6317"/>
          <a:stretch>
            <a:fillRect/>
          </a:stretch>
        </p:blipFill>
        <p:spPr>
          <a:xfrm>
            <a:off x="-843915" y="-443865"/>
            <a:ext cx="13880465" cy="73012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17170" y="389255"/>
            <a:ext cx="11865610" cy="1048385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p>
            <a:r>
              <a:rPr lang="zh-CN" altLang="en-US" sz="48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全球化多中心治理：从协调竞争到制度协同</a:t>
            </a:r>
            <a:endParaRPr lang="zh-CN" altLang="en-US" sz="48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汉仪力量黑简" panose="00020600040101010101" charset="-122"/>
              <a:ea typeface="汉仪力量黑简" panose="0002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7170" y="2028190"/>
            <a:ext cx="11974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3600">
                <a:solidFill>
                  <a:schemeClr val="bg2">
                    <a:lumMod val="2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UNESCO </a:t>
            </a:r>
            <a:r>
              <a:rPr lang="zh-CN" altLang="en-US" sz="3600">
                <a:solidFill>
                  <a:schemeClr val="bg2">
                    <a:lumMod val="2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制定数字公共品联盟（</a:t>
            </a:r>
            <a:r>
              <a:rPr lang="en-US" altLang="zh-CN" sz="3600">
                <a:solidFill>
                  <a:schemeClr val="bg2">
                    <a:lumMod val="2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DPGA）</a:t>
            </a:r>
            <a:r>
              <a:rPr lang="zh-CN" altLang="en-US" sz="3600">
                <a:solidFill>
                  <a:schemeClr val="bg2">
                    <a:lumMod val="2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路线图</a:t>
            </a:r>
            <a:endParaRPr lang="zh-CN" altLang="en-US" sz="3600">
              <a:solidFill>
                <a:schemeClr val="bg2">
                  <a:lumMod val="2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94310" y="5166995"/>
            <a:ext cx="117576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800">
                <a:ln>
                  <a:noFill/>
                </a:ln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这是开源从“代码协作”向“全球公共品制度化”的关键一跃。</a:t>
            </a:r>
            <a:endParaRPr lang="zh-CN" altLang="en-US" sz="2800">
              <a:ln>
                <a:noFill/>
              </a:ln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" y="2961640"/>
            <a:ext cx="11835130" cy="19164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E8C2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 descr="生成油画质感世界地图重整分裂图 (4)"/>
          <p:cNvPicPr>
            <a:picLocks noChangeAspect="1"/>
          </p:cNvPicPr>
          <p:nvPr/>
        </p:nvPicPr>
        <p:blipFill>
          <a:blip r:embed="rId1"/>
          <a:srcRect b="6317"/>
          <a:stretch>
            <a:fillRect/>
          </a:stretch>
        </p:blipFill>
        <p:spPr>
          <a:xfrm>
            <a:off x="-843915" y="-443865"/>
            <a:ext cx="13880465" cy="73012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17170" y="389255"/>
            <a:ext cx="11865610" cy="1048385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p>
            <a:r>
              <a:rPr lang="zh-CN" altLang="en-US" sz="48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中美竞争新阶段：</a:t>
            </a:r>
            <a:endParaRPr lang="zh-CN" altLang="en-US" sz="48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汉仪力量黑简" panose="00020600040101010101" charset="-122"/>
              <a:ea typeface="汉仪力量黑简" panose="00020600040101010101" charset="-122"/>
            </a:endParaRPr>
          </a:p>
          <a:p>
            <a:r>
              <a:rPr lang="zh-CN" altLang="en-US" sz="48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开源模型成为软实力主战场</a:t>
            </a:r>
            <a:endParaRPr lang="zh-CN" altLang="en-US" sz="48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汉仪力量黑简" panose="00020600040101010101" charset="-122"/>
              <a:ea typeface="汉仪力量黑简" panose="0002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7170" y="2028190"/>
            <a:ext cx="67221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3600">
                <a:solidFill>
                  <a:schemeClr val="bg2">
                    <a:lumMod val="2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RAND</a:t>
            </a:r>
            <a:r>
              <a:rPr lang="zh-CN" altLang="en-US" sz="3600">
                <a:solidFill>
                  <a:schemeClr val="bg2">
                    <a:lumMod val="2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公司</a:t>
            </a:r>
            <a:endParaRPr lang="zh-CN" altLang="en-US" sz="3600">
              <a:solidFill>
                <a:schemeClr val="bg2">
                  <a:lumMod val="2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65" y="2888615"/>
            <a:ext cx="11804015" cy="172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文本框 9"/>
          <p:cNvSpPr txBox="1"/>
          <p:nvPr/>
        </p:nvSpPr>
        <p:spPr>
          <a:xfrm>
            <a:off x="194310" y="5166995"/>
            <a:ext cx="117576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800">
                <a:ln>
                  <a:noFill/>
                </a:ln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中美在</a:t>
            </a:r>
            <a:r>
              <a:rPr lang="en-US" altLang="zh-CN" sz="2800">
                <a:ln>
                  <a:noFill/>
                </a:ln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AI</a:t>
            </a:r>
            <a:r>
              <a:rPr lang="zh-CN" altLang="en-US" sz="2800">
                <a:ln>
                  <a:noFill/>
                </a:ln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竞争上，都认为开源是无法绕开的</a:t>
            </a:r>
            <a:r>
              <a:rPr lang="zh-CN" altLang="en-US" sz="2800">
                <a:ln>
                  <a:noFill/>
                </a:ln>
                <a:latin typeface="方正粗宋简体" panose="02000000000000000000" charset="-122"/>
                <a:ea typeface="方正粗宋简体" panose="02000000000000000000" charset="-122"/>
                <a:cs typeface="方正粗宋简体" panose="02000000000000000000" charset="-122"/>
              </a:rPr>
              <a:t>技术路线。</a:t>
            </a:r>
            <a:endParaRPr lang="zh-CN" altLang="en-US" sz="2800">
              <a:ln>
                <a:noFill/>
              </a:ln>
              <a:latin typeface="方正粗宋简体" panose="02000000000000000000" charset="-122"/>
              <a:ea typeface="方正粗宋简体" panose="02000000000000000000" charset="-122"/>
              <a:cs typeface="方正粗宋简体" panose="02000000000000000000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生成油画质感世界地图重整分裂图 (3)"/>
          <p:cNvPicPr>
            <a:picLocks noChangeAspect="1"/>
          </p:cNvPicPr>
          <p:nvPr/>
        </p:nvPicPr>
        <p:blipFill>
          <a:blip r:embed="rId1"/>
          <a:srcRect b="7143"/>
          <a:stretch>
            <a:fillRect/>
          </a:stretch>
        </p:blipFill>
        <p:spPr>
          <a:xfrm>
            <a:off x="0" y="6350"/>
            <a:ext cx="13140690" cy="6851015"/>
          </a:xfrm>
          <a:prstGeom prst="rect">
            <a:avLst/>
          </a:prstGeom>
        </p:spPr>
      </p:pic>
      <p:pic>
        <p:nvPicPr>
          <p:cNvPr id="4" name="图片 3" descr="生成油画质感世界地图重整分裂图 (1)"/>
          <p:cNvPicPr>
            <a:picLocks noChangeAspect="1"/>
          </p:cNvPicPr>
          <p:nvPr/>
        </p:nvPicPr>
        <p:blipFill>
          <a:blip r:embed="rId2"/>
          <a:srcRect b="6048"/>
          <a:stretch>
            <a:fillRect/>
          </a:stretch>
        </p:blipFill>
        <p:spPr>
          <a:xfrm>
            <a:off x="-1133475" y="-402590"/>
            <a:ext cx="13763625" cy="726059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97815" y="1053465"/>
            <a:ext cx="11768455" cy="6317615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3600">
                <a:latin typeface="汉仪力量黑简" panose="00020600040101010101" charset="-122"/>
                <a:ea typeface="汉仪力量黑简" panose="00020600040101010101" charset="-122"/>
                <a:cs typeface="汉仪力量黑简" panose="00020600040101010101" charset="-122"/>
              </a:rPr>
              <a:t>开源曾经是一个关于“代码”的故事——自由、共享、无国界。今天，它正在变成一个关于“规则”的故事——谁来治理、为谁服务、如何冲突、如何共存。</a:t>
            </a:r>
            <a:endParaRPr lang="zh-CN" altLang="en-US" sz="3600">
              <a:latin typeface="汉仪力量黑简" panose="00020600040101010101" charset="-122"/>
              <a:ea typeface="汉仪力量黑简" panose="00020600040101010101" charset="-122"/>
              <a:cs typeface="汉仪力量黑简" panose="00020600040101010101" charset="-122"/>
            </a:endParaRPr>
          </a:p>
          <a:p>
            <a:endParaRPr lang="en-US" altLang="zh-CN" sz="3600">
              <a:latin typeface="汉仪力量黑简" panose="00020600040101010101" charset="-122"/>
              <a:ea typeface="汉仪力量黑简" panose="00020600040101010101" charset="-122"/>
              <a:cs typeface="汉仪力量黑简" panose="00020600040101010101" charset="-122"/>
            </a:endParaRPr>
          </a:p>
          <a:p>
            <a:r>
              <a:rPr lang="zh-CN" altLang="en-US" sz="3600">
                <a:latin typeface="汉仪力量黑简" panose="00020600040101010101" charset="-122"/>
                <a:ea typeface="汉仪力量黑简" panose="00020600040101010101" charset="-122"/>
                <a:cs typeface="汉仪力量黑简" panose="00020600040101010101" charset="-122"/>
              </a:rPr>
              <a:t>未来十年的根本命题不是“代码是否开放”，而是 “治理能否多极” 。我们能否在主权竞争与全球协作之间，建立一种新的平衡——允许各极拥有自主的数字基础设施，同时保留一个最低限度的互操作空间和信任基础？</a:t>
            </a:r>
            <a:endParaRPr lang="zh-CN" altLang="en-US" sz="3600">
              <a:latin typeface="汉仪力量黑简" panose="00020600040101010101" charset="-122"/>
              <a:ea typeface="汉仪力量黑简" panose="00020600040101010101" charset="-122"/>
              <a:cs typeface="汉仪力量黑简" panose="00020600040101010101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油画风格斯诺登大头照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85800"/>
            <a:ext cx="12192000" cy="6854825"/>
          </a:xfrm>
          <a:prstGeom prst="rect">
            <a:avLst/>
          </a:prstGeom>
        </p:spPr>
      </p:pic>
      <p:pic>
        <p:nvPicPr>
          <p:cNvPr id="2" name="图形 1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83495" y="6455410"/>
            <a:ext cx="1902460" cy="40259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053840" y="5633720"/>
            <a:ext cx="5095875" cy="119888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r>
              <a:rPr lang="zh-CN" altLang="en-US" sz="7200">
                <a:ln w="12700" cmpd="sng">
                  <a:noFill/>
                  <a:prstDash val="solid"/>
                </a:ln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panose="00020600040101010101" charset="-122"/>
                <a:ea typeface="汉仪力量黑简" panose="00020600040101010101" charset="-122"/>
              </a:rPr>
              <a:t>感谢聆听</a:t>
            </a:r>
            <a:endParaRPr lang="zh-CN" altLang="en-US" sz="7200">
              <a:ln w="12700" cmpd="sng">
                <a:noFill/>
                <a:prstDash val="solid"/>
              </a:ln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汉仪力量黑简" panose="00020600040101010101" charset="-122"/>
              <a:ea typeface="汉仪力量黑简" panose="00020600040101010101" charset="-122"/>
            </a:endParaRPr>
          </a:p>
        </p:txBody>
      </p:sp>
      <p:pic>
        <p:nvPicPr>
          <p:cNvPr id="6" name="图片 5" descr="技术中立破灭后美国制裁中国的质感优化图生成 (5)"/>
          <p:cNvPicPr>
            <a:picLocks noChangeAspect="1"/>
          </p:cNvPicPr>
          <p:nvPr/>
        </p:nvPicPr>
        <p:blipFill>
          <a:blip r:embed="rId4"/>
          <a:srcRect b="7093"/>
          <a:stretch>
            <a:fillRect/>
          </a:stretch>
        </p:blipFill>
        <p:spPr>
          <a:xfrm>
            <a:off x="-15240" y="-2993390"/>
            <a:ext cx="12272010" cy="862711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116ed37616914375ba02afc0d701ac7ebd2df91"/>
  <p:tag name="KSO_WM_NEWLAYOUT_ID" val="slide_369a420fbcf15f45"/>
</p:tagLst>
</file>

<file path=ppt/tags/tag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b"/>
</p:tagLst>
</file>

<file path=ppt/tags/tag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b"/>
</p:tagLst>
</file>

<file path=ppt/tags/tag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b"/>
</p:tagLst>
</file>

<file path=ppt/tags/tag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fd33b890a9ae383fe272aa725a169d6962bb403"/>
  <p:tag name="KSO_WM_NEWLAYOUT_ID" val="slide_b738ed0abb82bc91"/>
</p:tagLst>
</file>

<file path=ppt/tags/tag1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3.xml><?xml version="1.0" encoding="utf-8"?>
<p:tagLst xmlns:p="http://schemas.openxmlformats.org/presentationml/2006/main">
  <p:tag name="KSO_WM_BEAUTIFY_FLAG" val="#fgm#"/>
  <p:tag name="KSO_WM_FIGMA_FLAG" val="#fgm#"/>
  <p:tag name="KSO_WM_UNIT_INDEX" val="2"/>
  <p:tag name="KSO_WM_UNIT_TYPE" val="d"/>
</p:tagLst>
</file>

<file path=ppt/tags/tag1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1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a05288dda28984db02ed177531f971873ba021e"/>
  <p:tag name="KSO_WM_NEWLAYOUT_ID" val="slide_b20d78d373fd59d9"/>
</p:tagLst>
</file>

<file path=ppt/tags/tag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2.xml><?xml version="1.0" encoding="utf-8"?>
<p:tagLst xmlns:p="http://schemas.openxmlformats.org/presentationml/2006/main">
  <p:tag name="KSO_WM_UNIT_PLACING_PICTURE_USER_VIEWPORT" val="{&quot;height&quot;:12727,&quot;width&quot;:6248}"/>
</p:tagLst>
</file>

<file path=ppt/tags/tag23.xml><?xml version="1.0" encoding="utf-8"?>
<p:tagLst xmlns:p="http://schemas.openxmlformats.org/presentationml/2006/main">
  <p:tag name="KSO_WM_UNIT_PLACING_PICTURE_USER_VIEWPORT" val="{&quot;height&quot;:10719,&quot;width&quot;:6145}"/>
</p:tagLst>
</file>

<file path=ppt/tags/tag24.xml><?xml version="1.0" encoding="utf-8"?>
<p:tagLst xmlns:p="http://schemas.openxmlformats.org/presentationml/2006/main">
  <p:tag name="KSO_WM_UNIT_PLACING_PICTURE_USER_VIEWPORT" val="{&quot;height&quot;:11824,&quot;width&quot;:6758}"/>
</p:tagLst>
</file>

<file path=ppt/tags/tag25.xml><?xml version="1.0" encoding="utf-8"?>
<p:tagLst xmlns:p="http://schemas.openxmlformats.org/presentationml/2006/main">
  <p:tag name="KSO_WM_UNIT_PLACING_PICTURE_USER_VIEWPORT" val="{&quot;height&quot;:8474,&quot;width&quot;:19200}"/>
</p:tagLst>
</file>

<file path=ppt/tags/tag26.xml><?xml version="1.0" encoding="utf-8"?>
<p:tagLst xmlns:p="http://schemas.openxmlformats.org/presentationml/2006/main">
  <p:tag name="KSO_WM_UNIT_PLACING_PICTURE_USER_VIEWPORT" val="{&quot;height&quot;:10795,&quot;width&quot;:19200}"/>
</p:tagLst>
</file>

<file path=ppt/tags/tag27.xml><?xml version="1.0" encoding="utf-8"?>
<p:tagLst xmlns:p="http://schemas.openxmlformats.org/presentationml/2006/main">
  <p:tag name="KSO_WM_UNIT_PLACING_PICTURE_USER_VIEWPORT" val="{&quot;height&quot;:7751,&quot;width&quot;:19288}"/>
</p:tagLst>
</file>

<file path=ppt/tags/tag28.xml><?xml version="1.0" encoding="utf-8"?>
<p:tagLst xmlns:p="http://schemas.openxmlformats.org/presentationml/2006/main">
  <p:tag name="KSO_WM_UNIT_PLACING_PICTURE_USER_VIEWPORT" val="{&quot;height&quot;:9051,&quot;width&quot;:19287}"/>
</p:tagLst>
</file>

<file path=ppt/tags/tag29.xml><?xml version="1.0" encoding="utf-8"?>
<p:tagLst xmlns:p="http://schemas.openxmlformats.org/presentationml/2006/main">
  <p:tag name="KSO_WM_UNIT_PLACING_PICTURE_USER_VIEWPORT" val="{&quot;height&quot;:8231,&quot;width&quot;:19200}"/>
</p:tagLst>
</file>

<file path=ppt/tags/tag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_DROP" val="l_h_b"/>
</p:tagLst>
</file>

<file path=ppt/tags/tag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_DROP" val="l_h_a"/>
</p:tagLst>
</file>

<file path=ppt/tags/tag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_DROP" val="l_h_b"/>
</p:tagLst>
</file>

<file path=ppt/tags/tag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_DROP" val="l_h_a"/>
</p:tagLst>
</file>

<file path=ppt/tags/tag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_DROP" val="l_h_b"/>
</p:tagLst>
</file>

<file path=ppt/tags/tag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_DROP" val="l_h_a"/>
</p:tagLst>
</file>

<file path=ppt/tags/tag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3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SLIDE_ID" val="slide_b20d78d373fd59d9"/>
  <p:tag name="resource_record_key" val="{&quot;8&quot;:[50053442,50071304]}"/>
</p:tagLst>
</file>

<file path=ppt/tags/tag44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SLIDE_ID" val="slide_b738ed0abb82bc91"/>
</p:tagLst>
</file>

<file path=ppt/tags/tag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2.xml><?xml version="1.0" encoding="utf-8"?>
<p:tagLst xmlns:p="http://schemas.openxmlformats.org/presentationml/2006/main">
  <p:tag name="KSO_WM_UNIT_PLACING_PICTURE_USER_VIEWPORT" val="{&quot;height&quot;:8474,&quot;width&quot;:19200}"/>
</p:tagLst>
</file>

<file path=ppt/tags/tag53.xml><?xml version="1.0" encoding="utf-8"?>
<p:tagLst xmlns:p="http://schemas.openxmlformats.org/presentationml/2006/main">
  <p:tag name="RESOURCE_RECORD_KEY" val="{&quot;65&quot;:[20233488],&quot;70&quot;:[3314430,3316194,3318379,3312246,3312207,3312219,3318603,3312104,3318593,3315977,3316232,3316456,3317673,3314326,3314772,3312160,3318511,3314740,3316158,3318619]}"/>
  <p:tag name="COMMONDATA" val="eyJoZGlkIjoiYWJmNTAxYTA0NTllZTU0OWY5NWY0MWNlMzBjNGU2OTYifQ=="/>
  <p:tag name="resource_record_key" val="{&quot;65&quot;:[20233488],&quot;70&quot;:[3314430,3316194,3318379,3312246,3312207,3312219,3318603,3312104,3318593,3315977,3316232,3316456,3317673,3314326,3314772,3312160,3318511,3314740,3316158,3318619],&quot;8&quot;:[50071304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251">
    <a:dk1>
      <a:srgbClr val="000000"/>
    </a:dk1>
    <a:lt1>
      <a:srgbClr val="FFFFFF"/>
    </a:lt1>
    <a:dk2>
      <a:srgbClr val="000000"/>
    </a:dk2>
    <a:lt2>
      <a:srgbClr val="F8F8F8"/>
    </a:lt2>
    <a:accent1>
      <a:srgbClr val="132D85"/>
    </a:accent1>
    <a:accent2>
      <a:srgbClr val="DDAA76"/>
    </a:accent2>
    <a:accent3>
      <a:srgbClr val="6F6F6F"/>
    </a:accent3>
    <a:accent4>
      <a:srgbClr val="7FA8D9"/>
    </a:accent4>
    <a:accent5>
      <a:srgbClr val="4C7FB7"/>
    </a:accent5>
    <a:accent6>
      <a:srgbClr val="284CAA"/>
    </a:accent6>
    <a:hlink>
      <a:srgbClr val="5F5F5F"/>
    </a:hlink>
    <a:folHlink>
      <a:srgbClr val="919191"/>
    </a:folHlink>
  </a:clrScheme>
  <a:fontScheme name="WPS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WPS">
    <a:fillStyleLst>
      <a:solidFill>
        <a:schemeClr val="phClr"/>
      </a:solidFill>
      <a:gradFill>
        <a:gsLst>
          <a:gs pos="0">
            <a:schemeClr val="phClr">
              <a:lumOff val="17500"/>
            </a:schemeClr>
          </a:gs>
          <a:gs pos="100000">
            <a:schemeClr val="phClr"/>
          </a:gs>
        </a:gsLst>
        <a:lin ang="2700000" scaled="0"/>
      </a:gradFill>
      <a:gradFill>
        <a:gsLst>
          <a:gs pos="0">
            <a:schemeClr val="phClr">
              <a:hueOff val="-2520000"/>
            </a:schemeClr>
          </a:gs>
          <a:gs pos="100000">
            <a:schemeClr val="phClr"/>
          </a:gs>
        </a:gsLst>
        <a:lin ang="27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gradFill>
          <a:gsLst>
            <a:gs pos="0">
              <a:schemeClr val="phClr">
                <a:hueOff val="-4200000"/>
              </a:schemeClr>
            </a:gs>
            <a:gs pos="100000">
              <a:schemeClr val="phClr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chemeClr val="phClr">
              <a:alpha val="60000"/>
            </a:scheme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自定义 251">
    <a:dk1>
      <a:srgbClr val="000000"/>
    </a:dk1>
    <a:lt1>
      <a:srgbClr val="FFFFFF"/>
    </a:lt1>
    <a:dk2>
      <a:srgbClr val="000000"/>
    </a:dk2>
    <a:lt2>
      <a:srgbClr val="F8F8F8"/>
    </a:lt2>
    <a:accent1>
      <a:srgbClr val="132D85"/>
    </a:accent1>
    <a:accent2>
      <a:srgbClr val="DDAA76"/>
    </a:accent2>
    <a:accent3>
      <a:srgbClr val="6F6F6F"/>
    </a:accent3>
    <a:accent4>
      <a:srgbClr val="7FA8D9"/>
    </a:accent4>
    <a:accent5>
      <a:srgbClr val="4C7FB7"/>
    </a:accent5>
    <a:accent6>
      <a:srgbClr val="284CAA"/>
    </a:accent6>
    <a:hlink>
      <a:srgbClr val="5F5F5F"/>
    </a:hlink>
    <a:folHlink>
      <a:srgbClr val="919191"/>
    </a:folHlink>
  </a:clrScheme>
  <a:fontScheme name="WPS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WPS">
    <a:fillStyleLst>
      <a:solidFill>
        <a:schemeClr val="phClr"/>
      </a:solidFill>
      <a:gradFill>
        <a:gsLst>
          <a:gs pos="0">
            <a:schemeClr val="phClr">
              <a:lumOff val="17500"/>
            </a:schemeClr>
          </a:gs>
          <a:gs pos="100000">
            <a:schemeClr val="phClr"/>
          </a:gs>
        </a:gsLst>
        <a:lin ang="2700000" scaled="0"/>
      </a:gradFill>
      <a:gradFill>
        <a:gsLst>
          <a:gs pos="0">
            <a:schemeClr val="phClr">
              <a:hueOff val="-2520000"/>
            </a:schemeClr>
          </a:gs>
          <a:gs pos="100000">
            <a:schemeClr val="phClr"/>
          </a:gs>
        </a:gsLst>
        <a:lin ang="27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gradFill>
          <a:gsLst>
            <a:gs pos="0">
              <a:schemeClr val="phClr">
                <a:hueOff val="-4200000"/>
              </a:schemeClr>
            </a:gs>
            <a:gs pos="100000">
              <a:schemeClr val="phClr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chemeClr val="phClr">
              <a:alpha val="60000"/>
            </a:scheme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自定义 251">
    <a:dk1>
      <a:srgbClr val="000000"/>
    </a:dk1>
    <a:lt1>
      <a:srgbClr val="FFFFFF"/>
    </a:lt1>
    <a:dk2>
      <a:srgbClr val="000000"/>
    </a:dk2>
    <a:lt2>
      <a:srgbClr val="F8F8F8"/>
    </a:lt2>
    <a:accent1>
      <a:srgbClr val="132D85"/>
    </a:accent1>
    <a:accent2>
      <a:srgbClr val="DDAA76"/>
    </a:accent2>
    <a:accent3>
      <a:srgbClr val="6F6F6F"/>
    </a:accent3>
    <a:accent4>
      <a:srgbClr val="7FA8D9"/>
    </a:accent4>
    <a:accent5>
      <a:srgbClr val="4C7FB7"/>
    </a:accent5>
    <a:accent6>
      <a:srgbClr val="284CAA"/>
    </a:accent6>
    <a:hlink>
      <a:srgbClr val="5F5F5F"/>
    </a:hlink>
    <a:folHlink>
      <a:srgbClr val="919191"/>
    </a:folHlink>
  </a:clrScheme>
  <a:fontScheme name="WPS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WPS">
    <a:fillStyleLst>
      <a:solidFill>
        <a:schemeClr val="phClr"/>
      </a:solidFill>
      <a:gradFill>
        <a:gsLst>
          <a:gs pos="0">
            <a:schemeClr val="phClr">
              <a:lumOff val="17500"/>
            </a:schemeClr>
          </a:gs>
          <a:gs pos="100000">
            <a:schemeClr val="phClr"/>
          </a:gs>
        </a:gsLst>
        <a:lin ang="2700000" scaled="0"/>
      </a:gradFill>
      <a:gradFill>
        <a:gsLst>
          <a:gs pos="0">
            <a:schemeClr val="phClr">
              <a:hueOff val="-2520000"/>
            </a:schemeClr>
          </a:gs>
          <a:gs pos="100000">
            <a:schemeClr val="phClr"/>
          </a:gs>
        </a:gsLst>
        <a:lin ang="27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gradFill>
          <a:gsLst>
            <a:gs pos="0">
              <a:schemeClr val="phClr">
                <a:hueOff val="-4200000"/>
              </a:schemeClr>
            </a:gs>
            <a:gs pos="100000">
              <a:schemeClr val="phClr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chemeClr val="phClr">
              <a:alpha val="60000"/>
            </a:scheme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自定义 251">
    <a:dk1>
      <a:srgbClr val="000000"/>
    </a:dk1>
    <a:lt1>
      <a:srgbClr val="FFFFFF"/>
    </a:lt1>
    <a:dk2>
      <a:srgbClr val="000000"/>
    </a:dk2>
    <a:lt2>
      <a:srgbClr val="F8F8F8"/>
    </a:lt2>
    <a:accent1>
      <a:srgbClr val="132D85"/>
    </a:accent1>
    <a:accent2>
      <a:srgbClr val="DDAA76"/>
    </a:accent2>
    <a:accent3>
      <a:srgbClr val="6F6F6F"/>
    </a:accent3>
    <a:accent4>
      <a:srgbClr val="7FA8D9"/>
    </a:accent4>
    <a:accent5>
      <a:srgbClr val="4C7FB7"/>
    </a:accent5>
    <a:accent6>
      <a:srgbClr val="284CAA"/>
    </a:accent6>
    <a:hlink>
      <a:srgbClr val="5F5F5F"/>
    </a:hlink>
    <a:folHlink>
      <a:srgbClr val="919191"/>
    </a:folHlink>
  </a:clrScheme>
  <a:fontScheme name="WPS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WPS">
    <a:fillStyleLst>
      <a:solidFill>
        <a:schemeClr val="phClr"/>
      </a:solidFill>
      <a:gradFill>
        <a:gsLst>
          <a:gs pos="0">
            <a:schemeClr val="phClr">
              <a:lumOff val="17500"/>
            </a:schemeClr>
          </a:gs>
          <a:gs pos="100000">
            <a:schemeClr val="phClr"/>
          </a:gs>
        </a:gsLst>
        <a:lin ang="2700000" scaled="0"/>
      </a:gradFill>
      <a:gradFill>
        <a:gsLst>
          <a:gs pos="0">
            <a:schemeClr val="phClr">
              <a:hueOff val="-2520000"/>
            </a:schemeClr>
          </a:gs>
          <a:gs pos="100000">
            <a:schemeClr val="phClr"/>
          </a:gs>
        </a:gsLst>
        <a:lin ang="27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gradFill>
          <a:gsLst>
            <a:gs pos="0">
              <a:schemeClr val="phClr">
                <a:hueOff val="-4200000"/>
              </a:schemeClr>
            </a:gs>
            <a:gs pos="100000">
              <a:schemeClr val="phClr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chemeClr val="phClr">
              <a:alpha val="60000"/>
            </a:scheme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自定义 251">
    <a:dk1>
      <a:srgbClr val="000000"/>
    </a:dk1>
    <a:lt1>
      <a:srgbClr val="FFFFFF"/>
    </a:lt1>
    <a:dk2>
      <a:srgbClr val="000000"/>
    </a:dk2>
    <a:lt2>
      <a:srgbClr val="F8F8F8"/>
    </a:lt2>
    <a:accent1>
      <a:srgbClr val="132D85"/>
    </a:accent1>
    <a:accent2>
      <a:srgbClr val="DDAA76"/>
    </a:accent2>
    <a:accent3>
      <a:srgbClr val="6F6F6F"/>
    </a:accent3>
    <a:accent4>
      <a:srgbClr val="7FA8D9"/>
    </a:accent4>
    <a:accent5>
      <a:srgbClr val="4C7FB7"/>
    </a:accent5>
    <a:accent6>
      <a:srgbClr val="284CAA"/>
    </a:accent6>
    <a:hlink>
      <a:srgbClr val="5F5F5F"/>
    </a:hlink>
    <a:folHlink>
      <a:srgbClr val="919191"/>
    </a:folHlink>
  </a:clrScheme>
  <a:fontScheme name="WPS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WPS">
    <a:fillStyleLst>
      <a:solidFill>
        <a:schemeClr val="phClr"/>
      </a:solidFill>
      <a:gradFill>
        <a:gsLst>
          <a:gs pos="0">
            <a:schemeClr val="phClr">
              <a:lumOff val="17500"/>
            </a:schemeClr>
          </a:gs>
          <a:gs pos="100000">
            <a:schemeClr val="phClr"/>
          </a:gs>
        </a:gsLst>
        <a:lin ang="2700000" scaled="0"/>
      </a:gradFill>
      <a:gradFill>
        <a:gsLst>
          <a:gs pos="0">
            <a:schemeClr val="phClr">
              <a:hueOff val="-2520000"/>
            </a:schemeClr>
          </a:gs>
          <a:gs pos="100000">
            <a:schemeClr val="phClr"/>
          </a:gs>
        </a:gsLst>
        <a:lin ang="27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gradFill>
          <a:gsLst>
            <a:gs pos="0">
              <a:schemeClr val="phClr">
                <a:hueOff val="-4200000"/>
              </a:schemeClr>
            </a:gs>
            <a:gs pos="100000">
              <a:schemeClr val="phClr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chemeClr val="phClr">
              <a:alpha val="60000"/>
            </a:scheme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自定义 251">
    <a:dk1>
      <a:srgbClr val="000000"/>
    </a:dk1>
    <a:lt1>
      <a:srgbClr val="FFFFFF"/>
    </a:lt1>
    <a:dk2>
      <a:srgbClr val="000000"/>
    </a:dk2>
    <a:lt2>
      <a:srgbClr val="F8F8F8"/>
    </a:lt2>
    <a:accent1>
      <a:srgbClr val="132D85"/>
    </a:accent1>
    <a:accent2>
      <a:srgbClr val="DDAA76"/>
    </a:accent2>
    <a:accent3>
      <a:srgbClr val="6F6F6F"/>
    </a:accent3>
    <a:accent4>
      <a:srgbClr val="7FA8D9"/>
    </a:accent4>
    <a:accent5>
      <a:srgbClr val="4C7FB7"/>
    </a:accent5>
    <a:accent6>
      <a:srgbClr val="284CAA"/>
    </a:accent6>
    <a:hlink>
      <a:srgbClr val="5F5F5F"/>
    </a:hlink>
    <a:folHlink>
      <a:srgbClr val="919191"/>
    </a:folHlink>
  </a:clrScheme>
  <a:fontScheme name="WPS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WPS">
    <a:fillStyleLst>
      <a:solidFill>
        <a:schemeClr val="phClr"/>
      </a:solidFill>
      <a:gradFill>
        <a:gsLst>
          <a:gs pos="0">
            <a:schemeClr val="phClr">
              <a:lumOff val="17500"/>
            </a:schemeClr>
          </a:gs>
          <a:gs pos="100000">
            <a:schemeClr val="phClr"/>
          </a:gs>
        </a:gsLst>
        <a:lin ang="2700000" scaled="0"/>
      </a:gradFill>
      <a:gradFill>
        <a:gsLst>
          <a:gs pos="0">
            <a:schemeClr val="phClr">
              <a:hueOff val="-2520000"/>
            </a:schemeClr>
          </a:gs>
          <a:gs pos="100000">
            <a:schemeClr val="phClr"/>
          </a:gs>
        </a:gsLst>
        <a:lin ang="27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gradFill>
          <a:gsLst>
            <a:gs pos="0">
              <a:schemeClr val="phClr">
                <a:hueOff val="-4200000"/>
              </a:schemeClr>
            </a:gs>
            <a:gs pos="100000">
              <a:schemeClr val="phClr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chemeClr val="phClr">
              <a:alpha val="60000"/>
            </a:scheme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SUIBE2024-课程模板</Template>
  <TotalTime>0</TotalTime>
  <Words>1894</Words>
  <Application>WPS 演示</Application>
  <PresentationFormat>宽屏</PresentationFormat>
  <Paragraphs>268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9" baseType="lpstr">
      <vt:lpstr>Arial</vt:lpstr>
      <vt:lpstr>宋体</vt:lpstr>
      <vt:lpstr>Wingdings</vt:lpstr>
      <vt:lpstr>等线</vt:lpstr>
      <vt:lpstr>等线 Light</vt:lpstr>
      <vt:lpstr>方正书宋简体</vt:lpstr>
      <vt:lpstr>汉仪力量黑简</vt:lpstr>
      <vt:lpstr>方正粗宋简体</vt:lpstr>
      <vt:lpstr>黑体</vt:lpstr>
      <vt:lpstr>Aa油画棒</vt:lpstr>
      <vt:lpstr>微软雅黑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zhuqing mao</dc:creator>
  <cp:lastModifiedBy>PX SHAO.</cp:lastModifiedBy>
  <cp:revision>37</cp:revision>
  <dcterms:created xsi:type="dcterms:W3CDTF">2024-03-16T06:27:00Z</dcterms:created>
  <dcterms:modified xsi:type="dcterms:W3CDTF">2026-10-20T07:00:07Z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794401A2B45E41BC93F2AFAF29E4C965_13</vt:lpwstr>
  </property>
  <property fmtid="{D5CDD505-2E9C-101B-9397-08002B2CF9AE}" pid="3" name="KSOProductBuildVer">
    <vt:lpwstr>2052-12.1.0.29161</vt:lpwstr>
  </property>
</Properties>
</file>